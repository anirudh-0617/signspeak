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Calibri"/>
              </a:defRPr>
            </a:pPr>
            <a:r>
              <a:rPr sz="1400" b="0" i="0" u="none" strike="noStrike">
                <a:solidFill>
                  <a:srgbClr val="1F2328"/>
                </a:solidFill>
                <a:latin typeface="Calibri"/>
              </a:rPr>
              <a:t>Held-out accuracy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1F2328"/>
            </a:solidFill>
            <a:effectLst/>
          </c:spPr>
          <c:invertIfNegative val="0"/>
          <c:dLbls>
            <c:numFmt formatCode="0.0&quot;%&quot;" sourceLinked="0"/>
            <c:txPr>
              <a:bodyPr/>
              <a:lstStyle/>
              <a:p>
                <a:pPr>
                  <a:defRPr b="1" i="0" strike="noStrike" sz="1400" u="none">
                    <a:solidFill>
                      <a:srgbClr val="1F2328"/>
                    </a:solidFill>
                    <a:latin typeface="Arial"/>
                  </a:defRPr>
                </a:pPr>
              </a:p>
            </c:txPr>
            <c:showLegendKey val="0"/>
            <c:showVal val="1"/>
            <c:showCatName val="0"/>
            <c:showSerName val="0"/>
            <c:showPercent val="0"/>
            <c:showBubbleSize val="0"/>
            <c:showLeaderLines val="0"/>
          </c:dLbls>
          <c:dPt>
            <c:idx val="0"/>
            <c:invertIfNegative val="0"/>
            <c:bubble3D val="0"/>
            <c:spPr>
              <a:solidFill>
                <a:srgbClr val="1F2328"/>
              </a:solidFill>
              <a:effectLst/>
            </c:spPr>
          </c:dPt>
          <c:dPt>
            <c:idx val="1"/>
            <c:invertIfNegative val="0"/>
            <c:bubble3D val="0"/>
            <c:spPr>
              <a:solidFill>
                <a:srgbClr val="C9CDD2"/>
              </a:solidFill>
              <a:effectLst/>
            </c:spPr>
          </c:dPt>
          <c:dPt>
            <c:idx val="2"/>
            <c:invertIfNegative val="0"/>
            <c:bubble3D val="0"/>
            <c:spPr>
              <a:solidFill>
                <a:srgbClr val="FFD43B"/>
              </a:solidFill>
              <a:effectLst/>
            </c:spPr>
          </c:dPt>
          <c:cat>
            <c:multiLvlStrRef>
              <c:f>Sheet1!$A$2:$A$4</c:f>
              <c:multiLvlStrCache>
                <c:ptCount val="3"/>
                <c:lvl>
                  <c:pt idx="0">
                    <c:v>Fingerspelling (A–Z)</c:v>
                  </c:pt>
                  <c:pt idx="1">
                    <c:v>Words — leaky split</c:v>
                  </c:pt>
                  <c:pt idx="2">
                    <c:v>Words — honest split</c:v>
                  </c:pt>
                </c:lvl>
              </c:multiLvlStrCache>
            </c:multiLvlStrRef>
          </c:cat>
          <c:val>
            <c:numRef>
              <c:f>Sheet1!$B$2:$B$4</c:f>
              <c:numCache>
                <c:formatCode>General</c:formatCode>
                <c:ptCount val="3"/>
                <c:pt idx="0">
                  <c:v>98.3</c:v>
                </c:pt>
                <c:pt idx="1">
                  <c:v>93.5</c:v>
                </c:pt>
                <c:pt idx="2">
                  <c:v>56.5</c:v>
                </c:pt>
              </c:numCache>
            </c:numRef>
          </c:val>
        </c:ser>
        <c:dLbls>
          <c:numFmt formatCode="0.0&quot;%&quot;" sourceLinked="0"/>
          <c:txPr>
            <a:bodyPr/>
            <a:lstStyle/>
            <a:p>
              <a:pPr>
                <a:defRPr b="1" i="0" strike="noStrike" sz="14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D33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3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SignSpeak converts American Sign Language — fingerspelled letters and word signs — into an editable English transcript, live, inside a normal web browser. The hand figure on the right is the 21-point MediaPipe hand landmark model the whole system is built on. Fill in the guide name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order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in your own words. Key message: landmark-based, on-device, honest numbers, and an LLM only for the final gloss-to-English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WHO deafness and hearing loss fact sheet (430 million people need rehabilitation for disabling hearing loss); World Federation of the Deaf (about 70 million deaf people worldwide, over 300 sign languages). The core problem: a communication gap that today depends on scarce human interpreters, and automated tools that are not usable in real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each family of existing approaches and the one limitation that matters. The last row is our position. sign.mt was studied in detail (docs/SIGN_TRANSLATE_STUDY.md): it uses MediaPipe Holistic but sends recognition to remote servers and has no learner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decisions define the solution. 1) Work on landmarks rather than pixels. 2) Keep perception and recognition on the device. 3) Use an LLM only to turn glosses into grammatical English, and show the raw gloss so users can verify. 4) A pluggable InputSource interface so a sensor glove can replace the camera later without changing recognition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PRD goals G1–G7. Point out which are achieved now (G1 partly, G2 hands, G4, G5, G6, G7) and which are in progress (continuous signing at sentence level, face and pose features in the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requirements FR1–FR11 and non-functional NFR1–NFR6 from the PRD, condensed. NFR1 latency target: at most 200 ms from frame to prediction and at least 15 FPS on a mid-range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there are no heavy ML runtimes in the browser: the MLP forward pass is about 30 lines of TypeScript, so TensorFlow.js was not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recognition core, pluggable inputs, staged outputs. Stages 1–5 run in the browser; only stage 6 (translation) calls a server, and only with gloss text. Static model files are fetched once and 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human actors and one external system. The signer fingerspells or signs words and edits the transcript; the non-signer learns through Practice, the Sentence Builder and the tutorial, and hears translated sentences. The developer captures samples and retrains models. Camera access is included in every recognition use case; text-to-speech extends Translate.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InputSource is the key abstraction: CameraSource, VideoElementSource and a future GloveSource all emit the same FeatureFrame. Recognizer owns one or two channels, each a Classifier plus a Smoother (two in “both” mode). These classes are exported from src/core.ts and contain no React code, so the web app, the golden test and the planned video-call extension share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runs on every video frame. The hand landmarker returns up to two hands, normalize() builds the feature vector, the classifier predicts, and the smoother decides whether the prediction is stable enough to commit. A commit appends to the transcript; the UI also shows the live candidate and a hold bar while the user is holding a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Translation is user-triggered. A few-shot prompt at temperature 0.4 asks for three candidate sentences; duplicates are removed. The API key lives in the proxy, never in the browser bundle. The sentence is spoken with the browser’s built-in text-to-speech.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main decision points: is a hand present, is the prediction confident and stable, and has it been held long enough. With no hand, an idle of 1.5 seconds inserts a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smoother is what makes the app usable: without it the transcript would fill with flicker. After a commit it locks the label, so holding a letter does not repeat it; it releases after a short period of low confidence (300 ms letters, 800 ms words) — that release is what lets double letters like the OO in COOL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0 shows the whole system as one process with its external entities: the signer, the listener and the LLM service. Note that only gloss text flows to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breaks the system into six processes and three data stores. D1 holds the trained weights, D2 the transcript and gloss stream, and D3 the training samples, which are written only in capture mode when developers record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layer depends on the framework-free core; the core never imports React. The Python toolchain runs offline and only produces static JSON files that the browser fetches.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a static build on a CDN. The browser downloads the app, the MLP weights and the 8 MB MediaPipe hand model once. The only runtime server is the thin proxy for translation, which holds the API key. Without it, every feature except Translate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lesson: use the same MediaPipe HandLandmarker in the Python importer and in the browser. An earlier version used Holistic in the browser and the standalone hand model in training, and live accuracy was poor despite 98% offline. The feature vector is 126 numbers per frame: 2 hands × 21 landmarks × (x, y, z), each hand centred on its wrist and scaled by wrist-to-middle-knuckle distance, with x multiplied by the camera aspect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suggestion: open the tutorial (HELLO, THANK-YOU, YES), then Transcribe with fingerspelling, then Translate, then Practice. Developer tools such as capture are hidden behind ?lab in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word-sign number. The earlier 93.5% figure was inflated: the dataset contained the same WLASL videos imported twice, so 42% of samples were duplicates and most of the test set had also been seen in training. After de-duplication the honest accuracy is 56.5%. Only 309 unique clips exist, and some signs have just 6. This tells us the fix is more data, not more tuning. Fingerspelling at 98.3% exceeds the 90%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test was written before refactoring the recognition hot path out of the React hook, so the extraction could be proven to change nothing. The three-seed rule exists because a single lucky seed twice nearly shipped a regression (for example 0.565 → 0.635 on one seed, but the 4-seed mean went from 0.577 down to 0.512).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phases: Phase 14 data expansion, Phase 15 face and pose features, Phase 8 glove, Phase 18 video-call extension (Meet, Teams web, Zoom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problem and what SignSpeak delivers today, then the single clear next step: more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Academic references for the review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328"/>
        </a:solidFill>
      </p:bgPr>
    </p:bg>
    <p:spTree>
      <p:nvGrpSpPr>
        <p:cNvPr id="1" name=""/>
        <p:cNvGrpSpPr/>
        <p:nvPr/>
      </p:nvGrpSpPr>
      <p:grpSpPr>
        <a:xfrm>
          <a:off x="0" y="0"/>
          <a:ext cx="0" cy="0"/>
          <a:chOff x="0" y="0"/>
          <a:chExt cx="0" cy="0"/>
        </a:xfrm>
      </p:grpSpPr>
      <p:sp>
        <p:nvSpPr>
          <p:cNvPr id="2" name="Shape 0"/>
          <p:cNvSpPr/>
          <p:nvPr/>
        </p:nvSpPr>
        <p:spPr>
          <a:xfrm>
            <a:off x="548640" y="548640"/>
            <a:ext cx="362102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548640"/>
            <a:ext cx="362102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B.TECH CSE · PROJECT REVIEW</a:t>
            </a:r>
            <a:endParaRPr lang="en-US" sz="1100" dirty="0"/>
          </a:p>
        </p:txBody>
      </p:sp>
      <p:sp>
        <p:nvSpPr>
          <p:cNvPr id="4" name="Text 2"/>
          <p:cNvSpPr txBox="1"/>
          <p:nvPr/>
        </p:nvSpPr>
        <p:spPr>
          <a:xfrm>
            <a:off x="548640" y="1234440"/>
            <a:ext cx="82296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SignSpeak</a:t>
            </a:r>
            <a:endParaRPr lang="en-US" sz="6600" dirty="0"/>
          </a:p>
        </p:txBody>
      </p:sp>
      <p:sp>
        <p:nvSpPr>
          <p:cNvPr id="5" name="Text 3"/>
          <p:cNvSpPr txBox="1"/>
          <p:nvPr/>
        </p:nvSpPr>
        <p:spPr>
          <a:xfrm>
            <a:off x="548640" y="2468880"/>
            <a:ext cx="7498080" cy="914400"/>
          </a:xfrm>
          <a:prstGeom prst="rect">
            <a:avLst/>
          </a:prstGeom>
          <a:noFill/>
          <a:ln/>
        </p:spPr>
        <p:txBody>
          <a:bodyPr wrap="square" lIns="0" tIns="0" rIns="0" bIns="0" rtlCol="0" anchor="ctr"/>
          <a:lstStyle/>
          <a:p>
            <a:pPr indent="0" marL="0">
              <a:buNone/>
            </a:pPr>
            <a:r>
              <a:rPr lang="en-US" sz="2100" dirty="0">
                <a:solidFill>
                  <a:srgbClr val="D7DBE0"/>
                </a:solidFill>
                <a:latin typeface="Calibri" pitchFamily="34" charset="0"/>
                <a:ea typeface="Calibri" pitchFamily="34" charset="-122"/>
                <a:cs typeface="Calibri" pitchFamily="34" charset="-120"/>
              </a:rPr>
              <a:t>Real-time American Sign Language (ASL) to text and speech, running entirely in the web browser</a:t>
            </a:r>
            <a:endParaRPr lang="en-US" sz="2100" dirty="0"/>
          </a:p>
        </p:txBody>
      </p:sp>
      <p:sp>
        <p:nvSpPr>
          <p:cNvPr id="6" name="Shape 4"/>
          <p:cNvSpPr/>
          <p:nvPr/>
        </p:nvSpPr>
        <p:spPr>
          <a:xfrm>
            <a:off x="548640" y="3611880"/>
            <a:ext cx="621792" cy="457200"/>
          </a:xfrm>
          <a:prstGeom prst="roundRect">
            <a:avLst>
              <a:gd name="adj" fmla="val 16000"/>
            </a:avLst>
          </a:prstGeom>
          <a:solidFill>
            <a:srgbClr val="2D333B"/>
          </a:solidFill>
          <a:ln w="12700">
            <a:solidFill>
              <a:srgbClr val="4A525C"/>
            </a:solidFill>
            <a:prstDash val="solid"/>
          </a:ln>
        </p:spPr>
      </p:sp>
      <p:sp>
        <p:nvSpPr>
          <p:cNvPr id="7" name="Text 5"/>
          <p:cNvSpPr txBox="1"/>
          <p:nvPr/>
        </p:nvSpPr>
        <p:spPr>
          <a:xfrm>
            <a:off x="548640" y="3611880"/>
            <a:ext cx="621792"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MY</a:t>
            </a:r>
            <a:endParaRPr lang="en-US" sz="1500" dirty="0"/>
          </a:p>
        </p:txBody>
      </p:sp>
      <p:sp>
        <p:nvSpPr>
          <p:cNvPr id="8" name="Shape 6"/>
          <p:cNvSpPr/>
          <p:nvPr/>
        </p:nvSpPr>
        <p:spPr>
          <a:xfrm>
            <a:off x="1307592" y="3611880"/>
            <a:ext cx="987552" cy="457200"/>
          </a:xfrm>
          <a:prstGeom prst="roundRect">
            <a:avLst>
              <a:gd name="adj" fmla="val 16000"/>
            </a:avLst>
          </a:prstGeom>
          <a:solidFill>
            <a:srgbClr val="2D333B"/>
          </a:solidFill>
          <a:ln w="12700">
            <a:solidFill>
              <a:srgbClr val="4A525C"/>
            </a:solidFill>
            <a:prstDash val="solid"/>
          </a:ln>
        </p:spPr>
      </p:sp>
      <p:sp>
        <p:nvSpPr>
          <p:cNvPr id="9" name="Text 7"/>
          <p:cNvSpPr txBox="1"/>
          <p:nvPr/>
        </p:nvSpPr>
        <p:spPr>
          <a:xfrm>
            <a:off x="1307592" y="3611880"/>
            <a:ext cx="987552"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NAME</a:t>
            </a:r>
            <a:endParaRPr lang="en-US" sz="1500" dirty="0"/>
          </a:p>
        </p:txBody>
      </p:sp>
      <p:sp>
        <p:nvSpPr>
          <p:cNvPr id="10" name="Shape 8"/>
          <p:cNvSpPr/>
          <p:nvPr/>
        </p:nvSpPr>
        <p:spPr>
          <a:xfrm>
            <a:off x="2432304" y="3611880"/>
            <a:ext cx="1170432" cy="457200"/>
          </a:xfrm>
          <a:prstGeom prst="roundRect">
            <a:avLst>
              <a:gd name="adj" fmla="val 16000"/>
            </a:avLst>
          </a:prstGeom>
          <a:solidFill>
            <a:srgbClr val="FFD43B"/>
          </a:solidFill>
          <a:ln w="12700">
            <a:solidFill>
              <a:srgbClr val="FFD43B"/>
            </a:solidFill>
            <a:prstDash val="solid"/>
          </a:ln>
        </p:spPr>
      </p:sp>
      <p:sp>
        <p:nvSpPr>
          <p:cNvPr id="11" name="Text 9"/>
          <p:cNvSpPr txBox="1"/>
          <p:nvPr/>
        </p:nvSpPr>
        <p:spPr>
          <a:xfrm>
            <a:off x="2432304" y="3611880"/>
            <a:ext cx="1170432" cy="457200"/>
          </a:xfrm>
          <a:prstGeom prst="rect">
            <a:avLst/>
          </a:prstGeom>
          <a:noFill/>
          <a:ln/>
        </p:spPr>
        <p:txBody>
          <a:bodyPr wrap="square" lIns="0" tIns="0" rIns="0" bIns="0" rtlCol="0" anchor="ctr"/>
          <a:lstStyle/>
          <a:p>
            <a:pPr algn="ctr" indent="0" marL="0">
              <a:buNone/>
            </a:pPr>
            <a:r>
              <a:rPr lang="en-US" sz="1500" b="1" spc="200" kern="0" dirty="0">
                <a:solidFill>
                  <a:srgbClr val="1F2328"/>
                </a:solidFill>
                <a:latin typeface="Calibri" pitchFamily="34" charset="0"/>
                <a:ea typeface="Calibri" pitchFamily="34" charset="-122"/>
                <a:cs typeface="Calibri" pitchFamily="34" charset="-120"/>
              </a:rPr>
              <a:t>A-N-I</a:t>
            </a:r>
            <a:endParaRPr lang="en-US" sz="1500" dirty="0"/>
          </a:p>
        </p:txBody>
      </p:sp>
      <p:sp>
        <p:nvSpPr>
          <p:cNvPr id="12" name="Text 10"/>
          <p:cNvSpPr txBox="1"/>
          <p:nvPr/>
        </p:nvSpPr>
        <p:spPr>
          <a:xfrm>
            <a:off x="3877056" y="3611880"/>
            <a:ext cx="3657600" cy="457200"/>
          </a:xfrm>
          <a:prstGeom prst="rect">
            <a:avLst/>
          </a:prstGeom>
          <a:noFill/>
          <a:ln/>
        </p:spPr>
        <p:txBody>
          <a:bodyPr wrap="square" lIns="0" tIns="0" rIns="0" bIns="0" rtlCol="0" anchor="ctr"/>
          <a:lstStyle/>
          <a:p>
            <a:pPr indent="0" marL="0">
              <a:buNone/>
            </a:pPr>
            <a:r>
              <a:rPr lang="en-US" sz="1800" i="1" dirty="0">
                <a:solidFill>
                  <a:srgbClr val="FFD43B"/>
                </a:solidFill>
                <a:latin typeface="Cambria" pitchFamily="34" charset="0"/>
                <a:ea typeface="Cambria" pitchFamily="34" charset="-122"/>
                <a:cs typeface="Cambria" pitchFamily="34" charset="-120"/>
              </a:rPr>
              <a:t>→  “My name is Ani.”</a:t>
            </a:r>
            <a:endParaRPr lang="en-US" sz="1800" dirty="0"/>
          </a:p>
        </p:txBody>
      </p:sp>
      <p:sp>
        <p:nvSpPr>
          <p:cNvPr id="13" name="Text 11"/>
          <p:cNvSpPr txBox="1"/>
          <p:nvPr/>
        </p:nvSpPr>
        <p:spPr>
          <a:xfrm>
            <a:off x="548640" y="4572000"/>
            <a:ext cx="5029200" cy="1463040"/>
          </a:xfrm>
          <a:prstGeom prst="rect">
            <a:avLst/>
          </a:prstGeom>
          <a:noFill/>
          <a:ln/>
        </p:spPr>
        <p:txBody>
          <a:bodyPr wrap="square" lIns="0" tIns="0" rIns="0" bIns="0" rtlCol="0" anchor="ctr"/>
          <a:lstStyle/>
          <a:p>
            <a:pPr indent="0" marL="0">
              <a:spcAft>
                <a:spcPts val="300"/>
              </a:spcAft>
              <a:buNone/>
            </a:pPr>
            <a:r>
              <a:rPr lang="en-US" sz="1600" b="1" dirty="0">
                <a:solidFill>
                  <a:srgbClr val="FFD43B"/>
                </a:solidFill>
                <a:latin typeface="Calibri" pitchFamily="34" charset="0"/>
                <a:ea typeface="Calibri" pitchFamily="34" charset="-122"/>
                <a:cs typeface="Calibri" pitchFamily="34" charset="-120"/>
              </a:rPr>
              <a:t>Team</a:t>
            </a:r>
            <a:endParaRPr lang="en-US" sz="1600" dirty="0"/>
          </a:p>
          <a:p>
            <a:pPr indent="0" marL="0">
              <a:spcAft>
                <a:spcPts val="300"/>
              </a:spcAft>
              <a:buNone/>
            </a:pPr>
            <a:r>
              <a:rPr lang="en-US" sz="1600" dirty="0">
                <a:solidFill>
                  <a:srgbClr val="FFFFFF"/>
                </a:solidFill>
                <a:latin typeface="Calibri" pitchFamily="34" charset="0"/>
                <a:ea typeface="Calibri" pitchFamily="34" charset="-122"/>
                <a:cs typeface="Calibri" pitchFamily="34" charset="-120"/>
              </a:rPr>
              <a:t>A. Anirudh  —  247R1A6603</a:t>
            </a:r>
            <a:endParaRPr lang="en-US" sz="1600" dirty="0"/>
          </a:p>
          <a:p>
            <a:pPr indent="0" marL="0">
              <a:spcAft>
                <a:spcPts val="300"/>
              </a:spcAft>
              <a:buNone/>
            </a:pPr>
            <a:r>
              <a:rPr lang="en-US" sz="1600" dirty="0">
                <a:solidFill>
                  <a:srgbClr val="FFFFFF"/>
                </a:solidFill>
                <a:latin typeface="Calibri" pitchFamily="34" charset="0"/>
                <a:ea typeface="Calibri" pitchFamily="34" charset="-122"/>
                <a:cs typeface="Calibri" pitchFamily="34" charset="-120"/>
              </a:rPr>
              <a:t>D. Srikar Reddy  —  247R1A6621</a:t>
            </a:r>
            <a:endParaRPr lang="en-US" sz="1600" dirty="0"/>
          </a:p>
          <a:p>
            <a:pPr indent="0" marL="0">
              <a:spcAft>
                <a:spcPts val="300"/>
              </a:spcAft>
              <a:buNone/>
            </a:pPr>
            <a:r>
              <a:rPr lang="en-US" sz="1600" dirty="0">
                <a:solidFill>
                  <a:srgbClr val="FFFFFF"/>
                </a:solidFill>
                <a:latin typeface="Calibri" pitchFamily="34" charset="0"/>
                <a:ea typeface="Calibri" pitchFamily="34" charset="-122"/>
                <a:cs typeface="Calibri" pitchFamily="34" charset="-120"/>
              </a:rPr>
              <a:t>G. Prashanth  —  247R1A6622</a:t>
            </a:r>
            <a:endParaRPr lang="en-US" sz="1600" dirty="0"/>
          </a:p>
        </p:txBody>
      </p:sp>
      <p:sp>
        <p:nvSpPr>
          <p:cNvPr id="14" name="Text 12"/>
          <p:cNvSpPr txBox="1"/>
          <p:nvPr/>
        </p:nvSpPr>
        <p:spPr>
          <a:xfrm>
            <a:off x="6583680" y="4572000"/>
            <a:ext cx="5029200" cy="1463040"/>
          </a:xfrm>
          <a:prstGeom prst="rect">
            <a:avLst/>
          </a:prstGeom>
          <a:noFill/>
          <a:ln/>
        </p:spPr>
        <p:txBody>
          <a:bodyPr wrap="square" lIns="0" tIns="0" rIns="0" bIns="0" rtlCol="0" anchor="ctr"/>
          <a:lstStyle/>
          <a:p>
            <a:pPr indent="0" marL="0">
              <a:spcAft>
                <a:spcPts val="300"/>
              </a:spcAft>
              <a:buNone/>
            </a:pPr>
            <a:r>
              <a:rPr lang="en-US" sz="1600" b="1" dirty="0">
                <a:solidFill>
                  <a:srgbClr val="FFD43B"/>
                </a:solidFill>
                <a:latin typeface="Calibri" pitchFamily="34" charset="0"/>
                <a:ea typeface="Calibri" pitchFamily="34" charset="-122"/>
                <a:cs typeface="Calibri" pitchFamily="34" charset="-120"/>
              </a:rPr>
              <a:t>Under the guidance of</a:t>
            </a:r>
            <a:endParaRPr lang="en-US" sz="1600" dirty="0"/>
          </a:p>
          <a:p>
            <a:pPr indent="0" marL="0">
              <a:spcAft>
                <a:spcPts val="300"/>
              </a:spcAft>
              <a:buNone/>
            </a:pPr>
            <a:r>
              <a:rPr lang="en-US" sz="1600" dirty="0">
                <a:solidFill>
                  <a:srgbClr val="FFFFFF"/>
                </a:solidFill>
                <a:latin typeface="Calibri" pitchFamily="34" charset="0"/>
                <a:ea typeface="Calibri" pitchFamily="34" charset="-122"/>
                <a:cs typeface="Calibri" pitchFamily="34" charset="-120"/>
              </a:rPr>
              <a:t>____________________</a:t>
            </a:r>
            <a:endParaRPr lang="en-US" sz="1600" dirty="0"/>
          </a:p>
          <a:p>
            <a:pPr indent="0" marL="0">
              <a:spcAft>
                <a:spcPts val="300"/>
              </a:spcAft>
              <a:buNone/>
            </a:pPr>
            <a:r>
              <a:rPr lang="en-US" sz="1600" dirty="0">
                <a:solidFill>
                  <a:srgbClr val="FFFFFF"/>
                </a:solidFill>
                <a:latin typeface="Calibri" pitchFamily="34" charset="0"/>
                <a:ea typeface="Calibri" pitchFamily="34" charset="-122"/>
                <a:cs typeface="Calibri" pitchFamily="34" charset="-120"/>
              </a:rPr>
              <a:t>Department of Computer Science &amp; Engineering</a:t>
            </a:r>
            <a:endParaRPr lang="en-US" sz="1600" dirty="0"/>
          </a:p>
          <a:p>
            <a:pPr indent="0" marL="0">
              <a:spcAft>
                <a:spcPts val="300"/>
              </a:spcAft>
              <a:buNone/>
            </a:pPr>
            <a:r>
              <a:rPr lang="en-US" sz="1600" dirty="0">
                <a:solidFill>
                  <a:srgbClr val="FFFFFF"/>
                </a:solidFill>
                <a:latin typeface="Calibri" pitchFamily="34" charset="0"/>
                <a:ea typeface="Calibri" pitchFamily="34" charset="-122"/>
                <a:cs typeface="Calibri" pitchFamily="34" charset="-120"/>
              </a:rPr>
              <a:t>CMR Technical Campus, Hyderabad</a:t>
            </a:r>
            <a:endParaRPr lang="en-US" sz="1600" dirty="0"/>
          </a:p>
        </p:txBody>
      </p:sp>
      <p:sp>
        <p:nvSpPr>
          <p:cNvPr id="15" name="Shape 13"/>
          <p:cNvSpPr/>
          <p:nvPr/>
        </p:nvSpPr>
        <p:spPr>
          <a:xfrm>
            <a:off x="9738360" y="3337560"/>
            <a:ext cx="502920" cy="320040"/>
          </a:xfrm>
          <a:prstGeom prst="line">
            <a:avLst/>
          </a:prstGeom>
          <a:noFill/>
          <a:ln w="19050">
            <a:solidFill>
              <a:srgbClr val="6B7480"/>
            </a:solidFill>
            <a:prstDash val="solid"/>
          </a:ln>
        </p:spPr>
      </p:sp>
      <p:sp>
        <p:nvSpPr>
          <p:cNvPr id="16" name="Shape 14"/>
          <p:cNvSpPr/>
          <p:nvPr/>
        </p:nvSpPr>
        <p:spPr>
          <a:xfrm>
            <a:off x="9464040" y="2926080"/>
            <a:ext cx="274320" cy="411480"/>
          </a:xfrm>
          <a:prstGeom prst="line">
            <a:avLst/>
          </a:prstGeom>
          <a:noFill/>
          <a:ln w="19050">
            <a:solidFill>
              <a:srgbClr val="6B7480"/>
            </a:solidFill>
            <a:prstDash val="solid"/>
          </a:ln>
        </p:spPr>
      </p:sp>
      <p:sp>
        <p:nvSpPr>
          <p:cNvPr id="17" name="Shape 15"/>
          <p:cNvSpPr/>
          <p:nvPr/>
        </p:nvSpPr>
        <p:spPr>
          <a:xfrm>
            <a:off x="9326880" y="2560320"/>
            <a:ext cx="137160" cy="365760"/>
          </a:xfrm>
          <a:prstGeom prst="line">
            <a:avLst/>
          </a:prstGeom>
          <a:noFill/>
          <a:ln w="19050">
            <a:solidFill>
              <a:srgbClr val="6B7480"/>
            </a:solidFill>
            <a:prstDash val="solid"/>
          </a:ln>
        </p:spPr>
      </p:sp>
      <p:sp>
        <p:nvSpPr>
          <p:cNvPr id="18" name="Shape 16"/>
          <p:cNvSpPr/>
          <p:nvPr/>
        </p:nvSpPr>
        <p:spPr>
          <a:xfrm>
            <a:off x="9235440" y="2240280"/>
            <a:ext cx="91440" cy="320040"/>
          </a:xfrm>
          <a:prstGeom prst="line">
            <a:avLst/>
          </a:prstGeom>
          <a:noFill/>
          <a:ln w="19050">
            <a:solidFill>
              <a:srgbClr val="6B7480"/>
            </a:solidFill>
            <a:prstDash val="solid"/>
          </a:ln>
        </p:spPr>
      </p:sp>
      <p:sp>
        <p:nvSpPr>
          <p:cNvPr id="19" name="Shape 17"/>
          <p:cNvSpPr/>
          <p:nvPr/>
        </p:nvSpPr>
        <p:spPr>
          <a:xfrm>
            <a:off x="9966960" y="2514600"/>
            <a:ext cx="274320" cy="1143000"/>
          </a:xfrm>
          <a:prstGeom prst="line">
            <a:avLst/>
          </a:prstGeom>
          <a:noFill/>
          <a:ln w="19050">
            <a:solidFill>
              <a:srgbClr val="6B7480"/>
            </a:solidFill>
            <a:prstDash val="solid"/>
          </a:ln>
        </p:spPr>
      </p:sp>
      <p:sp>
        <p:nvSpPr>
          <p:cNvPr id="20" name="Shape 18"/>
          <p:cNvSpPr/>
          <p:nvPr/>
        </p:nvSpPr>
        <p:spPr>
          <a:xfrm>
            <a:off x="9921240" y="2057400"/>
            <a:ext cx="45720" cy="457200"/>
          </a:xfrm>
          <a:prstGeom prst="line">
            <a:avLst/>
          </a:prstGeom>
          <a:noFill/>
          <a:ln w="19050">
            <a:solidFill>
              <a:srgbClr val="6B7480"/>
            </a:solidFill>
            <a:prstDash val="solid"/>
          </a:ln>
        </p:spPr>
      </p:sp>
      <p:sp>
        <p:nvSpPr>
          <p:cNvPr id="21" name="Shape 19"/>
          <p:cNvSpPr/>
          <p:nvPr/>
        </p:nvSpPr>
        <p:spPr>
          <a:xfrm>
            <a:off x="9893808" y="1737360"/>
            <a:ext cx="27432" cy="320040"/>
          </a:xfrm>
          <a:prstGeom prst="line">
            <a:avLst/>
          </a:prstGeom>
          <a:noFill/>
          <a:ln w="19050">
            <a:solidFill>
              <a:srgbClr val="6B7480"/>
            </a:solidFill>
            <a:prstDash val="solid"/>
          </a:ln>
        </p:spPr>
      </p:sp>
      <p:sp>
        <p:nvSpPr>
          <p:cNvPr id="22" name="Shape 20"/>
          <p:cNvSpPr/>
          <p:nvPr/>
        </p:nvSpPr>
        <p:spPr>
          <a:xfrm>
            <a:off x="9875520" y="1463040"/>
            <a:ext cx="18288" cy="274320"/>
          </a:xfrm>
          <a:prstGeom prst="line">
            <a:avLst/>
          </a:prstGeom>
          <a:noFill/>
          <a:ln w="19050">
            <a:solidFill>
              <a:srgbClr val="6B7480"/>
            </a:solidFill>
            <a:prstDash val="solid"/>
          </a:ln>
        </p:spPr>
      </p:sp>
      <p:sp>
        <p:nvSpPr>
          <p:cNvPr id="23" name="Shape 21"/>
          <p:cNvSpPr/>
          <p:nvPr/>
        </p:nvSpPr>
        <p:spPr>
          <a:xfrm flipH="1">
            <a:off x="9966960" y="2468880"/>
            <a:ext cx="320040" cy="45720"/>
          </a:xfrm>
          <a:prstGeom prst="line">
            <a:avLst/>
          </a:prstGeom>
          <a:noFill/>
          <a:ln w="19050">
            <a:solidFill>
              <a:srgbClr val="6B7480"/>
            </a:solidFill>
            <a:prstDash val="solid"/>
          </a:ln>
        </p:spPr>
      </p:sp>
      <p:sp>
        <p:nvSpPr>
          <p:cNvPr id="24" name="Shape 22"/>
          <p:cNvSpPr/>
          <p:nvPr/>
        </p:nvSpPr>
        <p:spPr>
          <a:xfrm>
            <a:off x="10287000" y="1965960"/>
            <a:ext cx="914" cy="502920"/>
          </a:xfrm>
          <a:prstGeom prst="line">
            <a:avLst/>
          </a:prstGeom>
          <a:noFill/>
          <a:ln w="19050">
            <a:solidFill>
              <a:srgbClr val="6B7480"/>
            </a:solidFill>
            <a:prstDash val="solid"/>
          </a:ln>
        </p:spPr>
      </p:sp>
      <p:sp>
        <p:nvSpPr>
          <p:cNvPr id="25" name="Shape 23"/>
          <p:cNvSpPr/>
          <p:nvPr/>
        </p:nvSpPr>
        <p:spPr>
          <a:xfrm>
            <a:off x="10287000" y="1600200"/>
            <a:ext cx="914" cy="365760"/>
          </a:xfrm>
          <a:prstGeom prst="line">
            <a:avLst/>
          </a:prstGeom>
          <a:noFill/>
          <a:ln w="19050">
            <a:solidFill>
              <a:srgbClr val="6B7480"/>
            </a:solidFill>
            <a:prstDash val="solid"/>
          </a:ln>
        </p:spPr>
      </p:sp>
      <p:sp>
        <p:nvSpPr>
          <p:cNvPr id="26" name="Shape 24"/>
          <p:cNvSpPr/>
          <p:nvPr/>
        </p:nvSpPr>
        <p:spPr>
          <a:xfrm>
            <a:off x="10287000" y="1280160"/>
            <a:ext cx="914" cy="320040"/>
          </a:xfrm>
          <a:prstGeom prst="line">
            <a:avLst/>
          </a:prstGeom>
          <a:noFill/>
          <a:ln w="19050">
            <a:solidFill>
              <a:srgbClr val="6B7480"/>
            </a:solidFill>
            <a:prstDash val="solid"/>
          </a:ln>
        </p:spPr>
      </p:sp>
      <p:sp>
        <p:nvSpPr>
          <p:cNvPr id="27" name="Shape 25"/>
          <p:cNvSpPr/>
          <p:nvPr/>
        </p:nvSpPr>
        <p:spPr>
          <a:xfrm>
            <a:off x="10287000" y="2468880"/>
            <a:ext cx="301752" cy="73152"/>
          </a:xfrm>
          <a:prstGeom prst="line">
            <a:avLst/>
          </a:prstGeom>
          <a:noFill/>
          <a:ln w="19050">
            <a:solidFill>
              <a:srgbClr val="6B7480"/>
            </a:solidFill>
            <a:prstDash val="solid"/>
          </a:ln>
        </p:spPr>
      </p:sp>
      <p:sp>
        <p:nvSpPr>
          <p:cNvPr id="28" name="Shape 26"/>
          <p:cNvSpPr/>
          <p:nvPr/>
        </p:nvSpPr>
        <p:spPr>
          <a:xfrm flipH="1">
            <a:off x="10588752" y="2084832"/>
            <a:ext cx="36576" cy="457200"/>
          </a:xfrm>
          <a:prstGeom prst="line">
            <a:avLst/>
          </a:prstGeom>
          <a:noFill/>
          <a:ln w="19050">
            <a:solidFill>
              <a:srgbClr val="6B7480"/>
            </a:solidFill>
            <a:prstDash val="solid"/>
          </a:ln>
        </p:spPr>
      </p:sp>
      <p:sp>
        <p:nvSpPr>
          <p:cNvPr id="29" name="Shape 27"/>
          <p:cNvSpPr/>
          <p:nvPr/>
        </p:nvSpPr>
        <p:spPr>
          <a:xfrm flipH="1">
            <a:off x="10625328" y="1755648"/>
            <a:ext cx="18288" cy="329184"/>
          </a:xfrm>
          <a:prstGeom prst="line">
            <a:avLst/>
          </a:prstGeom>
          <a:noFill/>
          <a:ln w="19050">
            <a:solidFill>
              <a:srgbClr val="6B7480"/>
            </a:solidFill>
            <a:prstDash val="solid"/>
          </a:ln>
        </p:spPr>
      </p:sp>
      <p:sp>
        <p:nvSpPr>
          <p:cNvPr id="30" name="Shape 28"/>
          <p:cNvSpPr/>
          <p:nvPr/>
        </p:nvSpPr>
        <p:spPr>
          <a:xfrm flipH="1">
            <a:off x="10643616" y="1481328"/>
            <a:ext cx="18288" cy="274320"/>
          </a:xfrm>
          <a:prstGeom prst="line">
            <a:avLst/>
          </a:prstGeom>
          <a:noFill/>
          <a:ln w="19050">
            <a:solidFill>
              <a:srgbClr val="6B7480"/>
            </a:solidFill>
            <a:prstDash val="solid"/>
          </a:ln>
        </p:spPr>
      </p:sp>
      <p:sp>
        <p:nvSpPr>
          <p:cNvPr id="31" name="Shape 29"/>
          <p:cNvSpPr/>
          <p:nvPr/>
        </p:nvSpPr>
        <p:spPr>
          <a:xfrm>
            <a:off x="10588752" y="2542032"/>
            <a:ext cx="274320" cy="155448"/>
          </a:xfrm>
          <a:prstGeom prst="line">
            <a:avLst/>
          </a:prstGeom>
          <a:noFill/>
          <a:ln w="19050">
            <a:solidFill>
              <a:srgbClr val="6B7480"/>
            </a:solidFill>
            <a:prstDash val="solid"/>
          </a:ln>
        </p:spPr>
      </p:sp>
      <p:sp>
        <p:nvSpPr>
          <p:cNvPr id="32" name="Shape 30"/>
          <p:cNvSpPr/>
          <p:nvPr/>
        </p:nvSpPr>
        <p:spPr>
          <a:xfrm flipH="1">
            <a:off x="10863072" y="2331720"/>
            <a:ext cx="91440" cy="365760"/>
          </a:xfrm>
          <a:prstGeom prst="line">
            <a:avLst/>
          </a:prstGeom>
          <a:noFill/>
          <a:ln w="19050">
            <a:solidFill>
              <a:srgbClr val="6B7480"/>
            </a:solidFill>
            <a:prstDash val="solid"/>
          </a:ln>
        </p:spPr>
      </p:sp>
      <p:sp>
        <p:nvSpPr>
          <p:cNvPr id="33" name="Shape 31"/>
          <p:cNvSpPr/>
          <p:nvPr/>
        </p:nvSpPr>
        <p:spPr>
          <a:xfrm flipH="1">
            <a:off x="10954512" y="2057400"/>
            <a:ext cx="54864" cy="274320"/>
          </a:xfrm>
          <a:prstGeom prst="line">
            <a:avLst/>
          </a:prstGeom>
          <a:noFill/>
          <a:ln w="19050">
            <a:solidFill>
              <a:srgbClr val="6B7480"/>
            </a:solidFill>
            <a:prstDash val="solid"/>
          </a:ln>
        </p:spPr>
      </p:sp>
      <p:sp>
        <p:nvSpPr>
          <p:cNvPr id="34" name="Shape 32"/>
          <p:cNvSpPr/>
          <p:nvPr/>
        </p:nvSpPr>
        <p:spPr>
          <a:xfrm flipH="1">
            <a:off x="11009376" y="1828800"/>
            <a:ext cx="36576" cy="228600"/>
          </a:xfrm>
          <a:prstGeom prst="line">
            <a:avLst/>
          </a:prstGeom>
          <a:noFill/>
          <a:ln w="19050">
            <a:solidFill>
              <a:srgbClr val="6B7480"/>
            </a:solidFill>
            <a:prstDash val="solid"/>
          </a:ln>
        </p:spPr>
      </p:sp>
      <p:sp>
        <p:nvSpPr>
          <p:cNvPr id="35" name="Shape 33"/>
          <p:cNvSpPr/>
          <p:nvPr/>
        </p:nvSpPr>
        <p:spPr>
          <a:xfrm flipH="1">
            <a:off x="10241280" y="2697480"/>
            <a:ext cx="621792" cy="960120"/>
          </a:xfrm>
          <a:prstGeom prst="line">
            <a:avLst/>
          </a:prstGeom>
          <a:noFill/>
          <a:ln w="19050">
            <a:solidFill>
              <a:srgbClr val="6B7480"/>
            </a:solidFill>
            <a:prstDash val="solid"/>
          </a:ln>
        </p:spPr>
      </p:sp>
      <p:sp>
        <p:nvSpPr>
          <p:cNvPr id="36" name="Shape 34"/>
          <p:cNvSpPr/>
          <p:nvPr/>
        </p:nvSpPr>
        <p:spPr>
          <a:xfrm>
            <a:off x="10177272" y="3593592"/>
            <a:ext cx="128016" cy="128016"/>
          </a:xfrm>
          <a:prstGeom prst="ellipse">
            <a:avLst/>
          </a:prstGeom>
          <a:solidFill>
            <a:srgbClr val="FFFFFF"/>
          </a:solidFill>
          <a:ln w="6350">
            <a:solidFill>
              <a:srgbClr val="1F2328"/>
            </a:solidFill>
            <a:prstDash val="solid"/>
          </a:ln>
        </p:spPr>
      </p:sp>
      <p:sp>
        <p:nvSpPr>
          <p:cNvPr id="37" name="Shape 35"/>
          <p:cNvSpPr/>
          <p:nvPr/>
        </p:nvSpPr>
        <p:spPr>
          <a:xfrm>
            <a:off x="9674352" y="3273552"/>
            <a:ext cx="128016" cy="128016"/>
          </a:xfrm>
          <a:prstGeom prst="ellipse">
            <a:avLst/>
          </a:prstGeom>
          <a:solidFill>
            <a:srgbClr val="FFFFFF"/>
          </a:solidFill>
          <a:ln w="6350">
            <a:solidFill>
              <a:srgbClr val="1F2328"/>
            </a:solidFill>
            <a:prstDash val="solid"/>
          </a:ln>
        </p:spPr>
      </p:sp>
      <p:sp>
        <p:nvSpPr>
          <p:cNvPr id="38" name="Shape 36"/>
          <p:cNvSpPr/>
          <p:nvPr/>
        </p:nvSpPr>
        <p:spPr>
          <a:xfrm>
            <a:off x="9400032" y="2862072"/>
            <a:ext cx="128016" cy="128016"/>
          </a:xfrm>
          <a:prstGeom prst="ellipse">
            <a:avLst/>
          </a:prstGeom>
          <a:solidFill>
            <a:srgbClr val="FFFFFF"/>
          </a:solidFill>
          <a:ln w="6350">
            <a:solidFill>
              <a:srgbClr val="1F2328"/>
            </a:solidFill>
            <a:prstDash val="solid"/>
          </a:ln>
        </p:spPr>
      </p:sp>
      <p:sp>
        <p:nvSpPr>
          <p:cNvPr id="39" name="Shape 37"/>
          <p:cNvSpPr/>
          <p:nvPr/>
        </p:nvSpPr>
        <p:spPr>
          <a:xfrm>
            <a:off x="9262872" y="2496312"/>
            <a:ext cx="128016" cy="128016"/>
          </a:xfrm>
          <a:prstGeom prst="ellipse">
            <a:avLst/>
          </a:prstGeom>
          <a:solidFill>
            <a:srgbClr val="FFFFFF"/>
          </a:solidFill>
          <a:ln w="6350">
            <a:solidFill>
              <a:srgbClr val="1F2328"/>
            </a:solidFill>
            <a:prstDash val="solid"/>
          </a:ln>
        </p:spPr>
      </p:sp>
      <p:sp>
        <p:nvSpPr>
          <p:cNvPr id="40" name="Shape 38"/>
          <p:cNvSpPr/>
          <p:nvPr/>
        </p:nvSpPr>
        <p:spPr>
          <a:xfrm>
            <a:off x="9171432" y="2176272"/>
            <a:ext cx="128016" cy="128016"/>
          </a:xfrm>
          <a:prstGeom prst="ellipse">
            <a:avLst/>
          </a:prstGeom>
          <a:solidFill>
            <a:srgbClr val="FFD43B"/>
          </a:solidFill>
          <a:ln w="6350">
            <a:solidFill>
              <a:srgbClr val="1F2328"/>
            </a:solidFill>
            <a:prstDash val="solid"/>
          </a:ln>
        </p:spPr>
      </p:sp>
      <p:sp>
        <p:nvSpPr>
          <p:cNvPr id="41" name="Shape 39"/>
          <p:cNvSpPr/>
          <p:nvPr/>
        </p:nvSpPr>
        <p:spPr>
          <a:xfrm>
            <a:off x="9902952" y="2450592"/>
            <a:ext cx="128016" cy="128016"/>
          </a:xfrm>
          <a:prstGeom prst="ellipse">
            <a:avLst/>
          </a:prstGeom>
          <a:solidFill>
            <a:srgbClr val="FFFFFF"/>
          </a:solidFill>
          <a:ln w="6350">
            <a:solidFill>
              <a:srgbClr val="1F2328"/>
            </a:solidFill>
            <a:prstDash val="solid"/>
          </a:ln>
        </p:spPr>
      </p:sp>
      <p:sp>
        <p:nvSpPr>
          <p:cNvPr id="42" name="Shape 40"/>
          <p:cNvSpPr/>
          <p:nvPr/>
        </p:nvSpPr>
        <p:spPr>
          <a:xfrm>
            <a:off x="9857232" y="1993392"/>
            <a:ext cx="128016" cy="128016"/>
          </a:xfrm>
          <a:prstGeom prst="ellipse">
            <a:avLst/>
          </a:prstGeom>
          <a:solidFill>
            <a:srgbClr val="FFFFFF"/>
          </a:solidFill>
          <a:ln w="6350">
            <a:solidFill>
              <a:srgbClr val="1F2328"/>
            </a:solidFill>
            <a:prstDash val="solid"/>
          </a:ln>
        </p:spPr>
      </p:sp>
      <p:sp>
        <p:nvSpPr>
          <p:cNvPr id="43" name="Shape 41"/>
          <p:cNvSpPr/>
          <p:nvPr/>
        </p:nvSpPr>
        <p:spPr>
          <a:xfrm>
            <a:off x="9829800" y="1673352"/>
            <a:ext cx="128016" cy="128016"/>
          </a:xfrm>
          <a:prstGeom prst="ellipse">
            <a:avLst/>
          </a:prstGeom>
          <a:solidFill>
            <a:srgbClr val="FFFFFF"/>
          </a:solidFill>
          <a:ln w="6350">
            <a:solidFill>
              <a:srgbClr val="1F2328"/>
            </a:solidFill>
            <a:prstDash val="solid"/>
          </a:ln>
        </p:spPr>
      </p:sp>
      <p:sp>
        <p:nvSpPr>
          <p:cNvPr id="44" name="Shape 42"/>
          <p:cNvSpPr/>
          <p:nvPr/>
        </p:nvSpPr>
        <p:spPr>
          <a:xfrm>
            <a:off x="9811512" y="1399032"/>
            <a:ext cx="128016" cy="128016"/>
          </a:xfrm>
          <a:prstGeom prst="ellipse">
            <a:avLst/>
          </a:prstGeom>
          <a:solidFill>
            <a:srgbClr val="FFD43B"/>
          </a:solidFill>
          <a:ln w="6350">
            <a:solidFill>
              <a:srgbClr val="1F2328"/>
            </a:solidFill>
            <a:prstDash val="solid"/>
          </a:ln>
        </p:spPr>
      </p:sp>
      <p:sp>
        <p:nvSpPr>
          <p:cNvPr id="45" name="Shape 43"/>
          <p:cNvSpPr/>
          <p:nvPr/>
        </p:nvSpPr>
        <p:spPr>
          <a:xfrm>
            <a:off x="10222992" y="2404872"/>
            <a:ext cx="128016" cy="128016"/>
          </a:xfrm>
          <a:prstGeom prst="ellipse">
            <a:avLst/>
          </a:prstGeom>
          <a:solidFill>
            <a:srgbClr val="FFFFFF"/>
          </a:solidFill>
          <a:ln w="6350">
            <a:solidFill>
              <a:srgbClr val="1F2328"/>
            </a:solidFill>
            <a:prstDash val="solid"/>
          </a:ln>
        </p:spPr>
      </p:sp>
      <p:sp>
        <p:nvSpPr>
          <p:cNvPr id="46" name="Shape 44"/>
          <p:cNvSpPr/>
          <p:nvPr/>
        </p:nvSpPr>
        <p:spPr>
          <a:xfrm>
            <a:off x="10222992" y="1901952"/>
            <a:ext cx="128016" cy="128016"/>
          </a:xfrm>
          <a:prstGeom prst="ellipse">
            <a:avLst/>
          </a:prstGeom>
          <a:solidFill>
            <a:srgbClr val="FFFFFF"/>
          </a:solidFill>
          <a:ln w="6350">
            <a:solidFill>
              <a:srgbClr val="1F2328"/>
            </a:solidFill>
            <a:prstDash val="solid"/>
          </a:ln>
        </p:spPr>
      </p:sp>
      <p:sp>
        <p:nvSpPr>
          <p:cNvPr id="47" name="Shape 45"/>
          <p:cNvSpPr/>
          <p:nvPr/>
        </p:nvSpPr>
        <p:spPr>
          <a:xfrm>
            <a:off x="10222992" y="1536192"/>
            <a:ext cx="128016" cy="128016"/>
          </a:xfrm>
          <a:prstGeom prst="ellipse">
            <a:avLst/>
          </a:prstGeom>
          <a:solidFill>
            <a:srgbClr val="FFFFFF"/>
          </a:solidFill>
          <a:ln w="6350">
            <a:solidFill>
              <a:srgbClr val="1F2328"/>
            </a:solidFill>
            <a:prstDash val="solid"/>
          </a:ln>
        </p:spPr>
      </p:sp>
      <p:sp>
        <p:nvSpPr>
          <p:cNvPr id="48" name="Shape 46"/>
          <p:cNvSpPr/>
          <p:nvPr/>
        </p:nvSpPr>
        <p:spPr>
          <a:xfrm>
            <a:off x="10222992" y="1216152"/>
            <a:ext cx="128016" cy="128016"/>
          </a:xfrm>
          <a:prstGeom prst="ellipse">
            <a:avLst/>
          </a:prstGeom>
          <a:solidFill>
            <a:srgbClr val="FFD43B"/>
          </a:solidFill>
          <a:ln w="6350">
            <a:solidFill>
              <a:srgbClr val="1F2328"/>
            </a:solidFill>
            <a:prstDash val="solid"/>
          </a:ln>
        </p:spPr>
      </p:sp>
      <p:sp>
        <p:nvSpPr>
          <p:cNvPr id="49" name="Shape 47"/>
          <p:cNvSpPr/>
          <p:nvPr/>
        </p:nvSpPr>
        <p:spPr>
          <a:xfrm>
            <a:off x="10524744" y="2478024"/>
            <a:ext cx="128016" cy="128016"/>
          </a:xfrm>
          <a:prstGeom prst="ellipse">
            <a:avLst/>
          </a:prstGeom>
          <a:solidFill>
            <a:srgbClr val="FFFFFF"/>
          </a:solidFill>
          <a:ln w="6350">
            <a:solidFill>
              <a:srgbClr val="1F2328"/>
            </a:solidFill>
            <a:prstDash val="solid"/>
          </a:ln>
        </p:spPr>
      </p:sp>
      <p:sp>
        <p:nvSpPr>
          <p:cNvPr id="50" name="Shape 48"/>
          <p:cNvSpPr/>
          <p:nvPr/>
        </p:nvSpPr>
        <p:spPr>
          <a:xfrm>
            <a:off x="10561320" y="2020824"/>
            <a:ext cx="128016" cy="128016"/>
          </a:xfrm>
          <a:prstGeom prst="ellipse">
            <a:avLst/>
          </a:prstGeom>
          <a:solidFill>
            <a:srgbClr val="FFFFFF"/>
          </a:solidFill>
          <a:ln w="6350">
            <a:solidFill>
              <a:srgbClr val="1F2328"/>
            </a:solidFill>
            <a:prstDash val="solid"/>
          </a:ln>
        </p:spPr>
      </p:sp>
      <p:sp>
        <p:nvSpPr>
          <p:cNvPr id="51" name="Shape 49"/>
          <p:cNvSpPr/>
          <p:nvPr/>
        </p:nvSpPr>
        <p:spPr>
          <a:xfrm>
            <a:off x="10579608" y="1691640"/>
            <a:ext cx="128016" cy="128016"/>
          </a:xfrm>
          <a:prstGeom prst="ellipse">
            <a:avLst/>
          </a:prstGeom>
          <a:solidFill>
            <a:srgbClr val="FFFFFF"/>
          </a:solidFill>
          <a:ln w="6350">
            <a:solidFill>
              <a:srgbClr val="1F2328"/>
            </a:solidFill>
            <a:prstDash val="solid"/>
          </a:ln>
        </p:spPr>
      </p:sp>
      <p:sp>
        <p:nvSpPr>
          <p:cNvPr id="52" name="Shape 50"/>
          <p:cNvSpPr/>
          <p:nvPr/>
        </p:nvSpPr>
        <p:spPr>
          <a:xfrm>
            <a:off x="10597896" y="1417320"/>
            <a:ext cx="128016" cy="128016"/>
          </a:xfrm>
          <a:prstGeom prst="ellipse">
            <a:avLst/>
          </a:prstGeom>
          <a:solidFill>
            <a:srgbClr val="FFD43B"/>
          </a:solidFill>
          <a:ln w="6350">
            <a:solidFill>
              <a:srgbClr val="1F2328"/>
            </a:solidFill>
            <a:prstDash val="solid"/>
          </a:ln>
        </p:spPr>
      </p:sp>
      <p:sp>
        <p:nvSpPr>
          <p:cNvPr id="53" name="Shape 51"/>
          <p:cNvSpPr/>
          <p:nvPr/>
        </p:nvSpPr>
        <p:spPr>
          <a:xfrm>
            <a:off x="10799064" y="2633472"/>
            <a:ext cx="128016" cy="128016"/>
          </a:xfrm>
          <a:prstGeom prst="ellipse">
            <a:avLst/>
          </a:prstGeom>
          <a:solidFill>
            <a:srgbClr val="FFFFFF"/>
          </a:solidFill>
          <a:ln w="6350">
            <a:solidFill>
              <a:srgbClr val="1F2328"/>
            </a:solidFill>
            <a:prstDash val="solid"/>
          </a:ln>
        </p:spPr>
      </p:sp>
      <p:sp>
        <p:nvSpPr>
          <p:cNvPr id="54" name="Shape 52"/>
          <p:cNvSpPr/>
          <p:nvPr/>
        </p:nvSpPr>
        <p:spPr>
          <a:xfrm>
            <a:off x="10890504" y="2267712"/>
            <a:ext cx="128016" cy="128016"/>
          </a:xfrm>
          <a:prstGeom prst="ellipse">
            <a:avLst/>
          </a:prstGeom>
          <a:solidFill>
            <a:srgbClr val="FFFFFF"/>
          </a:solidFill>
          <a:ln w="6350">
            <a:solidFill>
              <a:srgbClr val="1F2328"/>
            </a:solidFill>
            <a:prstDash val="solid"/>
          </a:ln>
        </p:spPr>
      </p:sp>
      <p:sp>
        <p:nvSpPr>
          <p:cNvPr id="55" name="Shape 53"/>
          <p:cNvSpPr/>
          <p:nvPr/>
        </p:nvSpPr>
        <p:spPr>
          <a:xfrm>
            <a:off x="10945368" y="1993392"/>
            <a:ext cx="128016" cy="128016"/>
          </a:xfrm>
          <a:prstGeom prst="ellipse">
            <a:avLst/>
          </a:prstGeom>
          <a:solidFill>
            <a:srgbClr val="FFFFFF"/>
          </a:solidFill>
          <a:ln w="6350">
            <a:solidFill>
              <a:srgbClr val="1F2328"/>
            </a:solidFill>
            <a:prstDash val="solid"/>
          </a:ln>
        </p:spPr>
      </p:sp>
      <p:sp>
        <p:nvSpPr>
          <p:cNvPr id="56" name="Shape 54"/>
          <p:cNvSpPr/>
          <p:nvPr/>
        </p:nvSpPr>
        <p:spPr>
          <a:xfrm>
            <a:off x="10981944" y="1764792"/>
            <a:ext cx="128016" cy="128016"/>
          </a:xfrm>
          <a:prstGeom prst="ellipse">
            <a:avLst/>
          </a:prstGeom>
          <a:solidFill>
            <a:srgbClr val="FFD43B"/>
          </a:solidFill>
          <a:ln w="6350">
            <a:solidFill>
              <a:srgbClr val="1F232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24712"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124712"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Contents</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02</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691640"/>
            <a:ext cx="475488" cy="475488"/>
          </a:xfrm>
          <a:prstGeom prst="ellipse">
            <a:avLst/>
          </a:prstGeom>
          <a:solidFill>
            <a:srgbClr val="F2F3F5"/>
          </a:solidFill>
          <a:ln w="12700">
            <a:solidFill>
              <a:srgbClr val="C9CDD2"/>
            </a:solidFill>
            <a:prstDash val="solid"/>
          </a:ln>
        </p:spPr>
      </p:sp>
      <p:sp>
        <p:nvSpPr>
          <p:cNvPr id="9" name="Text 6"/>
          <p:cNvSpPr txBox="1"/>
          <p:nvPr/>
        </p:nvSpPr>
        <p:spPr>
          <a:xfrm>
            <a:off x="548640" y="1691640"/>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01</a:t>
            </a:r>
            <a:endParaRPr lang="en-US" sz="1300" dirty="0"/>
          </a:p>
        </p:txBody>
      </p:sp>
      <p:sp>
        <p:nvSpPr>
          <p:cNvPr id="10" name="Text 7"/>
          <p:cNvSpPr txBox="1"/>
          <p:nvPr/>
        </p:nvSpPr>
        <p:spPr>
          <a:xfrm>
            <a:off x="1188720" y="1691640"/>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Abstract</a:t>
            </a:r>
            <a:endParaRPr lang="en-US" sz="1700" dirty="0"/>
          </a:p>
        </p:txBody>
      </p:sp>
      <p:sp>
        <p:nvSpPr>
          <p:cNvPr id="11" name="Shape 8"/>
          <p:cNvSpPr/>
          <p:nvPr/>
        </p:nvSpPr>
        <p:spPr>
          <a:xfrm>
            <a:off x="548640" y="2441448"/>
            <a:ext cx="475488" cy="475488"/>
          </a:xfrm>
          <a:prstGeom prst="ellipse">
            <a:avLst/>
          </a:prstGeom>
          <a:solidFill>
            <a:srgbClr val="F2F3F5"/>
          </a:solidFill>
          <a:ln w="12700">
            <a:solidFill>
              <a:srgbClr val="C9CDD2"/>
            </a:solidFill>
            <a:prstDash val="solid"/>
          </a:ln>
        </p:spPr>
      </p:sp>
      <p:sp>
        <p:nvSpPr>
          <p:cNvPr id="12" name="Text 9"/>
          <p:cNvSpPr txBox="1"/>
          <p:nvPr/>
        </p:nvSpPr>
        <p:spPr>
          <a:xfrm>
            <a:off x="548640" y="2441448"/>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02</a:t>
            </a:r>
            <a:endParaRPr lang="en-US" sz="1300" dirty="0"/>
          </a:p>
        </p:txBody>
      </p:sp>
      <p:sp>
        <p:nvSpPr>
          <p:cNvPr id="13" name="Text 10"/>
          <p:cNvSpPr txBox="1"/>
          <p:nvPr/>
        </p:nvSpPr>
        <p:spPr>
          <a:xfrm>
            <a:off x="1188720" y="2441448"/>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Problem statement</a:t>
            </a:r>
            <a:endParaRPr lang="en-US" sz="1700" dirty="0"/>
          </a:p>
        </p:txBody>
      </p:sp>
      <p:sp>
        <p:nvSpPr>
          <p:cNvPr id="14" name="Shape 11"/>
          <p:cNvSpPr/>
          <p:nvPr/>
        </p:nvSpPr>
        <p:spPr>
          <a:xfrm>
            <a:off x="548640" y="3191256"/>
            <a:ext cx="475488" cy="475488"/>
          </a:xfrm>
          <a:prstGeom prst="ellipse">
            <a:avLst/>
          </a:prstGeom>
          <a:solidFill>
            <a:srgbClr val="F2F3F5"/>
          </a:solidFill>
          <a:ln w="12700">
            <a:solidFill>
              <a:srgbClr val="C9CDD2"/>
            </a:solidFill>
            <a:prstDash val="solid"/>
          </a:ln>
        </p:spPr>
      </p:sp>
      <p:sp>
        <p:nvSpPr>
          <p:cNvPr id="15" name="Text 12"/>
          <p:cNvSpPr txBox="1"/>
          <p:nvPr/>
        </p:nvSpPr>
        <p:spPr>
          <a:xfrm>
            <a:off x="548640" y="3191256"/>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03</a:t>
            </a:r>
            <a:endParaRPr lang="en-US" sz="1300" dirty="0"/>
          </a:p>
        </p:txBody>
      </p:sp>
      <p:sp>
        <p:nvSpPr>
          <p:cNvPr id="16" name="Text 13"/>
          <p:cNvSpPr txBox="1"/>
          <p:nvPr/>
        </p:nvSpPr>
        <p:spPr>
          <a:xfrm>
            <a:off x="1188720" y="3191256"/>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Existing systems &amp; limitations</a:t>
            </a:r>
            <a:endParaRPr lang="en-US" sz="1700" dirty="0"/>
          </a:p>
        </p:txBody>
      </p:sp>
      <p:sp>
        <p:nvSpPr>
          <p:cNvPr id="17" name="Shape 14"/>
          <p:cNvSpPr/>
          <p:nvPr/>
        </p:nvSpPr>
        <p:spPr>
          <a:xfrm>
            <a:off x="548640" y="3941064"/>
            <a:ext cx="475488" cy="475488"/>
          </a:xfrm>
          <a:prstGeom prst="ellipse">
            <a:avLst/>
          </a:prstGeom>
          <a:solidFill>
            <a:srgbClr val="F2F3F5"/>
          </a:solidFill>
          <a:ln w="12700">
            <a:solidFill>
              <a:srgbClr val="C9CDD2"/>
            </a:solidFill>
            <a:prstDash val="solid"/>
          </a:ln>
        </p:spPr>
      </p:sp>
      <p:sp>
        <p:nvSpPr>
          <p:cNvPr id="18" name="Text 15"/>
          <p:cNvSpPr txBox="1"/>
          <p:nvPr/>
        </p:nvSpPr>
        <p:spPr>
          <a:xfrm>
            <a:off x="548640" y="3941064"/>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04</a:t>
            </a:r>
            <a:endParaRPr lang="en-US" sz="1300" dirty="0"/>
          </a:p>
        </p:txBody>
      </p:sp>
      <p:sp>
        <p:nvSpPr>
          <p:cNvPr id="19" name="Text 16"/>
          <p:cNvSpPr txBox="1"/>
          <p:nvPr/>
        </p:nvSpPr>
        <p:spPr>
          <a:xfrm>
            <a:off x="1188720" y="3941064"/>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Proposed solution &amp; objectives</a:t>
            </a:r>
            <a:endParaRPr lang="en-US" sz="1700" dirty="0"/>
          </a:p>
        </p:txBody>
      </p:sp>
      <p:sp>
        <p:nvSpPr>
          <p:cNvPr id="20" name="Shape 17"/>
          <p:cNvSpPr/>
          <p:nvPr/>
        </p:nvSpPr>
        <p:spPr>
          <a:xfrm>
            <a:off x="548640" y="4690872"/>
            <a:ext cx="475488" cy="475488"/>
          </a:xfrm>
          <a:prstGeom prst="ellipse">
            <a:avLst/>
          </a:prstGeom>
          <a:solidFill>
            <a:srgbClr val="F2F3F5"/>
          </a:solidFill>
          <a:ln w="12700">
            <a:solidFill>
              <a:srgbClr val="C9CDD2"/>
            </a:solidFill>
            <a:prstDash val="solid"/>
          </a:ln>
        </p:spPr>
      </p:sp>
      <p:sp>
        <p:nvSpPr>
          <p:cNvPr id="21" name="Text 18"/>
          <p:cNvSpPr txBox="1"/>
          <p:nvPr/>
        </p:nvSpPr>
        <p:spPr>
          <a:xfrm>
            <a:off x="548640" y="4690872"/>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05</a:t>
            </a:r>
            <a:endParaRPr lang="en-US" sz="1300" dirty="0"/>
          </a:p>
        </p:txBody>
      </p:sp>
      <p:sp>
        <p:nvSpPr>
          <p:cNvPr id="22" name="Text 19"/>
          <p:cNvSpPr txBox="1"/>
          <p:nvPr/>
        </p:nvSpPr>
        <p:spPr>
          <a:xfrm>
            <a:off x="1188720" y="4690872"/>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Requirements &amp; tech stack</a:t>
            </a:r>
            <a:endParaRPr lang="en-US" sz="1700" dirty="0"/>
          </a:p>
        </p:txBody>
      </p:sp>
      <p:sp>
        <p:nvSpPr>
          <p:cNvPr id="23" name="Shape 20"/>
          <p:cNvSpPr/>
          <p:nvPr/>
        </p:nvSpPr>
        <p:spPr>
          <a:xfrm>
            <a:off x="548640" y="5440680"/>
            <a:ext cx="475488" cy="475488"/>
          </a:xfrm>
          <a:prstGeom prst="ellipse">
            <a:avLst/>
          </a:prstGeom>
          <a:solidFill>
            <a:srgbClr val="F2F3F5"/>
          </a:solidFill>
          <a:ln w="12700">
            <a:solidFill>
              <a:srgbClr val="C9CDD2"/>
            </a:solidFill>
            <a:prstDash val="solid"/>
          </a:ln>
        </p:spPr>
      </p:sp>
      <p:sp>
        <p:nvSpPr>
          <p:cNvPr id="24" name="Text 21"/>
          <p:cNvSpPr txBox="1"/>
          <p:nvPr/>
        </p:nvSpPr>
        <p:spPr>
          <a:xfrm>
            <a:off x="548640" y="5440680"/>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06</a:t>
            </a:r>
            <a:endParaRPr lang="en-US" sz="1300" dirty="0"/>
          </a:p>
        </p:txBody>
      </p:sp>
      <p:sp>
        <p:nvSpPr>
          <p:cNvPr id="25" name="Text 22"/>
          <p:cNvSpPr txBox="1"/>
          <p:nvPr/>
        </p:nvSpPr>
        <p:spPr>
          <a:xfrm>
            <a:off x="1188720" y="5440680"/>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System architecture</a:t>
            </a:r>
            <a:endParaRPr lang="en-US" sz="1700" dirty="0"/>
          </a:p>
        </p:txBody>
      </p:sp>
      <p:sp>
        <p:nvSpPr>
          <p:cNvPr id="26" name="Shape 23"/>
          <p:cNvSpPr/>
          <p:nvPr/>
        </p:nvSpPr>
        <p:spPr>
          <a:xfrm>
            <a:off x="6172200" y="1691640"/>
            <a:ext cx="475488" cy="475488"/>
          </a:xfrm>
          <a:prstGeom prst="ellipse">
            <a:avLst/>
          </a:prstGeom>
          <a:solidFill>
            <a:srgbClr val="F2F3F5"/>
          </a:solidFill>
          <a:ln w="12700">
            <a:solidFill>
              <a:srgbClr val="C9CDD2"/>
            </a:solidFill>
            <a:prstDash val="solid"/>
          </a:ln>
        </p:spPr>
      </p:sp>
      <p:sp>
        <p:nvSpPr>
          <p:cNvPr id="27" name="Text 24"/>
          <p:cNvSpPr txBox="1"/>
          <p:nvPr/>
        </p:nvSpPr>
        <p:spPr>
          <a:xfrm>
            <a:off x="6172200" y="1691640"/>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07</a:t>
            </a:r>
            <a:endParaRPr lang="en-US" sz="1300" dirty="0"/>
          </a:p>
        </p:txBody>
      </p:sp>
      <p:sp>
        <p:nvSpPr>
          <p:cNvPr id="28" name="Text 25"/>
          <p:cNvSpPr txBox="1"/>
          <p:nvPr/>
        </p:nvSpPr>
        <p:spPr>
          <a:xfrm>
            <a:off x="6812280" y="1691640"/>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UML diagrams — use case, class, sequence, activity, state</a:t>
            </a:r>
            <a:endParaRPr lang="en-US" sz="1700" dirty="0"/>
          </a:p>
        </p:txBody>
      </p:sp>
      <p:sp>
        <p:nvSpPr>
          <p:cNvPr id="29" name="Shape 26"/>
          <p:cNvSpPr/>
          <p:nvPr/>
        </p:nvSpPr>
        <p:spPr>
          <a:xfrm>
            <a:off x="6172200" y="2441448"/>
            <a:ext cx="475488" cy="475488"/>
          </a:xfrm>
          <a:prstGeom prst="ellipse">
            <a:avLst/>
          </a:prstGeom>
          <a:solidFill>
            <a:srgbClr val="F2F3F5"/>
          </a:solidFill>
          <a:ln w="12700">
            <a:solidFill>
              <a:srgbClr val="C9CDD2"/>
            </a:solidFill>
            <a:prstDash val="solid"/>
          </a:ln>
        </p:spPr>
      </p:sp>
      <p:sp>
        <p:nvSpPr>
          <p:cNvPr id="30" name="Text 27"/>
          <p:cNvSpPr txBox="1"/>
          <p:nvPr/>
        </p:nvSpPr>
        <p:spPr>
          <a:xfrm>
            <a:off x="6172200" y="2441448"/>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08</a:t>
            </a:r>
            <a:endParaRPr lang="en-US" sz="1300" dirty="0"/>
          </a:p>
        </p:txBody>
      </p:sp>
      <p:sp>
        <p:nvSpPr>
          <p:cNvPr id="31" name="Text 28"/>
          <p:cNvSpPr txBox="1"/>
          <p:nvPr/>
        </p:nvSpPr>
        <p:spPr>
          <a:xfrm>
            <a:off x="6812280" y="2441448"/>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Data flow, component &amp; deployment diagrams</a:t>
            </a:r>
            <a:endParaRPr lang="en-US" sz="1700" dirty="0"/>
          </a:p>
        </p:txBody>
      </p:sp>
      <p:sp>
        <p:nvSpPr>
          <p:cNvPr id="32" name="Shape 29"/>
          <p:cNvSpPr/>
          <p:nvPr/>
        </p:nvSpPr>
        <p:spPr>
          <a:xfrm>
            <a:off x="6172200" y="3191256"/>
            <a:ext cx="475488" cy="475488"/>
          </a:xfrm>
          <a:prstGeom prst="ellipse">
            <a:avLst/>
          </a:prstGeom>
          <a:solidFill>
            <a:srgbClr val="F2F3F5"/>
          </a:solidFill>
          <a:ln w="12700">
            <a:solidFill>
              <a:srgbClr val="C9CDD2"/>
            </a:solidFill>
            <a:prstDash val="solid"/>
          </a:ln>
        </p:spPr>
      </p:sp>
      <p:sp>
        <p:nvSpPr>
          <p:cNvPr id="33" name="Text 30"/>
          <p:cNvSpPr txBox="1"/>
          <p:nvPr/>
        </p:nvSpPr>
        <p:spPr>
          <a:xfrm>
            <a:off x="6172200" y="3191256"/>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09</a:t>
            </a:r>
            <a:endParaRPr lang="en-US" sz="1300" dirty="0"/>
          </a:p>
        </p:txBody>
      </p:sp>
      <p:sp>
        <p:nvSpPr>
          <p:cNvPr id="34" name="Text 31"/>
          <p:cNvSpPr txBox="1"/>
          <p:nvPr/>
        </p:nvSpPr>
        <p:spPr>
          <a:xfrm>
            <a:off x="6812280" y="3191256"/>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ML pipeline &amp; model design</a:t>
            </a:r>
            <a:endParaRPr lang="en-US" sz="1700" dirty="0"/>
          </a:p>
        </p:txBody>
      </p:sp>
      <p:sp>
        <p:nvSpPr>
          <p:cNvPr id="35" name="Shape 32"/>
          <p:cNvSpPr/>
          <p:nvPr/>
        </p:nvSpPr>
        <p:spPr>
          <a:xfrm>
            <a:off x="6172200" y="3941064"/>
            <a:ext cx="475488" cy="475488"/>
          </a:xfrm>
          <a:prstGeom prst="ellipse">
            <a:avLst/>
          </a:prstGeom>
          <a:solidFill>
            <a:srgbClr val="F2F3F5"/>
          </a:solidFill>
          <a:ln w="12700">
            <a:solidFill>
              <a:srgbClr val="C9CDD2"/>
            </a:solidFill>
            <a:prstDash val="solid"/>
          </a:ln>
        </p:spPr>
      </p:sp>
      <p:sp>
        <p:nvSpPr>
          <p:cNvPr id="36" name="Text 33"/>
          <p:cNvSpPr txBox="1"/>
          <p:nvPr/>
        </p:nvSpPr>
        <p:spPr>
          <a:xfrm>
            <a:off x="6172200" y="3941064"/>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10</a:t>
            </a:r>
            <a:endParaRPr lang="en-US" sz="1300" dirty="0"/>
          </a:p>
        </p:txBody>
      </p:sp>
      <p:sp>
        <p:nvSpPr>
          <p:cNvPr id="37" name="Text 34"/>
          <p:cNvSpPr txBox="1"/>
          <p:nvPr/>
        </p:nvSpPr>
        <p:spPr>
          <a:xfrm>
            <a:off x="6812280" y="3941064"/>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Modules implemented</a:t>
            </a:r>
            <a:endParaRPr lang="en-US" sz="1700" dirty="0"/>
          </a:p>
        </p:txBody>
      </p:sp>
      <p:sp>
        <p:nvSpPr>
          <p:cNvPr id="38" name="Shape 35"/>
          <p:cNvSpPr/>
          <p:nvPr/>
        </p:nvSpPr>
        <p:spPr>
          <a:xfrm>
            <a:off x="6172200" y="4690872"/>
            <a:ext cx="475488" cy="475488"/>
          </a:xfrm>
          <a:prstGeom prst="ellipse">
            <a:avLst/>
          </a:prstGeom>
          <a:solidFill>
            <a:srgbClr val="F2F3F5"/>
          </a:solidFill>
          <a:ln w="12700">
            <a:solidFill>
              <a:srgbClr val="C9CDD2"/>
            </a:solidFill>
            <a:prstDash val="solid"/>
          </a:ln>
        </p:spPr>
      </p:sp>
      <p:sp>
        <p:nvSpPr>
          <p:cNvPr id="39" name="Text 36"/>
          <p:cNvSpPr txBox="1"/>
          <p:nvPr/>
        </p:nvSpPr>
        <p:spPr>
          <a:xfrm>
            <a:off x="6172200" y="4690872"/>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11</a:t>
            </a:r>
            <a:endParaRPr lang="en-US" sz="1300" dirty="0"/>
          </a:p>
        </p:txBody>
      </p:sp>
      <p:sp>
        <p:nvSpPr>
          <p:cNvPr id="40" name="Text 37"/>
          <p:cNvSpPr txBox="1"/>
          <p:nvPr/>
        </p:nvSpPr>
        <p:spPr>
          <a:xfrm>
            <a:off x="6812280" y="4690872"/>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Results &amp; testing</a:t>
            </a:r>
            <a:endParaRPr lang="en-US" sz="1700" dirty="0"/>
          </a:p>
        </p:txBody>
      </p:sp>
      <p:sp>
        <p:nvSpPr>
          <p:cNvPr id="41" name="Shape 38"/>
          <p:cNvSpPr/>
          <p:nvPr/>
        </p:nvSpPr>
        <p:spPr>
          <a:xfrm>
            <a:off x="6172200" y="5440680"/>
            <a:ext cx="475488" cy="475488"/>
          </a:xfrm>
          <a:prstGeom prst="ellipse">
            <a:avLst/>
          </a:prstGeom>
          <a:solidFill>
            <a:srgbClr val="F2F3F5"/>
          </a:solidFill>
          <a:ln w="12700">
            <a:solidFill>
              <a:srgbClr val="C9CDD2"/>
            </a:solidFill>
            <a:prstDash val="solid"/>
          </a:ln>
        </p:spPr>
      </p:sp>
      <p:sp>
        <p:nvSpPr>
          <p:cNvPr id="42" name="Text 39"/>
          <p:cNvSpPr txBox="1"/>
          <p:nvPr/>
        </p:nvSpPr>
        <p:spPr>
          <a:xfrm>
            <a:off x="6172200" y="5440680"/>
            <a:ext cx="475488" cy="47548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12</a:t>
            </a:r>
            <a:endParaRPr lang="en-US" sz="1300" dirty="0"/>
          </a:p>
        </p:txBody>
      </p:sp>
      <p:sp>
        <p:nvSpPr>
          <p:cNvPr id="43" name="Text 40"/>
          <p:cNvSpPr txBox="1"/>
          <p:nvPr/>
        </p:nvSpPr>
        <p:spPr>
          <a:xfrm>
            <a:off x="6812280" y="5440680"/>
            <a:ext cx="4846320" cy="475488"/>
          </a:xfrm>
          <a:prstGeom prst="rect">
            <a:avLst/>
          </a:prstGeom>
          <a:noFill/>
          <a:ln/>
        </p:spPr>
        <p:txBody>
          <a:bodyPr wrap="square" lIns="0" tIns="0" rIns="0" bIns="0" rtlCol="0" anchor="ctr"/>
          <a:lstStyle/>
          <a:p>
            <a:pPr indent="0" marL="0">
              <a:buNone/>
            </a:pPr>
            <a:r>
              <a:rPr lang="en-US" sz="1700" dirty="0">
                <a:solidFill>
                  <a:srgbClr val="2D333B"/>
                </a:solidFill>
                <a:latin typeface="Calibri" pitchFamily="34" charset="0"/>
                <a:ea typeface="Calibri" pitchFamily="34" charset="-122"/>
                <a:cs typeface="Calibri" pitchFamily="34" charset="-120"/>
              </a:rPr>
              <a:t>Limitations, future scope &amp; conclusion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62456"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362456"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ABSTRACT</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Abstract</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03</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Text 5"/>
          <p:cNvSpPr txBox="1"/>
          <p:nvPr/>
        </p:nvSpPr>
        <p:spPr>
          <a:xfrm>
            <a:off x="548640" y="1645920"/>
            <a:ext cx="7040880" cy="4572000"/>
          </a:xfrm>
          <a:prstGeom prst="rect">
            <a:avLst/>
          </a:prstGeom>
          <a:noFill/>
          <a:ln/>
        </p:spPr>
        <p:txBody>
          <a:bodyPr wrap="square" lIns="0" tIns="0" rIns="0" bIns="0" rtlCol="0" anchor="t"/>
          <a:lstStyle/>
          <a:p>
            <a:pPr indent="0" marL="0">
              <a:spcAft>
                <a:spcPts val="200"/>
              </a:spcAft>
              <a:buNone/>
            </a:pPr>
            <a:r>
              <a:rPr lang="en-US" sz="1550" dirty="0">
                <a:solidFill>
                  <a:srgbClr val="2D333B"/>
                </a:solidFill>
                <a:latin typeface="Calibri" pitchFamily="34" charset="0"/>
                <a:ea typeface="Calibri" pitchFamily="34" charset="-122"/>
                <a:cs typeface="Calibri" pitchFamily="34" charset="-120"/>
              </a:rPr>
              <a:t>Deaf and hard-of-hearing people who use sign language often cannot communicate directly with people who do not sign, and human interpreters are scarce. </a:t>
            </a:r>
            <a:pPr indent="0" marL="0">
              <a:spcAft>
                <a:spcPts val="200"/>
              </a:spcAft>
              <a:buNone/>
            </a:pPr>
            <a:r>
              <a:rPr lang="en-US" sz="1550" b="1" dirty="0">
                <a:solidFill>
                  <a:srgbClr val="2D333B"/>
                </a:solidFill>
                <a:latin typeface="Calibri" pitchFamily="34" charset="0"/>
                <a:ea typeface="Calibri" pitchFamily="34" charset="-122"/>
                <a:cs typeface="Calibri" pitchFamily="34" charset="-120"/>
              </a:rPr>
              <a:t>SignSpeak</a:t>
            </a:r>
            <a:pPr indent="0" marL="0">
              <a:spcAft>
                <a:spcPts val="200"/>
              </a:spcAft>
              <a:buNone/>
            </a:pPr>
            <a:r>
              <a:rPr lang="en-US" sz="1550" dirty="0">
                <a:solidFill>
                  <a:srgbClr val="2D333B"/>
                </a:solidFill>
                <a:latin typeface="Calibri" pitchFamily="34" charset="0"/>
                <a:ea typeface="Calibri" pitchFamily="34" charset="-122"/>
                <a:cs typeface="Calibri" pitchFamily="34" charset="-120"/>
              </a:rPr>
              <a:t> is a browser-based system that recognises American Sign Language in real time and turns it into editable English text and speech.</a:t>
            </a:r>
            <a:endParaRPr lang="en-US" sz="1550" dirty="0"/>
          </a:p>
          <a:p>
            <a:pPr indent="0" marL="0">
              <a:spcAft>
                <a:spcPts val="200"/>
              </a:spcAft>
              <a:buNone/>
            </a:pPr>
            <a:r>
              <a:rPr lang="en-US" sz="600" dirty="0">
                <a:solidFill>
                  <a:srgbClr val="2D333B"/>
                </a:solidFill>
                <a:latin typeface="Calibri" pitchFamily="34" charset="0"/>
                <a:ea typeface="Calibri" pitchFamily="34" charset="-122"/>
                <a:cs typeface="Calibri" pitchFamily="34" charset="-120"/>
              </a:rPr>
              <a:t> </a:t>
            </a:r>
            <a:endParaRPr lang="en-US" sz="1550" dirty="0"/>
          </a:p>
          <a:p>
            <a:pPr indent="0" marL="0">
              <a:spcAft>
                <a:spcPts val="200"/>
              </a:spcAft>
              <a:buNone/>
            </a:pPr>
            <a:r>
              <a:rPr lang="en-US" sz="1550" dirty="0">
                <a:solidFill>
                  <a:srgbClr val="2D333B"/>
                </a:solidFill>
                <a:latin typeface="Calibri" pitchFamily="34" charset="0"/>
                <a:ea typeface="Calibri" pitchFamily="34" charset="-122"/>
                <a:cs typeface="Calibri" pitchFamily="34" charset="-120"/>
              </a:rPr>
              <a:t>A webcam feed is processed on the device by Google MediaPipe, which extracts 21 three-dimensional landmarks per hand. The landmarks are normalised (wrist-anchored, scale- and aspect-corrected) into a compact feature vector and classified by a small multilayer perceptron whose forward pass is written in TypeScript. A temporal smoother turns noisy per-frame predictions into stable letter and word commits. An optional large language model converts the resulting gloss sequence into a fluent English sentence, which is spoken aloud.</a:t>
            </a:r>
            <a:endParaRPr lang="en-US" sz="1550" dirty="0"/>
          </a:p>
          <a:p>
            <a:pPr indent="0" marL="0">
              <a:spcAft>
                <a:spcPts val="200"/>
              </a:spcAft>
              <a:buNone/>
            </a:pPr>
            <a:r>
              <a:rPr lang="en-US" sz="600" dirty="0">
                <a:solidFill>
                  <a:srgbClr val="2D333B"/>
                </a:solidFill>
                <a:latin typeface="Calibri" pitchFamily="34" charset="0"/>
                <a:ea typeface="Calibri" pitchFamily="34" charset="-122"/>
                <a:cs typeface="Calibri" pitchFamily="34" charset="-120"/>
              </a:rPr>
              <a:t> </a:t>
            </a:r>
            <a:endParaRPr lang="en-US" sz="1550" dirty="0"/>
          </a:p>
          <a:p>
            <a:pPr indent="0" marL="0">
              <a:spcAft>
                <a:spcPts val="200"/>
              </a:spcAft>
              <a:buNone/>
            </a:pPr>
            <a:r>
              <a:rPr lang="en-US" sz="1550" dirty="0">
                <a:solidFill>
                  <a:srgbClr val="2D333B"/>
                </a:solidFill>
                <a:latin typeface="Calibri" pitchFamily="34" charset="0"/>
                <a:ea typeface="Calibri" pitchFamily="34" charset="-122"/>
                <a:cs typeface="Calibri" pitchFamily="34" charset="-120"/>
              </a:rPr>
              <a:t>Video never leaves the device. Fingerspelling reaches 98.3% accuracy on a held-out test set; the 33-word vocabulary reaches 56.5% on an honest, de-duplicated split, which identifies data volume as the next bottleneck.</a:t>
            </a:r>
            <a:endParaRPr lang="en-US" sz="1550" dirty="0"/>
          </a:p>
        </p:txBody>
      </p:sp>
      <p:sp>
        <p:nvSpPr>
          <p:cNvPr id="9" name="Shape 6"/>
          <p:cNvSpPr/>
          <p:nvPr/>
        </p:nvSpPr>
        <p:spPr>
          <a:xfrm>
            <a:off x="8092440" y="1645920"/>
            <a:ext cx="3547872" cy="4526280"/>
          </a:xfrm>
          <a:prstGeom prst="roundRect">
            <a:avLst>
              <a:gd name="adj" fmla="val 3093"/>
            </a:avLst>
          </a:prstGeom>
          <a:solidFill>
            <a:srgbClr val="F2F3F5"/>
          </a:solidFill>
          <a:ln w="12700">
            <a:solidFill>
              <a:srgbClr val="F2F3F5"/>
            </a:solidFill>
            <a:prstDash val="solid"/>
          </a:ln>
        </p:spPr>
      </p:sp>
      <p:sp>
        <p:nvSpPr>
          <p:cNvPr id="10" name="Text 7"/>
          <p:cNvSpPr txBox="1"/>
          <p:nvPr/>
        </p:nvSpPr>
        <p:spPr>
          <a:xfrm>
            <a:off x="8321040" y="1828800"/>
            <a:ext cx="3108960" cy="36576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Keywords</a:t>
            </a:r>
            <a:endParaRPr lang="en-US" sz="1800" dirty="0"/>
          </a:p>
        </p:txBody>
      </p:sp>
      <p:sp>
        <p:nvSpPr>
          <p:cNvPr id="11" name="Shape 8"/>
          <p:cNvSpPr/>
          <p:nvPr/>
        </p:nvSpPr>
        <p:spPr>
          <a:xfrm>
            <a:off x="8321040" y="2331720"/>
            <a:ext cx="3108960" cy="347472"/>
          </a:xfrm>
          <a:prstGeom prst="roundRect">
            <a:avLst>
              <a:gd name="adj" fmla="val 18421"/>
            </a:avLst>
          </a:prstGeom>
          <a:solidFill>
            <a:srgbClr val="FFFFFF"/>
          </a:solidFill>
          <a:ln w="9525">
            <a:solidFill>
              <a:srgbClr val="C9CDD2"/>
            </a:solidFill>
            <a:prstDash val="solid"/>
          </a:ln>
        </p:spPr>
      </p:sp>
      <p:sp>
        <p:nvSpPr>
          <p:cNvPr id="12" name="Text 9"/>
          <p:cNvSpPr txBox="1"/>
          <p:nvPr/>
        </p:nvSpPr>
        <p:spPr>
          <a:xfrm>
            <a:off x="8458200" y="23317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Sign language recognition</a:t>
            </a:r>
            <a:endParaRPr lang="en-US" sz="1300" dirty="0"/>
          </a:p>
        </p:txBody>
      </p:sp>
      <p:sp>
        <p:nvSpPr>
          <p:cNvPr id="13" name="Shape 10"/>
          <p:cNvSpPr/>
          <p:nvPr/>
        </p:nvSpPr>
        <p:spPr>
          <a:xfrm>
            <a:off x="8321040" y="2788920"/>
            <a:ext cx="3108960" cy="347472"/>
          </a:xfrm>
          <a:prstGeom prst="roundRect">
            <a:avLst>
              <a:gd name="adj" fmla="val 18421"/>
            </a:avLst>
          </a:prstGeom>
          <a:solidFill>
            <a:srgbClr val="FFFFFF"/>
          </a:solidFill>
          <a:ln w="9525">
            <a:solidFill>
              <a:srgbClr val="C9CDD2"/>
            </a:solidFill>
            <a:prstDash val="solid"/>
          </a:ln>
        </p:spPr>
      </p:sp>
      <p:sp>
        <p:nvSpPr>
          <p:cNvPr id="14" name="Text 11"/>
          <p:cNvSpPr txBox="1"/>
          <p:nvPr/>
        </p:nvSpPr>
        <p:spPr>
          <a:xfrm>
            <a:off x="8458200" y="27889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ASL fingerspelling</a:t>
            </a:r>
            <a:endParaRPr lang="en-US" sz="1300" dirty="0"/>
          </a:p>
        </p:txBody>
      </p:sp>
      <p:sp>
        <p:nvSpPr>
          <p:cNvPr id="15" name="Shape 12"/>
          <p:cNvSpPr/>
          <p:nvPr/>
        </p:nvSpPr>
        <p:spPr>
          <a:xfrm>
            <a:off x="8321040" y="3246120"/>
            <a:ext cx="3108960" cy="347472"/>
          </a:xfrm>
          <a:prstGeom prst="roundRect">
            <a:avLst>
              <a:gd name="adj" fmla="val 18421"/>
            </a:avLst>
          </a:prstGeom>
          <a:solidFill>
            <a:srgbClr val="FFFFFF"/>
          </a:solidFill>
          <a:ln w="9525">
            <a:solidFill>
              <a:srgbClr val="C9CDD2"/>
            </a:solidFill>
            <a:prstDash val="solid"/>
          </a:ln>
        </p:spPr>
      </p:sp>
      <p:sp>
        <p:nvSpPr>
          <p:cNvPr id="16" name="Text 13"/>
          <p:cNvSpPr txBox="1"/>
          <p:nvPr/>
        </p:nvSpPr>
        <p:spPr>
          <a:xfrm>
            <a:off x="8458200" y="32461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MediaPipe hand landmarks</a:t>
            </a:r>
            <a:endParaRPr lang="en-US" sz="1300" dirty="0"/>
          </a:p>
        </p:txBody>
      </p:sp>
      <p:sp>
        <p:nvSpPr>
          <p:cNvPr id="17" name="Shape 14"/>
          <p:cNvSpPr/>
          <p:nvPr/>
        </p:nvSpPr>
        <p:spPr>
          <a:xfrm>
            <a:off x="8321040" y="3703320"/>
            <a:ext cx="3108960" cy="347472"/>
          </a:xfrm>
          <a:prstGeom prst="roundRect">
            <a:avLst>
              <a:gd name="adj" fmla="val 18421"/>
            </a:avLst>
          </a:prstGeom>
          <a:solidFill>
            <a:srgbClr val="FFFFFF"/>
          </a:solidFill>
          <a:ln w="9525">
            <a:solidFill>
              <a:srgbClr val="C9CDD2"/>
            </a:solidFill>
            <a:prstDash val="solid"/>
          </a:ln>
        </p:spPr>
      </p:sp>
      <p:sp>
        <p:nvSpPr>
          <p:cNvPr id="18" name="Text 15"/>
          <p:cNvSpPr txBox="1"/>
          <p:nvPr/>
        </p:nvSpPr>
        <p:spPr>
          <a:xfrm>
            <a:off x="8458200" y="37033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Multilayer perceptron</a:t>
            </a:r>
            <a:endParaRPr lang="en-US" sz="1300" dirty="0"/>
          </a:p>
        </p:txBody>
      </p:sp>
      <p:sp>
        <p:nvSpPr>
          <p:cNvPr id="19" name="Shape 16"/>
          <p:cNvSpPr/>
          <p:nvPr/>
        </p:nvSpPr>
        <p:spPr>
          <a:xfrm>
            <a:off x="8321040" y="4160520"/>
            <a:ext cx="3108960" cy="347472"/>
          </a:xfrm>
          <a:prstGeom prst="roundRect">
            <a:avLst>
              <a:gd name="adj" fmla="val 18421"/>
            </a:avLst>
          </a:prstGeom>
          <a:solidFill>
            <a:srgbClr val="FFFFFF"/>
          </a:solidFill>
          <a:ln w="9525">
            <a:solidFill>
              <a:srgbClr val="C9CDD2"/>
            </a:solidFill>
            <a:prstDash val="solid"/>
          </a:ln>
        </p:spPr>
      </p:sp>
      <p:sp>
        <p:nvSpPr>
          <p:cNvPr id="20" name="Text 17"/>
          <p:cNvSpPr txBox="1"/>
          <p:nvPr/>
        </p:nvSpPr>
        <p:spPr>
          <a:xfrm>
            <a:off x="8458200" y="41605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Temporal smoothing</a:t>
            </a:r>
            <a:endParaRPr lang="en-US" sz="1300" dirty="0"/>
          </a:p>
        </p:txBody>
      </p:sp>
      <p:sp>
        <p:nvSpPr>
          <p:cNvPr id="21" name="Shape 18"/>
          <p:cNvSpPr/>
          <p:nvPr/>
        </p:nvSpPr>
        <p:spPr>
          <a:xfrm>
            <a:off x="8321040" y="4617720"/>
            <a:ext cx="3108960" cy="347472"/>
          </a:xfrm>
          <a:prstGeom prst="roundRect">
            <a:avLst>
              <a:gd name="adj" fmla="val 18421"/>
            </a:avLst>
          </a:prstGeom>
          <a:solidFill>
            <a:srgbClr val="FFD43B"/>
          </a:solidFill>
          <a:ln w="9525">
            <a:solidFill>
              <a:srgbClr val="C9CDD2"/>
            </a:solidFill>
            <a:prstDash val="solid"/>
          </a:ln>
        </p:spPr>
      </p:sp>
      <p:sp>
        <p:nvSpPr>
          <p:cNvPr id="22" name="Text 19"/>
          <p:cNvSpPr txBox="1"/>
          <p:nvPr/>
        </p:nvSpPr>
        <p:spPr>
          <a:xfrm>
            <a:off x="8458200" y="46177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Gloss-to-text LLM</a:t>
            </a:r>
            <a:endParaRPr lang="en-US" sz="1300" dirty="0"/>
          </a:p>
        </p:txBody>
      </p:sp>
      <p:sp>
        <p:nvSpPr>
          <p:cNvPr id="23" name="Shape 20"/>
          <p:cNvSpPr/>
          <p:nvPr/>
        </p:nvSpPr>
        <p:spPr>
          <a:xfrm>
            <a:off x="8321040" y="5074920"/>
            <a:ext cx="3108960" cy="347472"/>
          </a:xfrm>
          <a:prstGeom prst="roundRect">
            <a:avLst>
              <a:gd name="adj" fmla="val 18421"/>
            </a:avLst>
          </a:prstGeom>
          <a:solidFill>
            <a:srgbClr val="FFFFFF"/>
          </a:solidFill>
          <a:ln w="9525">
            <a:solidFill>
              <a:srgbClr val="C9CDD2"/>
            </a:solidFill>
            <a:prstDash val="solid"/>
          </a:ln>
        </p:spPr>
      </p:sp>
      <p:sp>
        <p:nvSpPr>
          <p:cNvPr id="24" name="Text 21"/>
          <p:cNvSpPr txBox="1"/>
          <p:nvPr/>
        </p:nvSpPr>
        <p:spPr>
          <a:xfrm>
            <a:off x="8458200" y="50749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On-device ML</a:t>
            </a:r>
            <a:endParaRPr lang="en-US" sz="1300" dirty="0"/>
          </a:p>
        </p:txBody>
      </p:sp>
      <p:sp>
        <p:nvSpPr>
          <p:cNvPr id="25" name="Shape 22"/>
          <p:cNvSpPr/>
          <p:nvPr/>
        </p:nvSpPr>
        <p:spPr>
          <a:xfrm>
            <a:off x="8321040" y="5532120"/>
            <a:ext cx="3108960" cy="347472"/>
          </a:xfrm>
          <a:prstGeom prst="roundRect">
            <a:avLst>
              <a:gd name="adj" fmla="val 18421"/>
            </a:avLst>
          </a:prstGeom>
          <a:solidFill>
            <a:srgbClr val="FFFFFF"/>
          </a:solidFill>
          <a:ln w="9525">
            <a:solidFill>
              <a:srgbClr val="C9CDD2"/>
            </a:solidFill>
            <a:prstDash val="solid"/>
          </a:ln>
        </p:spPr>
      </p:sp>
      <p:sp>
        <p:nvSpPr>
          <p:cNvPr id="26" name="Text 23"/>
          <p:cNvSpPr txBox="1"/>
          <p:nvPr/>
        </p:nvSpPr>
        <p:spPr>
          <a:xfrm>
            <a:off x="8458200" y="5532120"/>
            <a:ext cx="2880360" cy="347472"/>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Accessibility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24358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24358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PROBLEM</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Problem statement</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04</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Text 5"/>
          <p:cNvSpPr txBox="1"/>
          <p:nvPr/>
        </p:nvSpPr>
        <p:spPr>
          <a:xfrm>
            <a:off x="548640" y="1600200"/>
            <a:ext cx="3474720" cy="914400"/>
          </a:xfrm>
          <a:prstGeom prst="rect">
            <a:avLst/>
          </a:prstGeom>
          <a:noFill/>
          <a:ln/>
        </p:spPr>
        <p:txBody>
          <a:bodyPr wrap="square" lIns="0" tIns="0" rIns="0" bIns="0" rtlCol="0" anchor="ctr"/>
          <a:lstStyle/>
          <a:p>
            <a:pPr indent="0" marL="0">
              <a:buNone/>
            </a:pPr>
            <a:r>
              <a:rPr lang="en-US" sz="5400" b="1" dirty="0">
                <a:solidFill>
                  <a:srgbClr val="1F2328"/>
                </a:solidFill>
                <a:latin typeface="Cambria" pitchFamily="34" charset="0"/>
                <a:ea typeface="Cambria" pitchFamily="34" charset="-122"/>
                <a:cs typeface="Cambria" pitchFamily="34" charset="-120"/>
              </a:rPr>
              <a:t>430M</a:t>
            </a:r>
            <a:endParaRPr lang="en-US" sz="5400" dirty="0"/>
          </a:p>
        </p:txBody>
      </p:sp>
      <p:sp>
        <p:nvSpPr>
          <p:cNvPr id="9" name="Text 6"/>
          <p:cNvSpPr txBox="1"/>
          <p:nvPr/>
        </p:nvSpPr>
        <p:spPr>
          <a:xfrm>
            <a:off x="548640" y="2514600"/>
            <a:ext cx="3291840" cy="594360"/>
          </a:xfrm>
          <a:prstGeom prst="rect">
            <a:avLst/>
          </a:prstGeom>
          <a:noFill/>
          <a:ln/>
        </p:spPr>
        <p:txBody>
          <a:bodyPr wrap="square" lIns="0" tIns="0" rIns="0" bIns="0" rtlCol="0" anchor="t"/>
          <a:lstStyle/>
          <a:p>
            <a:pPr indent="0" marL="0">
              <a:buNone/>
            </a:pPr>
            <a:r>
              <a:rPr lang="en-US" sz="1450" dirty="0">
                <a:solidFill>
                  <a:srgbClr val="2D333B"/>
                </a:solidFill>
                <a:latin typeface="Calibri" pitchFamily="34" charset="0"/>
                <a:ea typeface="Calibri" pitchFamily="34" charset="-122"/>
                <a:cs typeface="Calibri" pitchFamily="34" charset="-120"/>
              </a:rPr>
              <a:t>people worldwide live with disabling hearing loss</a:t>
            </a:r>
            <a:endParaRPr lang="en-US" sz="1450" dirty="0"/>
          </a:p>
        </p:txBody>
      </p:sp>
      <p:sp>
        <p:nvSpPr>
          <p:cNvPr id="10" name="Text 7"/>
          <p:cNvSpPr txBox="1"/>
          <p:nvPr/>
        </p:nvSpPr>
        <p:spPr>
          <a:xfrm>
            <a:off x="548640" y="3108960"/>
            <a:ext cx="3291840" cy="274320"/>
          </a:xfrm>
          <a:prstGeom prst="rect">
            <a:avLst/>
          </a:prstGeom>
          <a:noFill/>
          <a:ln/>
        </p:spPr>
        <p:txBody>
          <a:bodyPr wrap="square" lIns="0" tIns="0" rIns="0" bIns="0" rtlCol="0" anchor="ctr"/>
          <a:lstStyle/>
          <a:p>
            <a:pPr indent="0" marL="0">
              <a:buNone/>
            </a:pPr>
            <a:r>
              <a:rPr lang="en-US" sz="1100" i="1" dirty="0">
                <a:solidFill>
                  <a:srgbClr val="5B6370"/>
                </a:solidFill>
                <a:latin typeface="Calibri" pitchFamily="34" charset="0"/>
                <a:ea typeface="Calibri" pitchFamily="34" charset="-122"/>
                <a:cs typeface="Calibri" pitchFamily="34" charset="-120"/>
              </a:rPr>
              <a:t>WHO</a:t>
            </a:r>
            <a:endParaRPr lang="en-US" sz="1100" dirty="0"/>
          </a:p>
        </p:txBody>
      </p:sp>
      <p:sp>
        <p:nvSpPr>
          <p:cNvPr id="11" name="Text 8"/>
          <p:cNvSpPr txBox="1"/>
          <p:nvPr/>
        </p:nvSpPr>
        <p:spPr>
          <a:xfrm>
            <a:off x="4297680" y="1600200"/>
            <a:ext cx="3474720" cy="914400"/>
          </a:xfrm>
          <a:prstGeom prst="rect">
            <a:avLst/>
          </a:prstGeom>
          <a:noFill/>
          <a:ln/>
        </p:spPr>
        <p:txBody>
          <a:bodyPr wrap="square" lIns="0" tIns="0" rIns="0" bIns="0" rtlCol="0" anchor="ctr"/>
          <a:lstStyle/>
          <a:p>
            <a:pPr indent="0" marL="0">
              <a:buNone/>
            </a:pPr>
            <a:r>
              <a:rPr lang="en-US" sz="5400" b="1" dirty="0">
                <a:solidFill>
                  <a:srgbClr val="1F2328"/>
                </a:solidFill>
                <a:latin typeface="Cambria" pitchFamily="34" charset="0"/>
                <a:ea typeface="Cambria" pitchFamily="34" charset="-122"/>
                <a:cs typeface="Cambria" pitchFamily="34" charset="-120"/>
              </a:rPr>
              <a:t>70M+</a:t>
            </a:r>
            <a:endParaRPr lang="en-US" sz="5400" dirty="0"/>
          </a:p>
        </p:txBody>
      </p:sp>
      <p:sp>
        <p:nvSpPr>
          <p:cNvPr id="12" name="Text 9"/>
          <p:cNvSpPr txBox="1"/>
          <p:nvPr/>
        </p:nvSpPr>
        <p:spPr>
          <a:xfrm>
            <a:off x="4297680" y="2514600"/>
            <a:ext cx="3291840" cy="594360"/>
          </a:xfrm>
          <a:prstGeom prst="rect">
            <a:avLst/>
          </a:prstGeom>
          <a:noFill/>
          <a:ln/>
        </p:spPr>
        <p:txBody>
          <a:bodyPr wrap="square" lIns="0" tIns="0" rIns="0" bIns="0" rtlCol="0" anchor="t"/>
          <a:lstStyle/>
          <a:p>
            <a:pPr indent="0" marL="0">
              <a:buNone/>
            </a:pPr>
            <a:r>
              <a:rPr lang="en-US" sz="1450" dirty="0">
                <a:solidFill>
                  <a:srgbClr val="2D333B"/>
                </a:solidFill>
                <a:latin typeface="Calibri" pitchFamily="34" charset="0"/>
                <a:ea typeface="Calibri" pitchFamily="34" charset="-122"/>
                <a:cs typeface="Calibri" pitchFamily="34" charset="-120"/>
              </a:rPr>
              <a:t>deaf people use a sign language as their first language</a:t>
            </a:r>
            <a:endParaRPr lang="en-US" sz="1450" dirty="0"/>
          </a:p>
        </p:txBody>
      </p:sp>
      <p:sp>
        <p:nvSpPr>
          <p:cNvPr id="13" name="Text 10"/>
          <p:cNvSpPr txBox="1"/>
          <p:nvPr/>
        </p:nvSpPr>
        <p:spPr>
          <a:xfrm>
            <a:off x="4297680" y="3108960"/>
            <a:ext cx="3291840" cy="274320"/>
          </a:xfrm>
          <a:prstGeom prst="rect">
            <a:avLst/>
          </a:prstGeom>
          <a:noFill/>
          <a:ln/>
        </p:spPr>
        <p:txBody>
          <a:bodyPr wrap="square" lIns="0" tIns="0" rIns="0" bIns="0" rtlCol="0" anchor="ctr"/>
          <a:lstStyle/>
          <a:p>
            <a:pPr indent="0" marL="0">
              <a:buNone/>
            </a:pPr>
            <a:r>
              <a:rPr lang="en-US" sz="1100" i="1" dirty="0">
                <a:solidFill>
                  <a:srgbClr val="5B6370"/>
                </a:solidFill>
                <a:latin typeface="Calibri" pitchFamily="34" charset="0"/>
                <a:ea typeface="Calibri" pitchFamily="34" charset="-122"/>
                <a:cs typeface="Calibri" pitchFamily="34" charset="-120"/>
              </a:rPr>
              <a:t>World Federation of the Deaf</a:t>
            </a:r>
            <a:endParaRPr lang="en-US" sz="1100" dirty="0"/>
          </a:p>
        </p:txBody>
      </p:sp>
      <p:sp>
        <p:nvSpPr>
          <p:cNvPr id="14" name="Text 11"/>
          <p:cNvSpPr txBox="1"/>
          <p:nvPr/>
        </p:nvSpPr>
        <p:spPr>
          <a:xfrm>
            <a:off x="8046720" y="1600200"/>
            <a:ext cx="3474720" cy="914400"/>
          </a:xfrm>
          <a:prstGeom prst="rect">
            <a:avLst/>
          </a:prstGeom>
          <a:noFill/>
          <a:ln/>
        </p:spPr>
        <p:txBody>
          <a:bodyPr wrap="square" lIns="0" tIns="0" rIns="0" bIns="0" rtlCol="0" anchor="ctr"/>
          <a:lstStyle/>
          <a:p>
            <a:pPr indent="0" marL="0">
              <a:buNone/>
            </a:pPr>
            <a:r>
              <a:rPr lang="en-US" sz="5400" b="1" dirty="0">
                <a:solidFill>
                  <a:srgbClr val="1F2328"/>
                </a:solidFill>
                <a:latin typeface="Cambria" pitchFamily="34" charset="0"/>
                <a:ea typeface="Cambria" pitchFamily="34" charset="-122"/>
                <a:cs typeface="Cambria" pitchFamily="34" charset="-120"/>
              </a:rPr>
              <a:t>300+</a:t>
            </a:r>
            <a:endParaRPr lang="en-US" sz="5400" dirty="0"/>
          </a:p>
        </p:txBody>
      </p:sp>
      <p:sp>
        <p:nvSpPr>
          <p:cNvPr id="15" name="Text 12"/>
          <p:cNvSpPr txBox="1"/>
          <p:nvPr/>
        </p:nvSpPr>
        <p:spPr>
          <a:xfrm>
            <a:off x="8046720" y="2514600"/>
            <a:ext cx="3291840" cy="594360"/>
          </a:xfrm>
          <a:prstGeom prst="rect">
            <a:avLst/>
          </a:prstGeom>
          <a:noFill/>
          <a:ln/>
        </p:spPr>
        <p:txBody>
          <a:bodyPr wrap="square" lIns="0" tIns="0" rIns="0" bIns="0" rtlCol="0" anchor="t"/>
          <a:lstStyle/>
          <a:p>
            <a:pPr indent="0" marL="0">
              <a:buNone/>
            </a:pPr>
            <a:r>
              <a:rPr lang="en-US" sz="1450" dirty="0">
                <a:solidFill>
                  <a:srgbClr val="2D333B"/>
                </a:solidFill>
                <a:latin typeface="Calibri" pitchFamily="34" charset="0"/>
                <a:ea typeface="Calibri" pitchFamily="34" charset="-122"/>
                <a:cs typeface="Calibri" pitchFamily="34" charset="-120"/>
              </a:rPr>
              <a:t>distinct sign languages — ASL is not “English on the hands”</a:t>
            </a:r>
            <a:endParaRPr lang="en-US" sz="1450" dirty="0"/>
          </a:p>
        </p:txBody>
      </p:sp>
      <p:sp>
        <p:nvSpPr>
          <p:cNvPr id="16" name="Text 13"/>
          <p:cNvSpPr txBox="1"/>
          <p:nvPr/>
        </p:nvSpPr>
        <p:spPr>
          <a:xfrm>
            <a:off x="8046720" y="3108960"/>
            <a:ext cx="3291840" cy="274320"/>
          </a:xfrm>
          <a:prstGeom prst="rect">
            <a:avLst/>
          </a:prstGeom>
          <a:noFill/>
          <a:ln/>
        </p:spPr>
        <p:txBody>
          <a:bodyPr wrap="square" lIns="0" tIns="0" rIns="0" bIns="0" rtlCol="0" anchor="ctr"/>
          <a:lstStyle/>
          <a:p>
            <a:pPr indent="0" marL="0">
              <a:buNone/>
            </a:pPr>
            <a:r>
              <a:rPr lang="en-US" sz="1100" i="1" dirty="0">
                <a:solidFill>
                  <a:srgbClr val="5B6370"/>
                </a:solidFill>
                <a:latin typeface="Calibri" pitchFamily="34" charset="0"/>
                <a:ea typeface="Calibri" pitchFamily="34" charset="-122"/>
                <a:cs typeface="Calibri" pitchFamily="34" charset="-120"/>
              </a:rPr>
              <a:t>World Federation of the Deaf</a:t>
            </a:r>
            <a:endParaRPr lang="en-US" sz="1100" dirty="0"/>
          </a:p>
        </p:txBody>
      </p:sp>
      <p:sp>
        <p:nvSpPr>
          <p:cNvPr id="17" name="Shape 14"/>
          <p:cNvSpPr/>
          <p:nvPr/>
        </p:nvSpPr>
        <p:spPr>
          <a:xfrm>
            <a:off x="548640" y="3703320"/>
            <a:ext cx="11094415" cy="2468880"/>
          </a:xfrm>
          <a:prstGeom prst="roundRect">
            <a:avLst>
              <a:gd name="adj" fmla="val 4444"/>
            </a:avLst>
          </a:prstGeom>
          <a:solidFill>
            <a:srgbClr val="FFF4C2"/>
          </a:solidFill>
          <a:ln w="12700">
            <a:solidFill>
              <a:srgbClr val="FFF4C2"/>
            </a:solidFill>
            <a:prstDash val="solid"/>
          </a:ln>
        </p:spPr>
      </p:sp>
      <p:sp>
        <p:nvSpPr>
          <p:cNvPr id="18" name="Text 15"/>
          <p:cNvSpPr txBox="1"/>
          <p:nvPr/>
        </p:nvSpPr>
        <p:spPr>
          <a:xfrm>
            <a:off x="868680" y="3931920"/>
            <a:ext cx="5486400" cy="365760"/>
          </a:xfrm>
          <a:prstGeom prst="rect">
            <a:avLst/>
          </a:prstGeom>
          <a:noFill/>
          <a:ln/>
        </p:spPr>
        <p:txBody>
          <a:bodyPr wrap="square" lIns="0" tIns="0" rIns="0" bIns="0" rtlCol="0" anchor="ctr"/>
          <a:lstStyle/>
          <a:p>
            <a:pPr indent="0" marL="0">
              <a:buNone/>
            </a:pPr>
            <a:r>
              <a:rPr lang="en-US" sz="1800" b="1" dirty="0">
                <a:solidFill>
                  <a:srgbClr val="1F2328"/>
                </a:solidFill>
                <a:latin typeface="Cambria" pitchFamily="34" charset="0"/>
                <a:ea typeface="Cambria" pitchFamily="34" charset="-122"/>
                <a:cs typeface="Cambria" pitchFamily="34" charset="-120"/>
              </a:rPr>
              <a:t>The problem we address</a:t>
            </a:r>
            <a:endParaRPr lang="en-US" sz="1800" dirty="0"/>
          </a:p>
        </p:txBody>
      </p:sp>
      <p:sp>
        <p:nvSpPr>
          <p:cNvPr id="19" name="Text 16"/>
          <p:cNvSpPr txBox="1"/>
          <p:nvPr/>
        </p:nvSpPr>
        <p:spPr>
          <a:xfrm>
            <a:off x="868680" y="4434840"/>
            <a:ext cx="10454335" cy="1645920"/>
          </a:xfrm>
          <a:prstGeom prst="rect">
            <a:avLst/>
          </a:prstGeom>
          <a:noFill/>
          <a:ln/>
        </p:spPr>
        <p:txBody>
          <a:bodyPr wrap="square" lIns="0" tIns="0" rIns="0" bIns="0" rtlCol="0" anchor="t"/>
          <a:lstStyle/>
          <a:p>
            <a:pPr marL="203200" indent="-203200">
              <a:buSzPct val="100000"/>
              <a:buChar char="•"/>
            </a:pPr>
            <a:r>
              <a:rPr lang="en-US" sz="1650" b="1" dirty="0">
                <a:solidFill>
                  <a:srgbClr val="2D333B"/>
                </a:solidFill>
                <a:latin typeface="Calibri" pitchFamily="34" charset="0"/>
                <a:ea typeface="Calibri" pitchFamily="34" charset="-122"/>
                <a:cs typeface="Calibri" pitchFamily="34" charset="-120"/>
              </a:rPr>
              <a:t>Communication gap: </a:t>
            </a:r>
            <a:pPr indent="0" marL="0">
              <a:spcAft>
                <a:spcPts val="700"/>
              </a:spcAft>
              <a:buNone/>
            </a:pPr>
            <a:r>
              <a:rPr lang="en-US" sz="1650" dirty="0">
                <a:solidFill>
                  <a:srgbClr val="2D333B"/>
                </a:solidFill>
                <a:latin typeface="Calibri" pitchFamily="34" charset="0"/>
                <a:ea typeface="Calibri" pitchFamily="34" charset="-122"/>
                <a:cs typeface="Calibri" pitchFamily="34" charset="-120"/>
              </a:rPr>
              <a:t>signers and non-signers cannot talk directly; certified interpreters are few, costly and must be booked in advance.</a:t>
            </a:r>
            <a:endParaRPr lang="en-US" sz="1650" dirty="0"/>
          </a:p>
          <a:p>
            <a:pPr marL="203200" indent="-203200">
              <a:buSzPct val="100000"/>
              <a:buChar char="•"/>
            </a:pPr>
            <a:r>
              <a:rPr lang="en-US" sz="1650" b="1" dirty="0">
                <a:solidFill>
                  <a:srgbClr val="2D333B"/>
                </a:solidFill>
                <a:latin typeface="Calibri" pitchFamily="34" charset="0"/>
                <a:ea typeface="Calibri" pitchFamily="34" charset="-122"/>
                <a:cs typeface="Calibri" pitchFamily="34" charset="-120"/>
              </a:rPr>
              <a:t>Tools stop at recognition: </a:t>
            </a:r>
            <a:pPr indent="0" marL="0">
              <a:spcAft>
                <a:spcPts val="700"/>
              </a:spcAft>
              <a:buNone/>
            </a:pPr>
            <a:r>
              <a:rPr lang="en-US" sz="1650" dirty="0">
                <a:solidFill>
                  <a:srgbClr val="2D333B"/>
                </a:solidFill>
                <a:latin typeface="Calibri" pitchFamily="34" charset="0"/>
                <a:ea typeface="Calibri" pitchFamily="34" charset="-122"/>
                <a:cs typeface="Calibri" pitchFamily="34" charset="-120"/>
              </a:rPr>
              <a:t>most automated systems recognise one isolated sign and output a keyword, not a readable sentence.</a:t>
            </a:r>
            <a:endParaRPr lang="en-US" sz="1650" dirty="0"/>
          </a:p>
          <a:p>
            <a:pPr marL="203200" indent="-203200">
              <a:buSzPct val="100000"/>
              <a:buChar char="•"/>
            </a:pPr>
            <a:r>
              <a:rPr lang="en-US" sz="1650" b="1" dirty="0">
                <a:solidFill>
                  <a:srgbClr val="2D333B"/>
                </a:solidFill>
                <a:latin typeface="Calibri" pitchFamily="34" charset="0"/>
                <a:ea typeface="Calibri" pitchFamily="34" charset="-122"/>
                <a:cs typeface="Calibri" pitchFamily="34" charset="-120"/>
              </a:rPr>
              <a:t>Fragile and invasive: </a:t>
            </a:r>
            <a:pPr indent="0" marL="0">
              <a:spcAft>
                <a:spcPts val="700"/>
              </a:spcAft>
              <a:buNone/>
            </a:pPr>
            <a:r>
              <a:rPr lang="en-US" sz="1650" dirty="0">
                <a:solidFill>
                  <a:srgbClr val="2D333B"/>
                </a:solidFill>
                <a:latin typeface="Calibri" pitchFamily="34" charset="0"/>
                <a:ea typeface="Calibri" pitchFamily="34" charset="-122"/>
                <a:cs typeface="Calibri" pitchFamily="34" charset="-120"/>
              </a:rPr>
              <a:t>pixel-based models break under poor lighting or busy backgrounds, and many upload the user’s video to a server.</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43230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43230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LITERATURE SURVEY</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Existing systems and their limitations</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05</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34640"/>
                <a:gridCol w="4206240"/>
                <a:gridCol w="4050792"/>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it works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Key limitation</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r>
              <a:tr h="658368">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Sensor / data gloves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Flex sensors and IMUs on the hand</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Expensive, intrusive hardware; misses facial grammar</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CNN on raw pixels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Image classifier on webcam frames (e.g. ASL-alphabet CNNs)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Sensitive to lighting, skin tone and background; heavy models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658368">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Isolated-sign recognisers (WLASL-style)</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Video model predicts one gloss per clip</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Outputs keywords, not sentences; offline research code</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Server-side translators (e.g. sign.mt)</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Holistic landmarks in browser, recognition on remote API</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Video / pose leaves device; needs network; no practice feedback</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658368">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SignSpeak (proposed)</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4C2"/>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Hand landmarks → MLP in browser → smoother → LLM</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4C2"/>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Small vocabulary today; word accuracy limited by data</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4C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43230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43230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PROPOSED SOLUTION</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SignSpeak: landmarks in, sentences out</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06</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691640"/>
            <a:ext cx="2624328" cy="3246120"/>
          </a:xfrm>
          <a:prstGeom prst="roundRect">
            <a:avLst>
              <a:gd name="adj" fmla="val 3484"/>
            </a:avLst>
          </a:prstGeom>
          <a:solidFill>
            <a:srgbClr val="F2F3F5"/>
          </a:solidFill>
          <a:ln w="12700">
            <a:solidFill>
              <a:srgbClr val="F2F3F5"/>
            </a:solidFill>
            <a:prstDash val="solid"/>
          </a:ln>
        </p:spPr>
      </p:sp>
      <p:sp>
        <p:nvSpPr>
          <p:cNvPr id="9" name="Shape 6"/>
          <p:cNvSpPr/>
          <p:nvPr/>
        </p:nvSpPr>
        <p:spPr>
          <a:xfrm>
            <a:off x="777240" y="1920240"/>
            <a:ext cx="457200" cy="457200"/>
          </a:xfrm>
          <a:prstGeom prst="ellipse">
            <a:avLst/>
          </a:prstGeom>
          <a:solidFill>
            <a:srgbClr val="1F2328"/>
          </a:solidFill>
          <a:ln w="12700">
            <a:solidFill>
              <a:srgbClr val="1F2328"/>
            </a:solidFill>
            <a:prstDash val="solid"/>
          </a:ln>
        </p:spPr>
      </p:sp>
      <p:sp>
        <p:nvSpPr>
          <p:cNvPr id="10" name="Text 7"/>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777240" y="2514600"/>
            <a:ext cx="2167128"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Landmarks, not pixels</a:t>
            </a:r>
            <a:endParaRPr lang="en-US" sz="1700" dirty="0"/>
          </a:p>
        </p:txBody>
      </p:sp>
      <p:sp>
        <p:nvSpPr>
          <p:cNvPr id="12" name="Text 9"/>
          <p:cNvSpPr txBox="1"/>
          <p:nvPr/>
        </p:nvSpPr>
        <p:spPr>
          <a:xfrm>
            <a:off x="777240" y="2926080"/>
            <a:ext cx="2167128" cy="1874520"/>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MediaPipe gives 21 (x, y, z) points per hand. Recognition works on geometry, so lighting, background and skin tone matter far less.</a:t>
            </a:r>
            <a:endParaRPr lang="en-US" sz="1400" dirty="0"/>
          </a:p>
        </p:txBody>
      </p:sp>
      <p:sp>
        <p:nvSpPr>
          <p:cNvPr id="13" name="Shape 10"/>
          <p:cNvSpPr/>
          <p:nvPr/>
        </p:nvSpPr>
        <p:spPr>
          <a:xfrm>
            <a:off x="3355848" y="1691640"/>
            <a:ext cx="2624328" cy="3246120"/>
          </a:xfrm>
          <a:prstGeom prst="roundRect">
            <a:avLst>
              <a:gd name="adj" fmla="val 3484"/>
            </a:avLst>
          </a:prstGeom>
          <a:solidFill>
            <a:srgbClr val="F2F3F5"/>
          </a:solidFill>
          <a:ln w="12700">
            <a:solidFill>
              <a:srgbClr val="F2F3F5"/>
            </a:solidFill>
            <a:prstDash val="solid"/>
          </a:ln>
        </p:spPr>
      </p:sp>
      <p:sp>
        <p:nvSpPr>
          <p:cNvPr id="14" name="Shape 11"/>
          <p:cNvSpPr/>
          <p:nvPr/>
        </p:nvSpPr>
        <p:spPr>
          <a:xfrm>
            <a:off x="3584448" y="1920240"/>
            <a:ext cx="457200" cy="457200"/>
          </a:xfrm>
          <a:prstGeom prst="ellipse">
            <a:avLst/>
          </a:prstGeom>
          <a:solidFill>
            <a:srgbClr val="1F2328"/>
          </a:solidFill>
          <a:ln w="12700">
            <a:solidFill>
              <a:srgbClr val="1F2328"/>
            </a:solidFill>
            <a:prstDash val="solid"/>
          </a:ln>
        </p:spPr>
      </p:sp>
      <p:sp>
        <p:nvSpPr>
          <p:cNvPr id="15" name="Text 12"/>
          <p:cNvSpPr txBox="1"/>
          <p:nvPr/>
        </p:nvSpPr>
        <p:spPr>
          <a:xfrm>
            <a:off x="3584448"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3584448" y="2514600"/>
            <a:ext cx="2167128"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Private by design</a:t>
            </a:r>
            <a:endParaRPr lang="en-US" sz="1700" dirty="0"/>
          </a:p>
        </p:txBody>
      </p:sp>
      <p:sp>
        <p:nvSpPr>
          <p:cNvPr id="17" name="Text 14"/>
          <p:cNvSpPr txBox="1"/>
          <p:nvPr/>
        </p:nvSpPr>
        <p:spPr>
          <a:xfrm>
            <a:off x="3584448" y="2926080"/>
            <a:ext cx="2167128" cy="1874520"/>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Detection, classification and smoothing all run in the browser. Only optional gloss text is sent for translation — never video.</a:t>
            </a:r>
            <a:endParaRPr lang="en-US" sz="1400" dirty="0"/>
          </a:p>
        </p:txBody>
      </p:sp>
      <p:sp>
        <p:nvSpPr>
          <p:cNvPr id="18" name="Shape 15"/>
          <p:cNvSpPr/>
          <p:nvPr/>
        </p:nvSpPr>
        <p:spPr>
          <a:xfrm>
            <a:off x="6163056" y="1691640"/>
            <a:ext cx="2624328" cy="3246120"/>
          </a:xfrm>
          <a:prstGeom prst="roundRect">
            <a:avLst>
              <a:gd name="adj" fmla="val 3484"/>
            </a:avLst>
          </a:prstGeom>
          <a:solidFill>
            <a:srgbClr val="F2F3F5"/>
          </a:solidFill>
          <a:ln w="12700">
            <a:solidFill>
              <a:srgbClr val="F2F3F5"/>
            </a:solidFill>
            <a:prstDash val="solid"/>
          </a:ln>
        </p:spPr>
      </p:sp>
      <p:sp>
        <p:nvSpPr>
          <p:cNvPr id="19" name="Shape 16"/>
          <p:cNvSpPr/>
          <p:nvPr/>
        </p:nvSpPr>
        <p:spPr>
          <a:xfrm>
            <a:off x="6391656" y="1920240"/>
            <a:ext cx="457200" cy="457200"/>
          </a:xfrm>
          <a:prstGeom prst="ellipse">
            <a:avLst/>
          </a:prstGeom>
          <a:solidFill>
            <a:srgbClr val="FFD43B"/>
          </a:solidFill>
          <a:ln w="12700">
            <a:solidFill>
              <a:srgbClr val="FFD43B"/>
            </a:solidFill>
            <a:prstDash val="solid"/>
          </a:ln>
        </p:spPr>
      </p:sp>
      <p:sp>
        <p:nvSpPr>
          <p:cNvPr id="20" name="Text 17"/>
          <p:cNvSpPr txBox="1"/>
          <p:nvPr/>
        </p:nvSpPr>
        <p:spPr>
          <a:xfrm>
            <a:off x="6391656" y="1920240"/>
            <a:ext cx="457200" cy="457200"/>
          </a:xfrm>
          <a:prstGeom prst="rect">
            <a:avLst/>
          </a:prstGeom>
          <a:noFill/>
          <a:ln/>
        </p:spPr>
        <p:txBody>
          <a:bodyPr wrap="square" lIns="0" tIns="0" rIns="0" bIns="0" rtlCol="0" anchor="ctr"/>
          <a:lstStyle/>
          <a:p>
            <a:pPr algn="ctr" indent="0" marL="0">
              <a:buNone/>
            </a:pPr>
            <a:r>
              <a:rPr lang="en-US" sz="1400" b="1" dirty="0">
                <a:solidFill>
                  <a:srgbClr val="1F2328"/>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6391656" y="2514600"/>
            <a:ext cx="2167128"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Gloss → fluent English</a:t>
            </a:r>
            <a:endParaRPr lang="en-US" sz="1700" dirty="0"/>
          </a:p>
        </p:txBody>
      </p:sp>
      <p:sp>
        <p:nvSpPr>
          <p:cNvPr id="22" name="Text 19"/>
          <p:cNvSpPr txBox="1"/>
          <p:nvPr/>
        </p:nvSpPr>
        <p:spPr>
          <a:xfrm>
            <a:off x="6391656" y="2926080"/>
            <a:ext cx="2167128" cy="1874520"/>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An LLM rewrites ASL word order (“MY NAME A-N-I”) into English (“My name is Ani.”) and offers 3 alternates; the user can edit.</a:t>
            </a:r>
            <a:endParaRPr lang="en-US" sz="1400" dirty="0"/>
          </a:p>
        </p:txBody>
      </p:sp>
      <p:sp>
        <p:nvSpPr>
          <p:cNvPr id="23" name="Shape 20"/>
          <p:cNvSpPr/>
          <p:nvPr/>
        </p:nvSpPr>
        <p:spPr>
          <a:xfrm>
            <a:off x="8970264" y="1691640"/>
            <a:ext cx="2624328" cy="3246120"/>
          </a:xfrm>
          <a:prstGeom prst="roundRect">
            <a:avLst>
              <a:gd name="adj" fmla="val 3484"/>
            </a:avLst>
          </a:prstGeom>
          <a:solidFill>
            <a:srgbClr val="F2F3F5"/>
          </a:solidFill>
          <a:ln w="12700">
            <a:solidFill>
              <a:srgbClr val="F2F3F5"/>
            </a:solidFill>
            <a:prstDash val="solid"/>
          </a:ln>
        </p:spPr>
      </p:sp>
      <p:sp>
        <p:nvSpPr>
          <p:cNvPr id="24" name="Shape 21"/>
          <p:cNvSpPr/>
          <p:nvPr/>
        </p:nvSpPr>
        <p:spPr>
          <a:xfrm>
            <a:off x="9198864" y="1920240"/>
            <a:ext cx="457200" cy="457200"/>
          </a:xfrm>
          <a:prstGeom prst="ellipse">
            <a:avLst/>
          </a:prstGeom>
          <a:solidFill>
            <a:srgbClr val="1F2328"/>
          </a:solidFill>
          <a:ln w="12700">
            <a:solidFill>
              <a:srgbClr val="1F2328"/>
            </a:solidFill>
            <a:prstDash val="solid"/>
          </a:ln>
        </p:spPr>
      </p:sp>
      <p:sp>
        <p:nvSpPr>
          <p:cNvPr id="25" name="Text 22"/>
          <p:cNvSpPr txBox="1"/>
          <p:nvPr/>
        </p:nvSpPr>
        <p:spPr>
          <a:xfrm>
            <a:off x="9198864"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9198864" y="2514600"/>
            <a:ext cx="2167128"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Built to extend</a:t>
            </a:r>
            <a:endParaRPr lang="en-US" sz="1700" dirty="0"/>
          </a:p>
        </p:txBody>
      </p:sp>
      <p:sp>
        <p:nvSpPr>
          <p:cNvPr id="27" name="Text 24"/>
          <p:cNvSpPr txBox="1"/>
          <p:nvPr/>
        </p:nvSpPr>
        <p:spPr>
          <a:xfrm>
            <a:off x="9198864" y="2926080"/>
            <a:ext cx="2167128" cy="1874520"/>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A source-agnostic InputSource interface lets a future sensor glove, video file or video-call feed reuse the same recogniser.</a:t>
            </a:r>
            <a:endParaRPr lang="en-US" sz="1400" dirty="0"/>
          </a:p>
        </p:txBody>
      </p:sp>
      <p:sp>
        <p:nvSpPr>
          <p:cNvPr id="28" name="Shape 25"/>
          <p:cNvSpPr/>
          <p:nvPr/>
        </p:nvSpPr>
        <p:spPr>
          <a:xfrm>
            <a:off x="548640" y="5349240"/>
            <a:ext cx="1417320" cy="566928"/>
          </a:xfrm>
          <a:prstGeom prst="roundRect">
            <a:avLst>
              <a:gd name="adj" fmla="val 12903"/>
            </a:avLst>
          </a:prstGeom>
          <a:solidFill>
            <a:srgbClr val="1F2328"/>
          </a:solidFill>
          <a:ln w="12700">
            <a:solidFill>
              <a:srgbClr val="1F2328"/>
            </a:solidFill>
            <a:prstDash val="solid"/>
          </a:ln>
        </p:spPr>
      </p:sp>
      <p:sp>
        <p:nvSpPr>
          <p:cNvPr id="29" name="Text 26"/>
          <p:cNvSpPr txBox="1"/>
          <p:nvPr/>
        </p:nvSpPr>
        <p:spPr>
          <a:xfrm>
            <a:off x="548640" y="5349240"/>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Webcam</a:t>
            </a:r>
            <a:endParaRPr lang="en-US" sz="1300" dirty="0"/>
          </a:p>
        </p:txBody>
      </p:sp>
      <p:sp>
        <p:nvSpPr>
          <p:cNvPr id="30" name="Text 27"/>
          <p:cNvSpPr txBox="1"/>
          <p:nvPr/>
        </p:nvSpPr>
        <p:spPr>
          <a:xfrm>
            <a:off x="1965960" y="5349240"/>
            <a:ext cx="201168" cy="566928"/>
          </a:xfrm>
          <a:prstGeom prst="rect">
            <a:avLst/>
          </a:prstGeom>
          <a:noFill/>
          <a:ln/>
        </p:spPr>
        <p:txBody>
          <a:bodyPr wrap="square" lIns="0" tIns="0" rIns="0" bIns="0" rtlCol="0" anchor="ctr"/>
          <a:lstStyle/>
          <a:p>
            <a:pPr algn="ctr" indent="0" marL="0">
              <a:buNone/>
            </a:pPr>
            <a:r>
              <a:rPr lang="en-US" sz="1800" b="1" dirty="0">
                <a:solidFill>
                  <a:srgbClr val="5B6370"/>
                </a:solidFill>
                <a:latin typeface="Calibri" pitchFamily="34" charset="0"/>
                <a:ea typeface="Calibri" pitchFamily="34" charset="-122"/>
                <a:cs typeface="Calibri" pitchFamily="34" charset="-120"/>
              </a:rPr>
              <a:t>›</a:t>
            </a:r>
            <a:endParaRPr lang="en-US" sz="1800" dirty="0"/>
          </a:p>
        </p:txBody>
      </p:sp>
      <p:sp>
        <p:nvSpPr>
          <p:cNvPr id="31" name="Shape 28"/>
          <p:cNvSpPr/>
          <p:nvPr/>
        </p:nvSpPr>
        <p:spPr>
          <a:xfrm>
            <a:off x="2148840" y="5349240"/>
            <a:ext cx="1417320" cy="566928"/>
          </a:xfrm>
          <a:prstGeom prst="roundRect">
            <a:avLst>
              <a:gd name="adj" fmla="val 12903"/>
            </a:avLst>
          </a:prstGeom>
          <a:solidFill>
            <a:srgbClr val="1F2328"/>
          </a:solidFill>
          <a:ln w="12700">
            <a:solidFill>
              <a:srgbClr val="1F2328"/>
            </a:solidFill>
            <a:prstDash val="solid"/>
          </a:ln>
        </p:spPr>
      </p:sp>
      <p:sp>
        <p:nvSpPr>
          <p:cNvPr id="32" name="Text 29"/>
          <p:cNvSpPr txBox="1"/>
          <p:nvPr/>
        </p:nvSpPr>
        <p:spPr>
          <a:xfrm>
            <a:off x="2148840" y="5349240"/>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Hand landmarks</a:t>
            </a:r>
            <a:endParaRPr lang="en-US" sz="1300" dirty="0"/>
          </a:p>
        </p:txBody>
      </p:sp>
      <p:sp>
        <p:nvSpPr>
          <p:cNvPr id="33" name="Text 30"/>
          <p:cNvSpPr txBox="1"/>
          <p:nvPr/>
        </p:nvSpPr>
        <p:spPr>
          <a:xfrm>
            <a:off x="3566160" y="5349240"/>
            <a:ext cx="201168" cy="566928"/>
          </a:xfrm>
          <a:prstGeom prst="rect">
            <a:avLst/>
          </a:prstGeom>
          <a:noFill/>
          <a:ln/>
        </p:spPr>
        <p:txBody>
          <a:bodyPr wrap="square" lIns="0" tIns="0" rIns="0" bIns="0" rtlCol="0" anchor="ctr"/>
          <a:lstStyle/>
          <a:p>
            <a:pPr algn="ctr" indent="0" marL="0">
              <a:buNone/>
            </a:pPr>
            <a:r>
              <a:rPr lang="en-US" sz="1800" b="1" dirty="0">
                <a:solidFill>
                  <a:srgbClr val="5B6370"/>
                </a:solidFill>
                <a:latin typeface="Calibri" pitchFamily="34" charset="0"/>
                <a:ea typeface="Calibri" pitchFamily="34" charset="-122"/>
                <a:cs typeface="Calibri" pitchFamily="34" charset="-120"/>
              </a:rPr>
              <a:t>›</a:t>
            </a:r>
            <a:endParaRPr lang="en-US" sz="1800" dirty="0"/>
          </a:p>
        </p:txBody>
      </p:sp>
      <p:sp>
        <p:nvSpPr>
          <p:cNvPr id="34" name="Shape 31"/>
          <p:cNvSpPr/>
          <p:nvPr/>
        </p:nvSpPr>
        <p:spPr>
          <a:xfrm>
            <a:off x="3749040" y="5349240"/>
            <a:ext cx="1417320" cy="566928"/>
          </a:xfrm>
          <a:prstGeom prst="roundRect">
            <a:avLst>
              <a:gd name="adj" fmla="val 12903"/>
            </a:avLst>
          </a:prstGeom>
          <a:solidFill>
            <a:srgbClr val="1F2328"/>
          </a:solidFill>
          <a:ln w="12700">
            <a:solidFill>
              <a:srgbClr val="1F2328"/>
            </a:solidFill>
            <a:prstDash val="solid"/>
          </a:ln>
        </p:spPr>
      </p:sp>
      <p:sp>
        <p:nvSpPr>
          <p:cNvPr id="35" name="Text 32"/>
          <p:cNvSpPr txBox="1"/>
          <p:nvPr/>
        </p:nvSpPr>
        <p:spPr>
          <a:xfrm>
            <a:off x="3749040" y="5349240"/>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 vector</a:t>
            </a:r>
            <a:endParaRPr lang="en-US" sz="1300" dirty="0"/>
          </a:p>
        </p:txBody>
      </p:sp>
      <p:sp>
        <p:nvSpPr>
          <p:cNvPr id="36" name="Text 33"/>
          <p:cNvSpPr txBox="1"/>
          <p:nvPr/>
        </p:nvSpPr>
        <p:spPr>
          <a:xfrm>
            <a:off x="5166360" y="5349240"/>
            <a:ext cx="201168" cy="566928"/>
          </a:xfrm>
          <a:prstGeom prst="rect">
            <a:avLst/>
          </a:prstGeom>
          <a:noFill/>
          <a:ln/>
        </p:spPr>
        <p:txBody>
          <a:bodyPr wrap="square" lIns="0" tIns="0" rIns="0" bIns="0" rtlCol="0" anchor="ctr"/>
          <a:lstStyle/>
          <a:p>
            <a:pPr algn="ctr" indent="0" marL="0">
              <a:buNone/>
            </a:pPr>
            <a:r>
              <a:rPr lang="en-US" sz="1800" b="1" dirty="0">
                <a:solidFill>
                  <a:srgbClr val="5B6370"/>
                </a:solidFill>
                <a:latin typeface="Calibri" pitchFamily="34" charset="0"/>
                <a:ea typeface="Calibri" pitchFamily="34" charset="-122"/>
                <a:cs typeface="Calibri" pitchFamily="34" charset="-120"/>
              </a:rPr>
              <a:t>›</a:t>
            </a:r>
            <a:endParaRPr lang="en-US" sz="1800" dirty="0"/>
          </a:p>
        </p:txBody>
      </p:sp>
      <p:sp>
        <p:nvSpPr>
          <p:cNvPr id="37" name="Shape 34"/>
          <p:cNvSpPr/>
          <p:nvPr/>
        </p:nvSpPr>
        <p:spPr>
          <a:xfrm>
            <a:off x="5349240" y="5349240"/>
            <a:ext cx="1417320" cy="566928"/>
          </a:xfrm>
          <a:prstGeom prst="roundRect">
            <a:avLst>
              <a:gd name="adj" fmla="val 12903"/>
            </a:avLst>
          </a:prstGeom>
          <a:solidFill>
            <a:srgbClr val="1F2328"/>
          </a:solidFill>
          <a:ln w="12700">
            <a:solidFill>
              <a:srgbClr val="1F2328"/>
            </a:solidFill>
            <a:prstDash val="solid"/>
          </a:ln>
        </p:spPr>
      </p:sp>
      <p:sp>
        <p:nvSpPr>
          <p:cNvPr id="38" name="Text 35"/>
          <p:cNvSpPr txBox="1"/>
          <p:nvPr/>
        </p:nvSpPr>
        <p:spPr>
          <a:xfrm>
            <a:off x="5349240" y="5349240"/>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MLP classifier</a:t>
            </a:r>
            <a:endParaRPr lang="en-US" sz="1300" dirty="0"/>
          </a:p>
        </p:txBody>
      </p:sp>
      <p:sp>
        <p:nvSpPr>
          <p:cNvPr id="39" name="Text 36"/>
          <p:cNvSpPr txBox="1"/>
          <p:nvPr/>
        </p:nvSpPr>
        <p:spPr>
          <a:xfrm>
            <a:off x="6766560" y="5349240"/>
            <a:ext cx="201168" cy="566928"/>
          </a:xfrm>
          <a:prstGeom prst="rect">
            <a:avLst/>
          </a:prstGeom>
          <a:noFill/>
          <a:ln/>
        </p:spPr>
        <p:txBody>
          <a:bodyPr wrap="square" lIns="0" tIns="0" rIns="0" bIns="0" rtlCol="0" anchor="ctr"/>
          <a:lstStyle/>
          <a:p>
            <a:pPr algn="ctr" indent="0" marL="0">
              <a:buNone/>
            </a:pPr>
            <a:r>
              <a:rPr lang="en-US" sz="1800" b="1" dirty="0">
                <a:solidFill>
                  <a:srgbClr val="5B6370"/>
                </a:solidFill>
                <a:latin typeface="Calibri" pitchFamily="34" charset="0"/>
                <a:ea typeface="Calibri" pitchFamily="34" charset="-122"/>
                <a:cs typeface="Calibri" pitchFamily="34" charset="-120"/>
              </a:rPr>
              <a:t>›</a:t>
            </a:r>
            <a:endParaRPr lang="en-US" sz="1800" dirty="0"/>
          </a:p>
        </p:txBody>
      </p:sp>
      <p:sp>
        <p:nvSpPr>
          <p:cNvPr id="40" name="Shape 37"/>
          <p:cNvSpPr/>
          <p:nvPr/>
        </p:nvSpPr>
        <p:spPr>
          <a:xfrm>
            <a:off x="6949440" y="5349240"/>
            <a:ext cx="1417320" cy="566928"/>
          </a:xfrm>
          <a:prstGeom prst="roundRect">
            <a:avLst>
              <a:gd name="adj" fmla="val 12903"/>
            </a:avLst>
          </a:prstGeom>
          <a:solidFill>
            <a:srgbClr val="1F2328"/>
          </a:solidFill>
          <a:ln w="12700">
            <a:solidFill>
              <a:srgbClr val="1F2328"/>
            </a:solidFill>
            <a:prstDash val="solid"/>
          </a:ln>
        </p:spPr>
      </p:sp>
      <p:sp>
        <p:nvSpPr>
          <p:cNvPr id="41" name="Text 38"/>
          <p:cNvSpPr txBox="1"/>
          <p:nvPr/>
        </p:nvSpPr>
        <p:spPr>
          <a:xfrm>
            <a:off x="6949440" y="5349240"/>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Smoother</a:t>
            </a:r>
            <a:endParaRPr lang="en-US" sz="1300" dirty="0"/>
          </a:p>
        </p:txBody>
      </p:sp>
      <p:sp>
        <p:nvSpPr>
          <p:cNvPr id="42" name="Text 39"/>
          <p:cNvSpPr txBox="1"/>
          <p:nvPr/>
        </p:nvSpPr>
        <p:spPr>
          <a:xfrm>
            <a:off x="8366760" y="5349240"/>
            <a:ext cx="201168" cy="566928"/>
          </a:xfrm>
          <a:prstGeom prst="rect">
            <a:avLst/>
          </a:prstGeom>
          <a:noFill/>
          <a:ln/>
        </p:spPr>
        <p:txBody>
          <a:bodyPr wrap="square" lIns="0" tIns="0" rIns="0" bIns="0" rtlCol="0" anchor="ctr"/>
          <a:lstStyle/>
          <a:p>
            <a:pPr algn="ctr" indent="0" marL="0">
              <a:buNone/>
            </a:pPr>
            <a:r>
              <a:rPr lang="en-US" sz="1800" b="1" dirty="0">
                <a:solidFill>
                  <a:srgbClr val="5B6370"/>
                </a:solidFill>
                <a:latin typeface="Calibri" pitchFamily="34" charset="0"/>
                <a:ea typeface="Calibri" pitchFamily="34" charset="-122"/>
                <a:cs typeface="Calibri" pitchFamily="34" charset="-120"/>
              </a:rPr>
              <a:t>›</a:t>
            </a:r>
            <a:endParaRPr lang="en-US" sz="1800" dirty="0"/>
          </a:p>
        </p:txBody>
      </p:sp>
      <p:sp>
        <p:nvSpPr>
          <p:cNvPr id="43" name="Shape 40"/>
          <p:cNvSpPr/>
          <p:nvPr/>
        </p:nvSpPr>
        <p:spPr>
          <a:xfrm>
            <a:off x="8549640" y="5349240"/>
            <a:ext cx="1417320" cy="566928"/>
          </a:xfrm>
          <a:prstGeom prst="roundRect">
            <a:avLst>
              <a:gd name="adj" fmla="val 12903"/>
            </a:avLst>
          </a:prstGeom>
          <a:solidFill>
            <a:srgbClr val="1F2328"/>
          </a:solidFill>
          <a:ln w="12700">
            <a:solidFill>
              <a:srgbClr val="1F2328"/>
            </a:solidFill>
            <a:prstDash val="solid"/>
          </a:ln>
        </p:spPr>
      </p:sp>
      <p:sp>
        <p:nvSpPr>
          <p:cNvPr id="44" name="Text 41"/>
          <p:cNvSpPr txBox="1"/>
          <p:nvPr/>
        </p:nvSpPr>
        <p:spPr>
          <a:xfrm>
            <a:off x="8549640" y="5349240"/>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Transcript</a:t>
            </a:r>
            <a:endParaRPr lang="en-US" sz="1300" dirty="0"/>
          </a:p>
        </p:txBody>
      </p:sp>
      <p:sp>
        <p:nvSpPr>
          <p:cNvPr id="45" name="Text 42"/>
          <p:cNvSpPr txBox="1"/>
          <p:nvPr/>
        </p:nvSpPr>
        <p:spPr>
          <a:xfrm>
            <a:off x="9966960" y="5349240"/>
            <a:ext cx="201168" cy="566928"/>
          </a:xfrm>
          <a:prstGeom prst="rect">
            <a:avLst/>
          </a:prstGeom>
          <a:noFill/>
          <a:ln/>
        </p:spPr>
        <p:txBody>
          <a:bodyPr wrap="square" lIns="0" tIns="0" rIns="0" bIns="0" rtlCol="0" anchor="ctr"/>
          <a:lstStyle/>
          <a:p>
            <a:pPr algn="ctr" indent="0" marL="0">
              <a:buNone/>
            </a:pPr>
            <a:r>
              <a:rPr lang="en-US" sz="1800" b="1" dirty="0">
                <a:solidFill>
                  <a:srgbClr val="5B6370"/>
                </a:solidFill>
                <a:latin typeface="Calibri" pitchFamily="34" charset="0"/>
                <a:ea typeface="Calibri" pitchFamily="34" charset="-122"/>
                <a:cs typeface="Calibri" pitchFamily="34" charset="-120"/>
              </a:rPr>
              <a:t>›</a:t>
            </a:r>
            <a:endParaRPr lang="en-US" sz="1800" dirty="0"/>
          </a:p>
        </p:txBody>
      </p:sp>
      <p:sp>
        <p:nvSpPr>
          <p:cNvPr id="46" name="Shape 43"/>
          <p:cNvSpPr/>
          <p:nvPr/>
        </p:nvSpPr>
        <p:spPr>
          <a:xfrm>
            <a:off x="10149840" y="5349240"/>
            <a:ext cx="1417320" cy="566928"/>
          </a:xfrm>
          <a:prstGeom prst="roundRect">
            <a:avLst>
              <a:gd name="adj" fmla="val 12903"/>
            </a:avLst>
          </a:prstGeom>
          <a:solidFill>
            <a:srgbClr val="FFD43B"/>
          </a:solidFill>
          <a:ln w="12700">
            <a:solidFill>
              <a:srgbClr val="FFD43B"/>
            </a:solidFill>
            <a:prstDash val="solid"/>
          </a:ln>
        </p:spPr>
      </p:sp>
      <p:sp>
        <p:nvSpPr>
          <p:cNvPr id="47" name="Text 44"/>
          <p:cNvSpPr txBox="1"/>
          <p:nvPr/>
        </p:nvSpPr>
        <p:spPr>
          <a:xfrm>
            <a:off x="10149840" y="5349240"/>
            <a:ext cx="1417320" cy="566928"/>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LLM + speech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00200"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600200"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OBJECTIVES</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Objectives</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07</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737360"/>
            <a:ext cx="420624" cy="420624"/>
          </a:xfrm>
          <a:prstGeom prst="ellipse">
            <a:avLst/>
          </a:prstGeom>
          <a:solidFill>
            <a:srgbClr val="1F2328"/>
          </a:solidFill>
          <a:ln w="12700">
            <a:solidFill>
              <a:srgbClr val="1F2328"/>
            </a:solidFill>
            <a:prstDash val="solid"/>
          </a:ln>
        </p:spPr>
      </p:sp>
      <p:sp>
        <p:nvSpPr>
          <p:cNvPr id="9" name="Text 6"/>
          <p:cNvSpPr txBox="1"/>
          <p:nvPr/>
        </p:nvSpPr>
        <p:spPr>
          <a:xfrm>
            <a:off x="548640" y="17373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G1</a:t>
            </a:r>
            <a:endParaRPr lang="en-US" sz="1200" dirty="0"/>
          </a:p>
        </p:txBody>
      </p:sp>
      <p:sp>
        <p:nvSpPr>
          <p:cNvPr id="10" name="Text 7"/>
          <p:cNvSpPr txBox="1"/>
          <p:nvPr/>
        </p:nvSpPr>
        <p:spPr>
          <a:xfrm>
            <a:off x="1188720" y="169164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Translate live ASL into readable English text</a:t>
            </a:r>
            <a:endParaRPr lang="en-US" sz="1600" dirty="0"/>
          </a:p>
        </p:txBody>
      </p:sp>
      <p:sp>
        <p:nvSpPr>
          <p:cNvPr id="11" name="Shape 8"/>
          <p:cNvSpPr/>
          <p:nvPr/>
        </p:nvSpPr>
        <p:spPr>
          <a:xfrm>
            <a:off x="8503920" y="1764792"/>
            <a:ext cx="3136392" cy="365760"/>
          </a:xfrm>
          <a:prstGeom prst="roundRect">
            <a:avLst>
              <a:gd name="adj" fmla="val 17500"/>
            </a:avLst>
          </a:prstGeom>
          <a:solidFill>
            <a:srgbClr val="FFF4C2"/>
          </a:solidFill>
          <a:ln w="6350">
            <a:solidFill>
              <a:srgbClr val="C9CDD2"/>
            </a:solidFill>
            <a:prstDash val="solid"/>
          </a:ln>
        </p:spPr>
      </p:sp>
      <p:sp>
        <p:nvSpPr>
          <p:cNvPr id="12" name="Text 9"/>
          <p:cNvSpPr txBox="1"/>
          <p:nvPr/>
        </p:nvSpPr>
        <p:spPr>
          <a:xfrm>
            <a:off x="8641080" y="176479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Done — letters + 33 words</a:t>
            </a:r>
            <a:endParaRPr lang="en-US" sz="1250" dirty="0"/>
          </a:p>
        </p:txBody>
      </p:sp>
      <p:sp>
        <p:nvSpPr>
          <p:cNvPr id="13" name="Shape 10"/>
          <p:cNvSpPr/>
          <p:nvPr/>
        </p:nvSpPr>
        <p:spPr>
          <a:xfrm>
            <a:off x="548640" y="2377440"/>
            <a:ext cx="420624" cy="420624"/>
          </a:xfrm>
          <a:prstGeom prst="ellipse">
            <a:avLst/>
          </a:prstGeom>
          <a:solidFill>
            <a:srgbClr val="1F2328"/>
          </a:solidFill>
          <a:ln w="12700">
            <a:solidFill>
              <a:srgbClr val="1F2328"/>
            </a:solidFill>
            <a:prstDash val="solid"/>
          </a:ln>
        </p:spPr>
      </p:sp>
      <p:sp>
        <p:nvSpPr>
          <p:cNvPr id="14" name="Text 11"/>
          <p:cNvSpPr txBox="1"/>
          <p:nvPr/>
        </p:nvSpPr>
        <p:spPr>
          <a:xfrm>
            <a:off x="548640" y="23774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G2</a:t>
            </a:r>
            <a:endParaRPr lang="en-US" sz="1200" dirty="0"/>
          </a:p>
        </p:txBody>
      </p:sp>
      <p:sp>
        <p:nvSpPr>
          <p:cNvPr id="15" name="Text 12"/>
          <p:cNvSpPr txBox="1"/>
          <p:nvPr/>
        </p:nvSpPr>
        <p:spPr>
          <a:xfrm>
            <a:off x="1188720" y="233172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Use hand (and later face + pose) landmarks as input</a:t>
            </a:r>
            <a:endParaRPr lang="en-US" sz="1600" dirty="0"/>
          </a:p>
        </p:txBody>
      </p:sp>
      <p:sp>
        <p:nvSpPr>
          <p:cNvPr id="16" name="Shape 13"/>
          <p:cNvSpPr/>
          <p:nvPr/>
        </p:nvSpPr>
        <p:spPr>
          <a:xfrm>
            <a:off x="8503920" y="2404872"/>
            <a:ext cx="3136392" cy="365760"/>
          </a:xfrm>
          <a:prstGeom prst="roundRect">
            <a:avLst>
              <a:gd name="adj" fmla="val 17500"/>
            </a:avLst>
          </a:prstGeom>
          <a:solidFill>
            <a:srgbClr val="F2F3F5"/>
          </a:solidFill>
          <a:ln w="6350">
            <a:solidFill>
              <a:srgbClr val="C9CDD2"/>
            </a:solidFill>
            <a:prstDash val="solid"/>
          </a:ln>
        </p:spPr>
      </p:sp>
      <p:sp>
        <p:nvSpPr>
          <p:cNvPr id="17" name="Text 14"/>
          <p:cNvSpPr txBox="1"/>
          <p:nvPr/>
        </p:nvSpPr>
        <p:spPr>
          <a:xfrm>
            <a:off x="8641080" y="240487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Hands live; face dormant</a:t>
            </a:r>
            <a:endParaRPr lang="en-US" sz="1250" dirty="0"/>
          </a:p>
        </p:txBody>
      </p:sp>
      <p:sp>
        <p:nvSpPr>
          <p:cNvPr id="18" name="Shape 15"/>
          <p:cNvSpPr/>
          <p:nvPr/>
        </p:nvSpPr>
        <p:spPr>
          <a:xfrm>
            <a:off x="548640" y="3017520"/>
            <a:ext cx="420624" cy="420624"/>
          </a:xfrm>
          <a:prstGeom prst="ellipse">
            <a:avLst/>
          </a:prstGeom>
          <a:solidFill>
            <a:srgbClr val="1F2328"/>
          </a:solidFill>
          <a:ln w="12700">
            <a:solidFill>
              <a:srgbClr val="1F2328"/>
            </a:solidFill>
            <a:prstDash val="solid"/>
          </a:ln>
        </p:spPr>
      </p:sp>
      <p:sp>
        <p:nvSpPr>
          <p:cNvPr id="19" name="Text 16"/>
          <p:cNvSpPr txBox="1"/>
          <p:nvPr/>
        </p:nvSpPr>
        <p:spPr>
          <a:xfrm>
            <a:off x="548640" y="30175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G3</a:t>
            </a:r>
            <a:endParaRPr lang="en-US" sz="1200" dirty="0"/>
          </a:p>
        </p:txBody>
      </p:sp>
      <p:sp>
        <p:nvSpPr>
          <p:cNvPr id="20" name="Text 17"/>
          <p:cNvSpPr txBox="1"/>
          <p:nvPr/>
        </p:nvSpPr>
        <p:spPr>
          <a:xfrm>
            <a:off x="1188720" y="297180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Follow a stream of signs, not one sign at a time</a:t>
            </a:r>
            <a:endParaRPr lang="en-US" sz="1600" dirty="0"/>
          </a:p>
        </p:txBody>
      </p:sp>
      <p:sp>
        <p:nvSpPr>
          <p:cNvPr id="21" name="Shape 18"/>
          <p:cNvSpPr/>
          <p:nvPr/>
        </p:nvSpPr>
        <p:spPr>
          <a:xfrm>
            <a:off x="8503920" y="3044952"/>
            <a:ext cx="3136392" cy="365760"/>
          </a:xfrm>
          <a:prstGeom prst="roundRect">
            <a:avLst>
              <a:gd name="adj" fmla="val 17500"/>
            </a:avLst>
          </a:prstGeom>
          <a:solidFill>
            <a:srgbClr val="F2F3F5"/>
          </a:solidFill>
          <a:ln w="6350">
            <a:solidFill>
              <a:srgbClr val="C9CDD2"/>
            </a:solidFill>
            <a:prstDash val="solid"/>
          </a:ln>
        </p:spPr>
      </p:sp>
      <p:sp>
        <p:nvSpPr>
          <p:cNvPr id="22" name="Text 19"/>
          <p:cNvSpPr txBox="1"/>
          <p:nvPr/>
        </p:nvSpPr>
        <p:spPr>
          <a:xfrm>
            <a:off x="8641080" y="304495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Dwell-based segmentation</a:t>
            </a:r>
            <a:endParaRPr lang="en-US" sz="1250" dirty="0"/>
          </a:p>
        </p:txBody>
      </p:sp>
      <p:sp>
        <p:nvSpPr>
          <p:cNvPr id="23" name="Shape 20"/>
          <p:cNvSpPr/>
          <p:nvPr/>
        </p:nvSpPr>
        <p:spPr>
          <a:xfrm>
            <a:off x="548640" y="3657600"/>
            <a:ext cx="420624" cy="420624"/>
          </a:xfrm>
          <a:prstGeom prst="ellipse">
            <a:avLst/>
          </a:prstGeom>
          <a:solidFill>
            <a:srgbClr val="1F2328"/>
          </a:solidFill>
          <a:ln w="12700">
            <a:solidFill>
              <a:srgbClr val="1F2328"/>
            </a:solidFill>
            <a:prstDash val="solid"/>
          </a:ln>
        </p:spPr>
      </p:sp>
      <p:sp>
        <p:nvSpPr>
          <p:cNvPr id="24" name="Text 21"/>
          <p:cNvSpPr txBox="1"/>
          <p:nvPr/>
        </p:nvSpPr>
        <p:spPr>
          <a:xfrm>
            <a:off x="548640" y="36576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G4</a:t>
            </a:r>
            <a:endParaRPr lang="en-US" sz="1200" dirty="0"/>
          </a:p>
        </p:txBody>
      </p:sp>
      <p:sp>
        <p:nvSpPr>
          <p:cNvPr id="25" name="Text 22"/>
          <p:cNvSpPr txBox="1"/>
          <p:nvPr/>
        </p:nvSpPr>
        <p:spPr>
          <a:xfrm>
            <a:off x="1188720" y="361188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Turn gloss sequences into grammatical sentences with an LLM</a:t>
            </a:r>
            <a:endParaRPr lang="en-US" sz="1600" dirty="0"/>
          </a:p>
        </p:txBody>
      </p:sp>
      <p:sp>
        <p:nvSpPr>
          <p:cNvPr id="26" name="Shape 23"/>
          <p:cNvSpPr/>
          <p:nvPr/>
        </p:nvSpPr>
        <p:spPr>
          <a:xfrm>
            <a:off x="8503920" y="3685032"/>
            <a:ext cx="3136392" cy="365760"/>
          </a:xfrm>
          <a:prstGeom prst="roundRect">
            <a:avLst>
              <a:gd name="adj" fmla="val 17500"/>
            </a:avLst>
          </a:prstGeom>
          <a:solidFill>
            <a:srgbClr val="FFF4C2"/>
          </a:solidFill>
          <a:ln w="6350">
            <a:solidFill>
              <a:srgbClr val="C9CDD2"/>
            </a:solidFill>
            <a:prstDash val="solid"/>
          </a:ln>
        </p:spPr>
      </p:sp>
      <p:sp>
        <p:nvSpPr>
          <p:cNvPr id="27" name="Text 24"/>
          <p:cNvSpPr txBox="1"/>
          <p:nvPr/>
        </p:nvSpPr>
        <p:spPr>
          <a:xfrm>
            <a:off x="8641080" y="368503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Done — N = 3 alternates</a:t>
            </a:r>
            <a:endParaRPr lang="en-US" sz="1250" dirty="0"/>
          </a:p>
        </p:txBody>
      </p:sp>
      <p:sp>
        <p:nvSpPr>
          <p:cNvPr id="28" name="Shape 25"/>
          <p:cNvSpPr/>
          <p:nvPr/>
        </p:nvSpPr>
        <p:spPr>
          <a:xfrm>
            <a:off x="548640" y="4297680"/>
            <a:ext cx="420624" cy="420624"/>
          </a:xfrm>
          <a:prstGeom prst="ellipse">
            <a:avLst/>
          </a:prstGeom>
          <a:solidFill>
            <a:srgbClr val="1F2328"/>
          </a:solidFill>
          <a:ln w="12700">
            <a:solidFill>
              <a:srgbClr val="1F2328"/>
            </a:solidFill>
            <a:prstDash val="solid"/>
          </a:ln>
        </p:spPr>
      </p:sp>
      <p:sp>
        <p:nvSpPr>
          <p:cNvPr id="29" name="Text 26"/>
          <p:cNvSpPr txBox="1"/>
          <p:nvPr/>
        </p:nvSpPr>
        <p:spPr>
          <a:xfrm>
            <a:off x="548640" y="42976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G5</a:t>
            </a:r>
            <a:endParaRPr lang="en-US" sz="1200" dirty="0"/>
          </a:p>
        </p:txBody>
      </p:sp>
      <p:sp>
        <p:nvSpPr>
          <p:cNvPr id="30" name="Text 27"/>
          <p:cNvSpPr txBox="1"/>
          <p:nvPr/>
        </p:nvSpPr>
        <p:spPr>
          <a:xfrm>
            <a:off x="1188720" y="425196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Stay robust to lighting and background</a:t>
            </a:r>
            <a:endParaRPr lang="en-US" sz="1600" dirty="0"/>
          </a:p>
        </p:txBody>
      </p:sp>
      <p:sp>
        <p:nvSpPr>
          <p:cNvPr id="31" name="Shape 28"/>
          <p:cNvSpPr/>
          <p:nvPr/>
        </p:nvSpPr>
        <p:spPr>
          <a:xfrm>
            <a:off x="8503920" y="4325112"/>
            <a:ext cx="3136392" cy="365760"/>
          </a:xfrm>
          <a:prstGeom prst="roundRect">
            <a:avLst>
              <a:gd name="adj" fmla="val 17500"/>
            </a:avLst>
          </a:prstGeom>
          <a:solidFill>
            <a:srgbClr val="FFF4C2"/>
          </a:solidFill>
          <a:ln w="6350">
            <a:solidFill>
              <a:srgbClr val="C9CDD2"/>
            </a:solidFill>
            <a:prstDash val="solid"/>
          </a:ln>
        </p:spPr>
      </p:sp>
      <p:sp>
        <p:nvSpPr>
          <p:cNvPr id="32" name="Text 29"/>
          <p:cNvSpPr txBox="1"/>
          <p:nvPr/>
        </p:nvSpPr>
        <p:spPr>
          <a:xfrm>
            <a:off x="8641080" y="432511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Landmark-based</a:t>
            </a:r>
            <a:endParaRPr lang="en-US" sz="1250" dirty="0"/>
          </a:p>
        </p:txBody>
      </p:sp>
      <p:sp>
        <p:nvSpPr>
          <p:cNvPr id="33" name="Shape 30"/>
          <p:cNvSpPr/>
          <p:nvPr/>
        </p:nvSpPr>
        <p:spPr>
          <a:xfrm>
            <a:off x="548640" y="4937760"/>
            <a:ext cx="420624" cy="420624"/>
          </a:xfrm>
          <a:prstGeom prst="ellipse">
            <a:avLst/>
          </a:prstGeom>
          <a:solidFill>
            <a:srgbClr val="1F2328"/>
          </a:solidFill>
          <a:ln w="12700">
            <a:solidFill>
              <a:srgbClr val="1F2328"/>
            </a:solidFill>
            <a:prstDash val="solid"/>
          </a:ln>
        </p:spPr>
      </p:sp>
      <p:sp>
        <p:nvSpPr>
          <p:cNvPr id="34" name="Text 31"/>
          <p:cNvSpPr txBox="1"/>
          <p:nvPr/>
        </p:nvSpPr>
        <p:spPr>
          <a:xfrm>
            <a:off x="548640" y="49377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G6</a:t>
            </a:r>
            <a:endParaRPr lang="en-US" sz="1200" dirty="0"/>
          </a:p>
        </p:txBody>
      </p:sp>
      <p:sp>
        <p:nvSpPr>
          <p:cNvPr id="35" name="Text 32"/>
          <p:cNvSpPr txBox="1"/>
          <p:nvPr/>
        </p:nvSpPr>
        <p:spPr>
          <a:xfrm>
            <a:off x="1188720" y="489204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Keep a pluggable input layer for a future sensor glove</a:t>
            </a:r>
            <a:endParaRPr lang="en-US" sz="1600" dirty="0"/>
          </a:p>
        </p:txBody>
      </p:sp>
      <p:sp>
        <p:nvSpPr>
          <p:cNvPr id="36" name="Shape 33"/>
          <p:cNvSpPr/>
          <p:nvPr/>
        </p:nvSpPr>
        <p:spPr>
          <a:xfrm>
            <a:off x="8503920" y="4965192"/>
            <a:ext cx="3136392" cy="365760"/>
          </a:xfrm>
          <a:prstGeom prst="roundRect">
            <a:avLst>
              <a:gd name="adj" fmla="val 17500"/>
            </a:avLst>
          </a:prstGeom>
          <a:solidFill>
            <a:srgbClr val="FFF4C2"/>
          </a:solidFill>
          <a:ln w="6350">
            <a:solidFill>
              <a:srgbClr val="C9CDD2"/>
            </a:solidFill>
            <a:prstDash val="solid"/>
          </a:ln>
        </p:spPr>
      </p:sp>
      <p:sp>
        <p:nvSpPr>
          <p:cNvPr id="37" name="Text 34"/>
          <p:cNvSpPr txBox="1"/>
          <p:nvPr/>
        </p:nvSpPr>
        <p:spPr>
          <a:xfrm>
            <a:off x="8641080" y="496519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Interface in place</a:t>
            </a:r>
            <a:endParaRPr lang="en-US" sz="1250" dirty="0"/>
          </a:p>
        </p:txBody>
      </p:sp>
      <p:sp>
        <p:nvSpPr>
          <p:cNvPr id="38" name="Shape 35"/>
          <p:cNvSpPr/>
          <p:nvPr/>
        </p:nvSpPr>
        <p:spPr>
          <a:xfrm>
            <a:off x="548640" y="5577840"/>
            <a:ext cx="420624" cy="420624"/>
          </a:xfrm>
          <a:prstGeom prst="ellipse">
            <a:avLst/>
          </a:prstGeom>
          <a:solidFill>
            <a:srgbClr val="1F2328"/>
          </a:solidFill>
          <a:ln w="12700">
            <a:solidFill>
              <a:srgbClr val="1F2328"/>
            </a:solidFill>
            <a:prstDash val="solid"/>
          </a:ln>
        </p:spPr>
      </p:sp>
      <p:sp>
        <p:nvSpPr>
          <p:cNvPr id="39" name="Text 36"/>
          <p:cNvSpPr txBox="1"/>
          <p:nvPr/>
        </p:nvSpPr>
        <p:spPr>
          <a:xfrm>
            <a:off x="548640" y="55778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G7</a:t>
            </a:r>
            <a:endParaRPr lang="en-US" sz="1200" dirty="0"/>
          </a:p>
        </p:txBody>
      </p:sp>
      <p:sp>
        <p:nvSpPr>
          <p:cNvPr id="40" name="Text 37"/>
          <p:cNvSpPr txBox="1"/>
          <p:nvPr/>
        </p:nvSpPr>
        <p:spPr>
          <a:xfrm>
            <a:off x="1188720" y="5532120"/>
            <a:ext cx="6949440" cy="512064"/>
          </a:xfrm>
          <a:prstGeom prst="rect">
            <a:avLst/>
          </a:prstGeom>
          <a:noFill/>
          <a:ln/>
        </p:spPr>
        <p:txBody>
          <a:bodyPr wrap="square" lIns="0" tIns="0" rIns="0" bIns="0" rtlCol="0" anchor="ctr"/>
          <a:lstStyle/>
          <a:p>
            <a:pPr indent="0" marL="0">
              <a:buNone/>
            </a:pPr>
            <a:r>
              <a:rPr lang="en-US" sz="1600" dirty="0">
                <a:solidFill>
                  <a:srgbClr val="2D333B"/>
                </a:solidFill>
                <a:latin typeface="Calibri" pitchFamily="34" charset="0"/>
                <a:ea typeface="Calibri" pitchFamily="34" charset="-122"/>
                <a:cs typeface="Calibri" pitchFamily="34" charset="-120"/>
              </a:rPr>
              <a:t>Ship as an installable web app with real-time output</a:t>
            </a:r>
            <a:endParaRPr lang="en-US" sz="1600" dirty="0"/>
          </a:p>
        </p:txBody>
      </p:sp>
      <p:sp>
        <p:nvSpPr>
          <p:cNvPr id="41" name="Shape 38"/>
          <p:cNvSpPr/>
          <p:nvPr/>
        </p:nvSpPr>
        <p:spPr>
          <a:xfrm>
            <a:off x="8503920" y="5605272"/>
            <a:ext cx="3136392" cy="365760"/>
          </a:xfrm>
          <a:prstGeom prst="roundRect">
            <a:avLst>
              <a:gd name="adj" fmla="val 17500"/>
            </a:avLst>
          </a:prstGeom>
          <a:solidFill>
            <a:srgbClr val="FFF4C2"/>
          </a:solidFill>
          <a:ln w="6350">
            <a:solidFill>
              <a:srgbClr val="C9CDD2"/>
            </a:solidFill>
            <a:prstDash val="solid"/>
          </a:ln>
        </p:spPr>
      </p:sp>
      <p:sp>
        <p:nvSpPr>
          <p:cNvPr id="42" name="Text 39"/>
          <p:cNvSpPr txBox="1"/>
          <p:nvPr/>
        </p:nvSpPr>
        <p:spPr>
          <a:xfrm>
            <a:off x="8641080" y="5605272"/>
            <a:ext cx="2880360" cy="365760"/>
          </a:xfrm>
          <a:prstGeom prst="rect">
            <a:avLst/>
          </a:prstGeom>
          <a:noFill/>
          <a:ln/>
        </p:spPr>
        <p:txBody>
          <a:bodyPr wrap="square" lIns="0" tIns="0" rIns="0" bIns="0" rtlCol="0" anchor="ctr"/>
          <a:lstStyle/>
          <a:p>
            <a:pPr indent="0" marL="0">
              <a:buNone/>
            </a:pPr>
            <a:r>
              <a:rPr lang="en-US" sz="1250" dirty="0">
                <a:solidFill>
                  <a:srgbClr val="1F2328"/>
                </a:solidFill>
                <a:latin typeface="Calibri" pitchFamily="34" charset="0"/>
                <a:ea typeface="Calibri" pitchFamily="34" charset="-122"/>
                <a:cs typeface="Calibri" pitchFamily="34" charset="-120"/>
              </a:rPr>
              <a:t>PWA, static deploy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83794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83794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REQUIREMENTS</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Functional and non-functional requirements</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08</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Text 5"/>
          <p:cNvSpPr txBox="1"/>
          <p:nvPr/>
        </p:nvSpPr>
        <p:spPr>
          <a:xfrm>
            <a:off x="548640" y="1600200"/>
            <a:ext cx="5303520" cy="365760"/>
          </a:xfrm>
          <a:prstGeom prst="rect">
            <a:avLst/>
          </a:prstGeom>
          <a:noFill/>
          <a:ln/>
        </p:spPr>
        <p:txBody>
          <a:bodyPr wrap="square" lIns="0" tIns="0" rIns="0" bIns="0" rtlCol="0" anchor="ctr"/>
          <a:lstStyle/>
          <a:p>
            <a:pPr indent="0" marL="0">
              <a:buNone/>
            </a:pPr>
            <a:r>
              <a:rPr lang="en-US" sz="1900" b="1" dirty="0">
                <a:solidFill>
                  <a:srgbClr val="1F2328"/>
                </a:solidFill>
                <a:latin typeface="Cambria" pitchFamily="34" charset="0"/>
                <a:ea typeface="Cambria" pitchFamily="34" charset="-122"/>
                <a:cs typeface="Cambria" pitchFamily="34" charset="-120"/>
              </a:rPr>
              <a:t>Functional</a:t>
            </a:r>
            <a:endParaRPr lang="en-US" sz="1900" dirty="0"/>
          </a:p>
        </p:txBody>
      </p:sp>
      <p:sp>
        <p:nvSpPr>
          <p:cNvPr id="9" name="Text 6"/>
          <p:cNvSpPr txBox="1"/>
          <p:nvPr/>
        </p:nvSpPr>
        <p:spPr>
          <a:xfrm>
            <a:off x="548640" y="2057400"/>
            <a:ext cx="5394960" cy="4206240"/>
          </a:xfrm>
          <a:prstGeom prst="rect">
            <a:avLst/>
          </a:prstGeom>
          <a:noFill/>
          <a:ln/>
        </p:spPr>
        <p:txBody>
          <a:bodyPr wrap="square" lIns="0" tIns="0" rIns="0" bIns="0" rtlCol="0" anchor="t"/>
          <a:lstStyle/>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Access the webcam with explicit permission; live preview</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Extract per-frame hand landmarks (MediaPipe)</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Normalise landmarks — translation, scale, aspect invariant</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Classify the current letter / word with a confidence score</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Smooth predictions over time to stop flicker</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Assemble stable predictions into words; auto-space on idle</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Editable transcript with backspace and clear</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Translate gloss to English and speak it aloud</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Practice mode with live score against a reference</a:t>
            </a:r>
            <a:endParaRPr lang="en-US" sz="1450" dirty="0"/>
          </a:p>
          <a:p>
            <a:pPr marL="203200" indent="-203200">
              <a:spcAft>
                <a:spcPts val="700"/>
              </a:spcAft>
              <a:buSzPct val="100000"/>
              <a:buChar char="•"/>
            </a:pPr>
            <a:r>
              <a:rPr lang="en-US" sz="1450" dirty="0">
                <a:solidFill>
                  <a:srgbClr val="2D333B"/>
                </a:solidFill>
                <a:latin typeface="Calibri" pitchFamily="34" charset="0"/>
                <a:ea typeface="Calibri" pitchFamily="34" charset="-122"/>
                <a:cs typeface="Calibri" pitchFamily="34" charset="-120"/>
              </a:rPr>
              <a:t>Landmark overlay and FPS badge for transparency</a:t>
            </a:r>
            <a:endParaRPr lang="en-US" sz="1450" dirty="0"/>
          </a:p>
        </p:txBody>
      </p:sp>
      <p:sp>
        <p:nvSpPr>
          <p:cNvPr id="10" name="Shape 7"/>
          <p:cNvSpPr/>
          <p:nvPr/>
        </p:nvSpPr>
        <p:spPr>
          <a:xfrm>
            <a:off x="6355080" y="1600200"/>
            <a:ext cx="5285232" cy="4572000"/>
          </a:xfrm>
          <a:prstGeom prst="roundRect">
            <a:avLst>
              <a:gd name="adj" fmla="val 2400"/>
            </a:avLst>
          </a:prstGeom>
          <a:solidFill>
            <a:srgbClr val="F2F3F5"/>
          </a:solidFill>
          <a:ln w="12700">
            <a:solidFill>
              <a:srgbClr val="F2F3F5"/>
            </a:solidFill>
            <a:prstDash val="solid"/>
          </a:ln>
        </p:spPr>
      </p:sp>
      <p:sp>
        <p:nvSpPr>
          <p:cNvPr id="11" name="Text 8"/>
          <p:cNvSpPr txBox="1"/>
          <p:nvPr/>
        </p:nvSpPr>
        <p:spPr>
          <a:xfrm>
            <a:off x="6629400" y="1783080"/>
            <a:ext cx="4754880" cy="365760"/>
          </a:xfrm>
          <a:prstGeom prst="rect">
            <a:avLst/>
          </a:prstGeom>
          <a:noFill/>
          <a:ln/>
        </p:spPr>
        <p:txBody>
          <a:bodyPr wrap="square" lIns="0" tIns="0" rIns="0" bIns="0" rtlCol="0" anchor="ctr"/>
          <a:lstStyle/>
          <a:p>
            <a:pPr indent="0" marL="0">
              <a:buNone/>
            </a:pPr>
            <a:r>
              <a:rPr lang="en-US" sz="1900" b="1" dirty="0">
                <a:solidFill>
                  <a:srgbClr val="1F2328"/>
                </a:solidFill>
                <a:latin typeface="Cambria" pitchFamily="34" charset="0"/>
                <a:ea typeface="Cambria" pitchFamily="34" charset="-122"/>
                <a:cs typeface="Cambria" pitchFamily="34" charset="-120"/>
              </a:rPr>
              <a:t>Non-functional</a:t>
            </a:r>
            <a:endParaRPr lang="en-US" sz="1900" dirty="0"/>
          </a:p>
        </p:txBody>
      </p:sp>
      <p:sp>
        <p:nvSpPr>
          <p:cNvPr id="12" name="Text 9"/>
          <p:cNvSpPr txBox="1"/>
          <p:nvPr/>
        </p:nvSpPr>
        <p:spPr>
          <a:xfrm>
            <a:off x="6629400" y="2240280"/>
            <a:ext cx="4800600" cy="3840480"/>
          </a:xfrm>
          <a:prstGeom prst="rect">
            <a:avLst/>
          </a:prstGeom>
          <a:noFill/>
          <a:ln/>
        </p:spPr>
        <p:txBody>
          <a:bodyPr wrap="square" lIns="0" tIns="0" rIns="0" bIns="0" rtlCol="0" anchor="t"/>
          <a:lstStyle/>
          <a:p>
            <a:pPr marL="203200" indent="-203200">
              <a:buSzPct val="100000"/>
              <a:buChar char="•"/>
            </a:pPr>
            <a:r>
              <a:rPr lang="en-US" sz="1450" b="1" dirty="0">
                <a:solidFill>
                  <a:srgbClr val="2D333B"/>
                </a:solidFill>
                <a:latin typeface="Calibri" pitchFamily="34" charset="0"/>
                <a:ea typeface="Calibri" pitchFamily="34" charset="-122"/>
                <a:cs typeface="Calibri" pitchFamily="34" charset="-120"/>
              </a:rPr>
              <a:t>Latency: </a:t>
            </a:r>
            <a:pPr indent="0" marL="0">
              <a:spcAft>
                <a:spcPts val="700"/>
              </a:spcAft>
              <a:buNone/>
            </a:pPr>
            <a:r>
              <a:rPr lang="en-US" sz="1450" dirty="0">
                <a:solidFill>
                  <a:srgbClr val="2D333B"/>
                </a:solidFill>
                <a:latin typeface="Calibri" pitchFamily="34" charset="0"/>
                <a:ea typeface="Calibri" pitchFamily="34" charset="-122"/>
                <a:cs typeface="Calibri" pitchFamily="34" charset="-120"/>
              </a:rPr>
              <a:t>≤ 200 ms frame → prediction, ≥ 15 FPS on a mid-range laptop</a:t>
            </a:r>
            <a:endParaRPr lang="en-US" sz="1450" dirty="0"/>
          </a:p>
          <a:p>
            <a:pPr marL="203200" indent="-203200">
              <a:buSzPct val="100000"/>
              <a:buChar char="•"/>
            </a:pPr>
            <a:r>
              <a:rPr lang="en-US" sz="1450" b="1" dirty="0">
                <a:solidFill>
                  <a:srgbClr val="2D333B"/>
                </a:solidFill>
                <a:latin typeface="Calibri" pitchFamily="34" charset="0"/>
                <a:ea typeface="Calibri" pitchFamily="34" charset="-122"/>
                <a:cs typeface="Calibri" pitchFamily="34" charset="-120"/>
              </a:rPr>
              <a:t>Privacy: </a:t>
            </a:r>
            <a:pPr indent="0" marL="0">
              <a:spcAft>
                <a:spcPts val="700"/>
              </a:spcAft>
              <a:buNone/>
            </a:pPr>
            <a:r>
              <a:rPr lang="en-US" sz="1450" dirty="0">
                <a:solidFill>
                  <a:srgbClr val="2D333B"/>
                </a:solidFill>
                <a:latin typeface="Calibri" pitchFamily="34" charset="0"/>
                <a:ea typeface="Calibri" pitchFamily="34" charset="-122"/>
                <a:cs typeface="Calibri" pitchFamily="34" charset="-120"/>
              </a:rPr>
              <a:t>raw frames never leave the device</a:t>
            </a:r>
            <a:endParaRPr lang="en-US" sz="1450" dirty="0"/>
          </a:p>
          <a:p>
            <a:pPr marL="203200" indent="-203200">
              <a:buSzPct val="100000"/>
              <a:buChar char="•"/>
            </a:pPr>
            <a:r>
              <a:rPr lang="en-US" sz="1450" b="1" dirty="0">
                <a:solidFill>
                  <a:srgbClr val="2D333B"/>
                </a:solidFill>
                <a:latin typeface="Calibri" pitchFamily="34" charset="0"/>
                <a:ea typeface="Calibri" pitchFamily="34" charset="-122"/>
                <a:cs typeface="Calibri" pitchFamily="34" charset="-120"/>
              </a:rPr>
              <a:t>Robustness: </a:t>
            </a:r>
            <a:pPr indent="0" marL="0">
              <a:spcAft>
                <a:spcPts val="700"/>
              </a:spcAft>
              <a:buNone/>
            </a:pPr>
            <a:r>
              <a:rPr lang="en-US" sz="1450" dirty="0">
                <a:solidFill>
                  <a:srgbClr val="2D333B"/>
                </a:solidFill>
                <a:latin typeface="Calibri" pitchFamily="34" charset="0"/>
                <a:ea typeface="Calibri" pitchFamily="34" charset="-122"/>
                <a:cs typeface="Calibri" pitchFamily="34" charset="-120"/>
              </a:rPr>
              <a:t>usable across lighting and backgrounds</a:t>
            </a:r>
            <a:endParaRPr lang="en-US" sz="1450" dirty="0"/>
          </a:p>
          <a:p>
            <a:pPr marL="203200" indent="-203200">
              <a:buSzPct val="100000"/>
              <a:buChar char="•"/>
            </a:pPr>
            <a:r>
              <a:rPr lang="en-US" sz="1450" b="1" dirty="0">
                <a:solidFill>
                  <a:srgbClr val="2D333B"/>
                </a:solidFill>
                <a:latin typeface="Calibri" pitchFamily="34" charset="0"/>
                <a:ea typeface="Calibri" pitchFamily="34" charset="-122"/>
                <a:cs typeface="Calibri" pitchFamily="34" charset="-120"/>
              </a:rPr>
              <a:t>Accessibility: </a:t>
            </a:r>
            <a:pPr indent="0" marL="0">
              <a:spcAft>
                <a:spcPts val="700"/>
              </a:spcAft>
              <a:buNone/>
            </a:pPr>
            <a:r>
              <a:rPr lang="en-US" sz="1450" dirty="0">
                <a:solidFill>
                  <a:srgbClr val="2D333B"/>
                </a:solidFill>
                <a:latin typeface="Calibri" pitchFamily="34" charset="0"/>
                <a:ea typeface="Calibri" pitchFamily="34" charset="-122"/>
                <a:cs typeface="Calibri" pitchFamily="34" charset="-120"/>
              </a:rPr>
              <a:t>high contrast, large text, keyboard navigation, reduced-motion support</a:t>
            </a:r>
            <a:endParaRPr lang="en-US" sz="1450" dirty="0"/>
          </a:p>
          <a:p>
            <a:pPr marL="203200" indent="-203200">
              <a:buSzPct val="100000"/>
              <a:buChar char="•"/>
            </a:pPr>
            <a:r>
              <a:rPr lang="en-US" sz="1450" b="1" dirty="0">
                <a:solidFill>
                  <a:srgbClr val="2D333B"/>
                </a:solidFill>
                <a:latin typeface="Calibri" pitchFamily="34" charset="0"/>
                <a:ea typeface="Calibri" pitchFamily="34" charset="-122"/>
                <a:cs typeface="Calibri" pitchFamily="34" charset="-120"/>
              </a:rPr>
              <a:t>Portability: </a:t>
            </a:r>
            <a:pPr indent="0" marL="0">
              <a:spcAft>
                <a:spcPts val="700"/>
              </a:spcAft>
              <a:buNone/>
            </a:pPr>
            <a:r>
              <a:rPr lang="en-US" sz="1450" dirty="0">
                <a:solidFill>
                  <a:srgbClr val="2D333B"/>
                </a:solidFill>
                <a:latin typeface="Calibri" pitchFamily="34" charset="0"/>
                <a:ea typeface="Calibri" pitchFamily="34" charset="-122"/>
                <a:cs typeface="Calibri" pitchFamily="34" charset="-120"/>
              </a:rPr>
              <a:t>Chrome, Edge, Safari; no install required</a:t>
            </a:r>
            <a:endParaRPr lang="en-US" sz="1450" dirty="0"/>
          </a:p>
          <a:p>
            <a:pPr marL="203200" indent="-203200">
              <a:buSzPct val="100000"/>
              <a:buChar char="•"/>
            </a:pPr>
            <a:r>
              <a:rPr lang="en-US" sz="1450" b="1" dirty="0">
                <a:solidFill>
                  <a:srgbClr val="2D333B"/>
                </a:solidFill>
                <a:latin typeface="Calibri" pitchFamily="34" charset="0"/>
                <a:ea typeface="Calibri" pitchFamily="34" charset="-122"/>
                <a:cs typeface="Calibri" pitchFamily="34" charset="-120"/>
              </a:rPr>
              <a:t>Extensibility: </a:t>
            </a:r>
            <a:pPr indent="0" marL="0">
              <a:spcAft>
                <a:spcPts val="700"/>
              </a:spcAft>
              <a:buNone/>
            </a:pPr>
            <a:r>
              <a:rPr lang="en-US" sz="1450" dirty="0">
                <a:solidFill>
                  <a:srgbClr val="2D333B"/>
                </a:solidFill>
                <a:latin typeface="Calibri" pitchFamily="34" charset="0"/>
                <a:ea typeface="Calibri" pitchFamily="34" charset="-122"/>
                <a:cs typeface="Calibri" pitchFamily="34" charset="-120"/>
              </a:rPr>
              <a:t>new sign language = new model + labels, no core rewrite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83794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83794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REQUIREMENTS</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Hardware, software and technology stack</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09</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645920"/>
            <a:ext cx="3566160" cy="2148840"/>
          </a:xfrm>
          <a:prstGeom prst="roundRect">
            <a:avLst>
              <a:gd name="adj" fmla="val 4255"/>
            </a:avLst>
          </a:prstGeom>
          <a:solidFill>
            <a:srgbClr val="F2F3F5"/>
          </a:solidFill>
          <a:ln w="12700">
            <a:solidFill>
              <a:srgbClr val="F2F3F5"/>
            </a:solidFill>
            <a:prstDash val="solid"/>
          </a:ln>
        </p:spPr>
      </p:sp>
      <p:sp>
        <p:nvSpPr>
          <p:cNvPr id="9" name="Text 6"/>
          <p:cNvSpPr txBox="1"/>
          <p:nvPr/>
        </p:nvSpPr>
        <p:spPr>
          <a:xfrm>
            <a:off x="777240" y="1847088"/>
            <a:ext cx="3108960"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Hardware</a:t>
            </a:r>
            <a:endParaRPr lang="en-US" sz="1700" dirty="0"/>
          </a:p>
        </p:txBody>
      </p:sp>
      <p:sp>
        <p:nvSpPr>
          <p:cNvPr id="10" name="Text 7"/>
          <p:cNvSpPr txBox="1"/>
          <p:nvPr/>
        </p:nvSpPr>
        <p:spPr>
          <a:xfrm>
            <a:off x="777240" y="2258568"/>
            <a:ext cx="3108960" cy="1399032"/>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Laptop or phone with a webcam (640×480 is enough)</a:t>
            </a:r>
            <a:endParaRPr lang="en-US" sz="1400" dirty="0"/>
          </a:p>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Dual-core CPU, 4 GB RAM</a:t>
            </a:r>
            <a:endParaRPr lang="en-US" sz="1400" dirty="0"/>
          </a:p>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No GPU or sensor glove required</a:t>
            </a:r>
            <a:endParaRPr lang="en-US" sz="1400" dirty="0"/>
          </a:p>
        </p:txBody>
      </p:sp>
      <p:sp>
        <p:nvSpPr>
          <p:cNvPr id="11" name="Shape 8"/>
          <p:cNvSpPr/>
          <p:nvPr/>
        </p:nvSpPr>
        <p:spPr>
          <a:xfrm>
            <a:off x="548640" y="3977640"/>
            <a:ext cx="3566160" cy="2194560"/>
          </a:xfrm>
          <a:prstGeom prst="roundRect">
            <a:avLst>
              <a:gd name="adj" fmla="val 4167"/>
            </a:avLst>
          </a:prstGeom>
          <a:solidFill>
            <a:srgbClr val="F2F3F5"/>
          </a:solidFill>
          <a:ln w="12700">
            <a:solidFill>
              <a:srgbClr val="F2F3F5"/>
            </a:solidFill>
            <a:prstDash val="solid"/>
          </a:ln>
        </p:spPr>
      </p:sp>
      <p:sp>
        <p:nvSpPr>
          <p:cNvPr id="12" name="Text 9"/>
          <p:cNvSpPr txBox="1"/>
          <p:nvPr/>
        </p:nvSpPr>
        <p:spPr>
          <a:xfrm>
            <a:off x="777240" y="4178808"/>
            <a:ext cx="3108960"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Software</a:t>
            </a:r>
            <a:endParaRPr lang="en-US" sz="1700" dirty="0"/>
          </a:p>
        </p:txBody>
      </p:sp>
      <p:sp>
        <p:nvSpPr>
          <p:cNvPr id="13" name="Text 10"/>
          <p:cNvSpPr txBox="1"/>
          <p:nvPr/>
        </p:nvSpPr>
        <p:spPr>
          <a:xfrm>
            <a:off x="777240" y="4590288"/>
            <a:ext cx="3108960" cy="1444752"/>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Modern browser (Chrome / Edge / Safari)</a:t>
            </a:r>
            <a:endParaRPr lang="en-US" sz="1400" dirty="0"/>
          </a:p>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Development: Node 23.6+, Python with uv</a:t>
            </a:r>
            <a:endParaRPr lang="en-US" sz="1400" dirty="0"/>
          </a:p>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Optional: NVIDIA API key for Translate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389120" y="1645920"/>
          <a:ext cx="7251192" cy="914400"/>
        </p:xfrm>
        <a:graphic>
          <a:graphicData uri="http://schemas.openxmlformats.org/drawingml/2006/table">
            <a:tbl>
              <a:tblPr/>
              <a:tblGrid>
                <a:gridCol w="1828800"/>
                <a:gridCol w="5422392"/>
              </a:tblGrid>
              <a:tr h="44805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Layer</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Technology</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Language</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TypeScript (app), Python (training)</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UI &amp; build</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React 19, Vite 8, Tailwind CSS 4, React Router 7</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State</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Zustand</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Perception</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MediaPipe Tasks-Vision — HandLandmarker (+ Face, Pose)</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Classifier</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scikit-learn MLP → JSON weights → TypeScript forward pass</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Translation</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NVIDIA NIM · nemotron-mini-4b-instruct via proxy</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Speech</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Web Speech API (browser text-to-speech)</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Deploy</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Static build on Vercel / Netlify; installable PWA</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48056">
                <a:tc>
                  <a:txBody>
                    <a:bodyPr/>
                    <a:lstStyle/>
                    <a:p>
                      <a:pPr indent="0" marL="0">
                        <a:buNone/>
                      </a:pPr>
                      <a:r>
                        <a:rPr lang="en-US" sz="1350" b="1" dirty="0">
                          <a:solidFill>
                            <a:srgbClr val="2D333B"/>
                          </a:solidFill>
                          <a:latin typeface="Calibri" pitchFamily="34" charset="0"/>
                          <a:ea typeface="Calibri" pitchFamily="34" charset="-122"/>
                          <a:cs typeface="Calibri" pitchFamily="34" charset="-120"/>
                        </a:rPr>
                        <a:t>Quality</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50" dirty="0">
                          <a:solidFill>
                            <a:srgbClr val="2D333B"/>
                          </a:solidFill>
                          <a:latin typeface="Calibri" pitchFamily="34" charset="0"/>
                          <a:ea typeface="Calibri" pitchFamily="34" charset="-122"/>
                          <a:cs typeface="Calibri" pitchFamily="34" charset="-120"/>
                        </a:rPr>
                        <a:t>oxlint, Prettier, golden-output regression test</a:t>
                      </a:r>
                      <a:endParaRPr lang="en-US" sz="135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956816"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956816"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SYSTEM DESIGN</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System architecture</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10</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SignSpeak system architecture">    </p:cNvPr>
          <p:cNvPicPr>
            <a:picLocks noChangeAspect="1"/>
          </p:cNvPicPr>
          <p:nvPr/>
        </p:nvPicPr>
        <p:blipFill>
          <a:blip r:embed="rId1"/>
          <a:stretch>
            <a:fillRect/>
          </a:stretch>
        </p:blipFill>
        <p:spPr>
          <a:xfrm>
            <a:off x="548640" y="1827547"/>
            <a:ext cx="11094415" cy="44373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07568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07568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USE CASE</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Use case diagram</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11</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Use case diagram">    </p:cNvPr>
          <p:cNvPicPr>
            <a:picLocks noChangeAspect="1"/>
          </p:cNvPicPr>
          <p:nvPr/>
        </p:nvPicPr>
        <p:blipFill>
          <a:blip r:embed="rId1"/>
          <a:stretch>
            <a:fillRect/>
          </a:stretch>
        </p:blipFill>
        <p:spPr>
          <a:xfrm>
            <a:off x="802204" y="1508760"/>
            <a:ext cx="10587288"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719072"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719072"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CLASS</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Class diagram — recognition core</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12</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Class diagram">    </p:cNvPr>
          <p:cNvPicPr>
            <a:picLocks noChangeAspect="1"/>
          </p:cNvPicPr>
          <p:nvPr/>
        </p:nvPicPr>
        <p:blipFill>
          <a:blip r:embed="rId1"/>
          <a:stretch>
            <a:fillRect/>
          </a:stretch>
        </p:blipFill>
        <p:spPr>
          <a:xfrm>
            <a:off x="365760" y="1934282"/>
            <a:ext cx="11460175" cy="41781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07568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07568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SEQUENCE</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Sequence diagram — real-time recognition loop</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13</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Sequence diagram for recognition">    </p:cNvPr>
          <p:cNvPicPr>
            <a:picLocks noChangeAspect="1"/>
          </p:cNvPicPr>
          <p:nvPr/>
        </p:nvPicPr>
        <p:blipFill>
          <a:blip r:embed="rId1"/>
          <a:stretch>
            <a:fillRect/>
          </a:stretch>
        </p:blipFill>
        <p:spPr>
          <a:xfrm>
            <a:off x="1265098" y="1554480"/>
            <a:ext cx="9661499" cy="4937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07568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07568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SEQUENCE</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Sequence diagram — gloss to English translation</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14</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Sequence diagram for translation">    </p:cNvPr>
          <p:cNvPicPr>
            <a:picLocks noChangeAspect="1"/>
          </p:cNvPicPr>
          <p:nvPr/>
        </p:nvPicPr>
        <p:blipFill>
          <a:blip r:embed="rId1"/>
          <a:stretch>
            <a:fillRect/>
          </a:stretch>
        </p:blipFill>
        <p:spPr>
          <a:xfrm>
            <a:off x="1322024" y="1554480"/>
            <a:ext cx="9547647" cy="4937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07568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07568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ACTIVITY</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Activity diagram — from sign to transcript</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15</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Activity diagram">    </p:cNvPr>
          <p:cNvPicPr>
            <a:picLocks noChangeAspect="1"/>
          </p:cNvPicPr>
          <p:nvPr/>
        </p:nvPicPr>
        <p:blipFill>
          <a:blip r:embed="rId1"/>
          <a:stretch>
            <a:fillRect/>
          </a:stretch>
        </p:blipFill>
        <p:spPr>
          <a:xfrm>
            <a:off x="1179024" y="1463040"/>
            <a:ext cx="4134192" cy="5120640"/>
          </a:xfrm>
          <a:prstGeom prst="rect">
            <a:avLst/>
          </a:prstGeom>
        </p:spPr>
      </p:pic>
      <p:sp>
        <p:nvSpPr>
          <p:cNvPr id="9" name="Text 5"/>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900" b="1" dirty="0">
                <a:solidFill>
                  <a:srgbClr val="1F2328"/>
                </a:solidFill>
                <a:latin typeface="Cambria" pitchFamily="34" charset="0"/>
                <a:ea typeface="Cambria" pitchFamily="34" charset="-122"/>
                <a:cs typeface="Cambria" pitchFamily="34" charset="-120"/>
              </a:rPr>
              <a:t>Key rules</a:t>
            </a:r>
            <a:endParaRPr lang="en-US" sz="1900" dirty="0"/>
          </a:p>
        </p:txBody>
      </p:sp>
      <p:sp>
        <p:nvSpPr>
          <p:cNvPr id="10" name="Text 6"/>
          <p:cNvSpPr txBox="1"/>
          <p:nvPr/>
        </p:nvSpPr>
        <p:spPr>
          <a:xfrm>
            <a:off x="6309360" y="2194560"/>
            <a:ext cx="5303520" cy="4023360"/>
          </a:xfrm>
          <a:prstGeom prst="rect">
            <a:avLst/>
          </a:prstGeom>
          <a:noFill/>
          <a:ln/>
        </p:spPr>
        <p:txBody>
          <a:bodyPr wrap="square" lIns="0" tIns="0" rIns="0" bIns="0" rtlCol="0" anchor="t"/>
          <a:lstStyle/>
          <a:p>
            <a:pPr marL="203200" indent="-203200">
              <a:buSzPct val="100000"/>
              <a:buChar char="•"/>
            </a:pPr>
            <a:r>
              <a:rPr lang="en-US" sz="1500" b="1" dirty="0">
                <a:solidFill>
                  <a:srgbClr val="2D333B"/>
                </a:solidFill>
                <a:latin typeface="Calibri" pitchFamily="34" charset="0"/>
                <a:ea typeface="Calibri" pitchFamily="34" charset="-122"/>
                <a:cs typeface="Calibri" pitchFamily="34" charset="-120"/>
              </a:rPr>
              <a:t>Window: </a:t>
            </a:r>
            <a:pPr indent="0" marL="0">
              <a:spcAft>
                <a:spcPts val="700"/>
              </a:spcAft>
              <a:buNone/>
            </a:pPr>
            <a:r>
              <a:rPr lang="en-US" sz="1500" dirty="0">
                <a:solidFill>
                  <a:srgbClr val="2D333B"/>
                </a:solidFill>
                <a:latin typeface="Calibri" pitchFamily="34" charset="0"/>
                <a:ea typeface="Calibri" pitchFamily="34" charset="-122"/>
                <a:cs typeface="Calibri" pitchFamily="34" charset="-120"/>
              </a:rPr>
              <a:t>the classifier keeps the last 30 frames and needs at least 5 before predicting.</a:t>
            </a:r>
            <a:endParaRPr lang="en-US" sz="1500" dirty="0"/>
          </a:p>
          <a:p>
            <a:pPr marL="203200" indent="-203200">
              <a:buSzPct val="100000"/>
              <a:buChar char="•"/>
            </a:pPr>
            <a:r>
              <a:rPr lang="en-US" sz="1500" b="1" dirty="0">
                <a:solidFill>
                  <a:srgbClr val="2D333B"/>
                </a:solidFill>
                <a:latin typeface="Calibri" pitchFamily="34" charset="0"/>
                <a:ea typeface="Calibri" pitchFamily="34" charset="-122"/>
                <a:cs typeface="Calibri" pitchFamily="34" charset="-120"/>
              </a:rPr>
              <a:t>Features: </a:t>
            </a:r>
            <a:pPr indent="0" marL="0">
              <a:spcAft>
                <a:spcPts val="700"/>
              </a:spcAft>
              <a:buNone/>
            </a:pPr>
            <a:r>
              <a:rPr lang="en-US" sz="1500" dirty="0">
                <a:solidFill>
                  <a:srgbClr val="2D333B"/>
                </a:solidFill>
                <a:latin typeface="Calibri" pitchFamily="34" charset="0"/>
                <a:ea typeface="Calibri" pitchFamily="34" charset="-122"/>
                <a:cs typeface="Calibri" pitchFamily="34" charset="-120"/>
              </a:rPr>
              <a:t>mean + standard deviation over the window (words: over 5 time chunks, so motion is kept).</a:t>
            </a:r>
            <a:endParaRPr lang="en-US" sz="1500" dirty="0"/>
          </a:p>
          <a:p>
            <a:pPr marL="203200" indent="-203200">
              <a:buSzPct val="100000"/>
              <a:buChar char="•"/>
            </a:pPr>
            <a:r>
              <a:rPr lang="en-US" sz="1500" b="1" dirty="0">
                <a:solidFill>
                  <a:srgbClr val="2D333B"/>
                </a:solidFill>
                <a:latin typeface="Calibri" pitchFamily="34" charset="0"/>
                <a:ea typeface="Calibri" pitchFamily="34" charset="-122"/>
                <a:cs typeface="Calibri" pitchFamily="34" charset="-120"/>
              </a:rPr>
              <a:t>Confidence: </a:t>
            </a:r>
            <a:pPr indent="0" marL="0">
              <a:spcAft>
                <a:spcPts val="700"/>
              </a:spcAft>
              <a:buNone/>
            </a:pPr>
            <a:r>
              <a:rPr lang="en-US" sz="1500" dirty="0">
                <a:solidFill>
                  <a:srgbClr val="2D333B"/>
                </a:solidFill>
                <a:latin typeface="Calibri" pitchFamily="34" charset="0"/>
                <a:ea typeface="Calibri" pitchFamily="34" charset="-122"/>
                <a:cs typeface="Calibri" pitchFamily="34" charset="-120"/>
              </a:rPr>
              <a:t>≥ 0.60 for letters, ≥ 0.55 for words.</a:t>
            </a:r>
            <a:endParaRPr lang="en-US" sz="1500" dirty="0"/>
          </a:p>
          <a:p>
            <a:pPr marL="203200" indent="-203200">
              <a:buSzPct val="100000"/>
              <a:buChar char="•"/>
            </a:pPr>
            <a:r>
              <a:rPr lang="en-US" sz="1500" b="1" dirty="0">
                <a:solidFill>
                  <a:srgbClr val="2D333B"/>
                </a:solidFill>
                <a:latin typeface="Calibri" pitchFamily="34" charset="0"/>
                <a:ea typeface="Calibri" pitchFamily="34" charset="-122"/>
                <a:cs typeface="Calibri" pitchFamily="34" charset="-120"/>
              </a:rPr>
              <a:t>Dwell: </a:t>
            </a:r>
            <a:pPr indent="0" marL="0">
              <a:spcAft>
                <a:spcPts val="700"/>
              </a:spcAft>
              <a:buNone/>
            </a:pPr>
            <a:r>
              <a:rPr lang="en-US" sz="1500" dirty="0">
                <a:solidFill>
                  <a:srgbClr val="2D333B"/>
                </a:solidFill>
                <a:latin typeface="Calibri" pitchFamily="34" charset="0"/>
                <a:ea typeface="Calibri" pitchFamily="34" charset="-122"/>
                <a:cs typeface="Calibri" pitchFamily="34" charset="-120"/>
              </a:rPr>
              <a:t>a label must hold for 650 ms (letters) or 700 ms (words) before it commits.</a:t>
            </a:r>
            <a:endParaRPr lang="en-US" sz="1500" dirty="0"/>
          </a:p>
          <a:p>
            <a:pPr marL="203200" indent="-203200">
              <a:buSzPct val="100000"/>
              <a:buChar char="•"/>
            </a:pPr>
            <a:r>
              <a:rPr lang="en-US" sz="1500" b="1" dirty="0">
                <a:solidFill>
                  <a:srgbClr val="2D333B"/>
                </a:solidFill>
                <a:latin typeface="Calibri" pitchFamily="34" charset="0"/>
                <a:ea typeface="Calibri" pitchFamily="34" charset="-122"/>
                <a:cs typeface="Calibri" pitchFamily="34" charset="-120"/>
              </a:rPr>
              <a:t>Auto-space: </a:t>
            </a:r>
            <a:pPr indent="0" marL="0">
              <a:spcAft>
                <a:spcPts val="700"/>
              </a:spcAft>
              <a:buNone/>
            </a:pPr>
            <a:r>
              <a:rPr lang="en-US" sz="1500" dirty="0">
                <a:solidFill>
                  <a:srgbClr val="2D333B"/>
                </a:solidFill>
                <a:latin typeface="Calibri" pitchFamily="34" charset="0"/>
                <a:ea typeface="Calibri" pitchFamily="34" charset="-122"/>
                <a:cs typeface="Calibri" pitchFamily="34" charset="-120"/>
              </a:rPr>
              <a:t>1.5 s with no hand inserts a space between words.</a:t>
            </a:r>
            <a:endParaRPr lang="en-US" sz="1500" dirty="0"/>
          </a:p>
          <a:p>
            <a:pPr marL="203200" indent="-203200">
              <a:buSzPct val="100000"/>
              <a:buChar char="•"/>
            </a:pPr>
            <a:r>
              <a:rPr lang="en-US" sz="1500" b="1" dirty="0">
                <a:solidFill>
                  <a:srgbClr val="2D333B"/>
                </a:solidFill>
                <a:latin typeface="Calibri" pitchFamily="34" charset="0"/>
                <a:ea typeface="Calibri" pitchFamily="34" charset="-122"/>
                <a:cs typeface="Calibri" pitchFamily="34" charset="-120"/>
              </a:rPr>
              <a:t>Both mode: </a:t>
            </a:r>
            <a:pPr indent="0" marL="0">
              <a:spcAft>
                <a:spcPts val="700"/>
              </a:spcAft>
              <a:buNone/>
            </a:pPr>
            <a:r>
              <a:rPr lang="en-US" sz="1500" dirty="0">
                <a:solidFill>
                  <a:srgbClr val="2D333B"/>
                </a:solidFill>
                <a:latin typeface="Calibri" pitchFamily="34" charset="0"/>
                <a:ea typeface="Calibri" pitchFamily="34" charset="-122"/>
                <a:cs typeface="Calibri" pitchFamily="34" charset="-120"/>
              </a:rPr>
              <a:t>motion decides between the letter and word channels, not raw confidence.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719072"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719072"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STATE</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State diagram — the Smoother’s commit logic</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State diagram">    </p:cNvPr>
          <p:cNvPicPr>
            <a:picLocks noChangeAspect="1"/>
          </p:cNvPicPr>
          <p:nvPr/>
        </p:nvPicPr>
        <p:blipFill>
          <a:blip r:embed="rId1"/>
          <a:stretch>
            <a:fillRect/>
          </a:stretch>
        </p:blipFill>
        <p:spPr>
          <a:xfrm>
            <a:off x="723501" y="1463040"/>
            <a:ext cx="4679477" cy="5120640"/>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852160" y="1737360"/>
          <a:ext cx="5788152" cy="914400"/>
        </p:xfrm>
        <a:graphic>
          <a:graphicData uri="http://schemas.openxmlformats.org/drawingml/2006/table">
            <a:tbl>
              <a:tblPr/>
              <a:tblGrid>
                <a:gridCol w="2377440"/>
                <a:gridCol w="1700784"/>
                <a:gridCol w="1709928"/>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Letters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Words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r>
              <a:tr h="457200">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Vote window</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550 ms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700 ms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Min. confidence</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0.60</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57200">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Dwell to commit</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650 ms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700 ms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Release after</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300 ms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800 ms</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57200">
                <a:tc>
                  <a:txBody>
                    <a:bodyPr/>
                    <a:lstStyle/>
                    <a:p>
                      <a:pPr indent="0" marL="0">
                        <a:buNone/>
                      </a:pPr>
                      <a:r>
                        <a:rPr lang="en-US" sz="1400" b="1" dirty="0">
                          <a:solidFill>
                            <a:srgbClr val="2D333B"/>
                          </a:solidFill>
                          <a:latin typeface="Calibri" pitchFamily="34" charset="0"/>
                          <a:ea typeface="Calibri" pitchFamily="34" charset="-122"/>
                          <a:cs typeface="Calibri" pitchFamily="34" charset="-120"/>
                        </a:rPr>
                        <a:t>Winner share</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 70%</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400" dirty="0">
                          <a:solidFill>
                            <a:srgbClr val="2D333B"/>
                          </a:solidFill>
                          <a:latin typeface="Calibri" pitchFamily="34" charset="0"/>
                          <a:ea typeface="Calibri" pitchFamily="34" charset="-122"/>
                          <a:cs typeface="Calibri" pitchFamily="34" charset="-120"/>
                        </a:rPr>
                        <a:t>plurality</a:t>
                      </a:r>
                      <a:endParaRPr lang="en-US" sz="14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bl>
          </a:graphicData>
        </a:graphic>
      </p:graphicFrame>
      <p:sp>
        <p:nvSpPr>
          <p:cNvPr id="10" name="Shape 5"/>
          <p:cNvSpPr/>
          <p:nvPr/>
        </p:nvSpPr>
        <p:spPr>
          <a:xfrm>
            <a:off x="5852160" y="4709160"/>
            <a:ext cx="5788152" cy="1417320"/>
          </a:xfrm>
          <a:prstGeom prst="roundRect">
            <a:avLst>
              <a:gd name="adj" fmla="val 6452"/>
            </a:avLst>
          </a:prstGeom>
          <a:solidFill>
            <a:srgbClr val="FFF4C2"/>
          </a:solidFill>
          <a:ln w="12700">
            <a:solidFill>
              <a:srgbClr val="FFF4C2"/>
            </a:solidFill>
            <a:prstDash val="solid"/>
          </a:ln>
        </p:spPr>
      </p:sp>
      <p:sp>
        <p:nvSpPr>
          <p:cNvPr id="11" name="Text 6"/>
          <p:cNvSpPr txBox="1"/>
          <p:nvPr/>
        </p:nvSpPr>
        <p:spPr>
          <a:xfrm>
            <a:off x="6080760" y="4800600"/>
            <a:ext cx="5349240" cy="12344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Why it matters  </a:t>
            </a:r>
            <a:pPr indent="0" marL="0">
              <a:buNone/>
            </a:pPr>
            <a:r>
              <a:rPr lang="en-US" sz="1400" dirty="0">
                <a:solidFill>
                  <a:srgbClr val="1F2328"/>
                </a:solidFill>
                <a:latin typeface="Calibri" pitchFamily="34" charset="0"/>
                <a:ea typeface="Calibri" pitchFamily="34" charset="-122"/>
                <a:cs typeface="Calibri" pitchFamily="34" charset="-120"/>
              </a:rPr>
              <a:t>Per-frame predictions jump between labels. Voting, dwell and lock turn them into one clean commit per sign — and the release rule still allows repeated letters such as the “OO” in COOL.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8132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48132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DATA FLOW</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Data flow diagram — Level 0 (context)</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17</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DFD level 0">    </p:cNvPr>
          <p:cNvPicPr>
            <a:picLocks noChangeAspect="1"/>
          </p:cNvPicPr>
          <p:nvPr/>
        </p:nvPicPr>
        <p:blipFill>
          <a:blip r:embed="rId1"/>
          <a:stretch>
            <a:fillRect/>
          </a:stretch>
        </p:blipFill>
        <p:spPr>
          <a:xfrm>
            <a:off x="548640" y="1810623"/>
            <a:ext cx="11094415" cy="2779553"/>
          </a:xfrm>
          <a:prstGeom prst="rect">
            <a:avLst/>
          </a:prstGeom>
        </p:spPr>
      </p:pic>
      <p:sp>
        <p:nvSpPr>
          <p:cNvPr id="9" name="Shape 5"/>
          <p:cNvSpPr/>
          <p:nvPr/>
        </p:nvSpPr>
        <p:spPr>
          <a:xfrm>
            <a:off x="548640" y="4892040"/>
            <a:ext cx="3566160" cy="1325880"/>
          </a:xfrm>
          <a:prstGeom prst="roundRect">
            <a:avLst>
              <a:gd name="adj" fmla="val 6897"/>
            </a:avLst>
          </a:prstGeom>
          <a:solidFill>
            <a:srgbClr val="FFF4C2"/>
          </a:solidFill>
          <a:ln w="12700">
            <a:solidFill>
              <a:srgbClr val="FFF4C2"/>
            </a:solidFill>
            <a:prstDash val="solid"/>
          </a:ln>
        </p:spPr>
      </p:sp>
      <p:sp>
        <p:nvSpPr>
          <p:cNvPr id="10" name="Text 6"/>
          <p:cNvSpPr txBox="1"/>
          <p:nvPr/>
        </p:nvSpPr>
        <p:spPr>
          <a:xfrm>
            <a:off x="777240" y="5093208"/>
            <a:ext cx="3108960" cy="365760"/>
          </a:xfrm>
          <a:prstGeom prst="rect">
            <a:avLst/>
          </a:prstGeom>
          <a:noFill/>
          <a:ln/>
        </p:spPr>
        <p:txBody>
          <a:bodyPr wrap="square" lIns="0" tIns="0" rIns="0" bIns="0" rtlCol="0" anchor="t"/>
          <a:lstStyle/>
          <a:p>
            <a:pPr indent="0" marL="0">
              <a:buNone/>
            </a:pPr>
            <a:r>
              <a:rPr lang="en-US" sz="1600" b="1" dirty="0">
                <a:solidFill>
                  <a:srgbClr val="1F2328"/>
                </a:solidFill>
                <a:latin typeface="Cambria" pitchFamily="34" charset="0"/>
                <a:ea typeface="Cambria" pitchFamily="34" charset="-122"/>
                <a:cs typeface="Cambria" pitchFamily="34" charset="-120"/>
              </a:rPr>
              <a:t>Signer</a:t>
            </a:r>
            <a:endParaRPr lang="en-US" sz="1600" dirty="0"/>
          </a:p>
        </p:txBody>
      </p:sp>
      <p:sp>
        <p:nvSpPr>
          <p:cNvPr id="11" name="Text 7"/>
          <p:cNvSpPr txBox="1"/>
          <p:nvPr/>
        </p:nvSpPr>
        <p:spPr>
          <a:xfrm>
            <a:off x="777240" y="5504688"/>
            <a:ext cx="3108960" cy="576072"/>
          </a:xfrm>
          <a:prstGeom prst="rect">
            <a:avLst/>
          </a:prstGeom>
          <a:noFill/>
          <a:ln/>
        </p:spPr>
        <p:txBody>
          <a:bodyPr wrap="square" lIns="0" tIns="0" rIns="0" bIns="0" rtlCol="0" anchor="t"/>
          <a:lstStyle/>
          <a:p>
            <a:pPr indent="0" marL="0">
              <a:spcAft>
                <a:spcPts val="400"/>
              </a:spcAft>
              <a:buNone/>
            </a:pPr>
            <a:r>
              <a:rPr lang="en-US" sz="1350" dirty="0">
                <a:solidFill>
                  <a:srgbClr val="2D333B"/>
                </a:solidFill>
                <a:latin typeface="Calibri" pitchFamily="34" charset="0"/>
                <a:ea typeface="Calibri" pitchFamily="34" charset="-122"/>
                <a:cs typeface="Calibri" pitchFamily="34" charset="-120"/>
              </a:rPr>
              <a:t>Sends hand gestures as video; sees the live candidate, hold bar and practice score.</a:t>
            </a:r>
            <a:endParaRPr lang="en-US" sz="1350" dirty="0"/>
          </a:p>
        </p:txBody>
      </p:sp>
      <p:sp>
        <p:nvSpPr>
          <p:cNvPr id="12" name="Shape 8"/>
          <p:cNvSpPr/>
          <p:nvPr/>
        </p:nvSpPr>
        <p:spPr>
          <a:xfrm>
            <a:off x="4297680" y="4892040"/>
            <a:ext cx="3566160" cy="1325880"/>
          </a:xfrm>
          <a:prstGeom prst="roundRect">
            <a:avLst>
              <a:gd name="adj" fmla="val 6897"/>
            </a:avLst>
          </a:prstGeom>
          <a:solidFill>
            <a:srgbClr val="FFF4C2"/>
          </a:solidFill>
          <a:ln w="12700">
            <a:solidFill>
              <a:srgbClr val="FFF4C2"/>
            </a:solidFill>
            <a:prstDash val="solid"/>
          </a:ln>
        </p:spPr>
      </p:sp>
      <p:sp>
        <p:nvSpPr>
          <p:cNvPr id="13" name="Text 9"/>
          <p:cNvSpPr txBox="1"/>
          <p:nvPr/>
        </p:nvSpPr>
        <p:spPr>
          <a:xfrm>
            <a:off x="4526280" y="5093208"/>
            <a:ext cx="3108960" cy="365760"/>
          </a:xfrm>
          <a:prstGeom prst="rect">
            <a:avLst/>
          </a:prstGeom>
          <a:noFill/>
          <a:ln/>
        </p:spPr>
        <p:txBody>
          <a:bodyPr wrap="square" lIns="0" tIns="0" rIns="0" bIns="0" rtlCol="0" anchor="t"/>
          <a:lstStyle/>
          <a:p>
            <a:pPr indent="0" marL="0">
              <a:buNone/>
            </a:pPr>
            <a:r>
              <a:rPr lang="en-US" sz="1600" b="1" dirty="0">
                <a:solidFill>
                  <a:srgbClr val="1F2328"/>
                </a:solidFill>
                <a:latin typeface="Cambria" pitchFamily="34" charset="0"/>
                <a:ea typeface="Cambria" pitchFamily="34" charset="-122"/>
                <a:cs typeface="Cambria" pitchFamily="34" charset="-120"/>
              </a:rPr>
              <a:t>Listener</a:t>
            </a:r>
            <a:endParaRPr lang="en-US" sz="1600" dirty="0"/>
          </a:p>
        </p:txBody>
      </p:sp>
      <p:sp>
        <p:nvSpPr>
          <p:cNvPr id="14" name="Text 10"/>
          <p:cNvSpPr txBox="1"/>
          <p:nvPr/>
        </p:nvSpPr>
        <p:spPr>
          <a:xfrm>
            <a:off x="4526280" y="5504688"/>
            <a:ext cx="3108960" cy="576072"/>
          </a:xfrm>
          <a:prstGeom prst="rect">
            <a:avLst/>
          </a:prstGeom>
          <a:noFill/>
          <a:ln/>
        </p:spPr>
        <p:txBody>
          <a:bodyPr wrap="square" lIns="0" tIns="0" rIns="0" bIns="0" rtlCol="0" anchor="t"/>
          <a:lstStyle/>
          <a:p>
            <a:pPr indent="0" marL="0">
              <a:spcAft>
                <a:spcPts val="400"/>
              </a:spcAft>
              <a:buNone/>
            </a:pPr>
            <a:r>
              <a:rPr lang="en-US" sz="1350" dirty="0">
                <a:solidFill>
                  <a:srgbClr val="2D333B"/>
                </a:solidFill>
                <a:latin typeface="Calibri" pitchFamily="34" charset="0"/>
                <a:ea typeface="Calibri" pitchFamily="34" charset="-122"/>
                <a:cs typeface="Calibri" pitchFamily="34" charset="-120"/>
              </a:rPr>
              <a:t>Receives the text transcript and the spoken English sentence.</a:t>
            </a:r>
            <a:endParaRPr lang="en-US" sz="1350" dirty="0"/>
          </a:p>
        </p:txBody>
      </p:sp>
      <p:sp>
        <p:nvSpPr>
          <p:cNvPr id="15" name="Shape 11"/>
          <p:cNvSpPr/>
          <p:nvPr/>
        </p:nvSpPr>
        <p:spPr>
          <a:xfrm>
            <a:off x="8046720" y="4892040"/>
            <a:ext cx="3566160" cy="1325880"/>
          </a:xfrm>
          <a:prstGeom prst="roundRect">
            <a:avLst>
              <a:gd name="adj" fmla="val 6897"/>
            </a:avLst>
          </a:prstGeom>
          <a:solidFill>
            <a:srgbClr val="F2F3F5"/>
          </a:solidFill>
          <a:ln w="12700">
            <a:solidFill>
              <a:srgbClr val="F2F3F5"/>
            </a:solidFill>
            <a:prstDash val="solid"/>
          </a:ln>
        </p:spPr>
      </p:sp>
      <p:sp>
        <p:nvSpPr>
          <p:cNvPr id="16" name="Text 12"/>
          <p:cNvSpPr txBox="1"/>
          <p:nvPr/>
        </p:nvSpPr>
        <p:spPr>
          <a:xfrm>
            <a:off x="8275320" y="5093208"/>
            <a:ext cx="3108960" cy="365760"/>
          </a:xfrm>
          <a:prstGeom prst="rect">
            <a:avLst/>
          </a:prstGeom>
          <a:noFill/>
          <a:ln/>
        </p:spPr>
        <p:txBody>
          <a:bodyPr wrap="square" lIns="0" tIns="0" rIns="0" bIns="0" rtlCol="0" anchor="t"/>
          <a:lstStyle/>
          <a:p>
            <a:pPr indent="0" marL="0">
              <a:buNone/>
            </a:pPr>
            <a:r>
              <a:rPr lang="en-US" sz="1600" b="1" dirty="0">
                <a:solidFill>
                  <a:srgbClr val="1F2328"/>
                </a:solidFill>
                <a:latin typeface="Cambria" pitchFamily="34" charset="0"/>
                <a:ea typeface="Cambria" pitchFamily="34" charset="-122"/>
                <a:cs typeface="Cambria" pitchFamily="34" charset="-120"/>
              </a:rPr>
              <a:t>LLM service</a:t>
            </a:r>
            <a:endParaRPr lang="en-US" sz="1600" dirty="0"/>
          </a:p>
        </p:txBody>
      </p:sp>
      <p:sp>
        <p:nvSpPr>
          <p:cNvPr id="17" name="Text 13"/>
          <p:cNvSpPr txBox="1"/>
          <p:nvPr/>
        </p:nvSpPr>
        <p:spPr>
          <a:xfrm>
            <a:off x="8275320" y="5504688"/>
            <a:ext cx="3108960" cy="576072"/>
          </a:xfrm>
          <a:prstGeom prst="rect">
            <a:avLst/>
          </a:prstGeom>
          <a:noFill/>
          <a:ln/>
        </p:spPr>
        <p:txBody>
          <a:bodyPr wrap="square" lIns="0" tIns="0" rIns="0" bIns="0" rtlCol="0" anchor="t"/>
          <a:lstStyle/>
          <a:p>
            <a:pPr indent="0" marL="0">
              <a:spcAft>
                <a:spcPts val="400"/>
              </a:spcAft>
              <a:buNone/>
            </a:pPr>
            <a:r>
              <a:rPr lang="en-US" sz="1350" dirty="0">
                <a:solidFill>
                  <a:srgbClr val="2D333B"/>
                </a:solidFill>
                <a:latin typeface="Calibri" pitchFamily="34" charset="0"/>
                <a:ea typeface="Calibri" pitchFamily="34" charset="-122"/>
                <a:cs typeface="Calibri" pitchFamily="34" charset="-120"/>
              </a:rPr>
              <a:t>Receives gloss text only and returns English sentences.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8132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48132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DATA FLOW</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Data flow diagram — Level 1</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18</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DFD level 1">    </p:cNvPr>
          <p:cNvPicPr>
            <a:picLocks noChangeAspect="1"/>
          </p:cNvPicPr>
          <p:nvPr/>
        </p:nvPicPr>
        <p:blipFill>
          <a:blip r:embed="rId1"/>
          <a:stretch>
            <a:fillRect/>
          </a:stretch>
        </p:blipFill>
        <p:spPr>
          <a:xfrm>
            <a:off x="365760" y="2126647"/>
            <a:ext cx="11460175" cy="383914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194560"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194560"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COMPONENT</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Component diagram</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19</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Component diagram">    </p:cNvPr>
          <p:cNvPicPr>
            <a:picLocks noChangeAspect="1"/>
          </p:cNvPicPr>
          <p:nvPr/>
        </p:nvPicPr>
        <p:blipFill>
          <a:blip r:embed="rId1"/>
          <a:stretch>
            <a:fillRect/>
          </a:stretch>
        </p:blipFill>
        <p:spPr>
          <a:xfrm>
            <a:off x="548640" y="1538040"/>
            <a:ext cx="6583680" cy="4970640"/>
          </a:xfrm>
          <a:prstGeom prst="rect">
            <a:avLst/>
          </a:prstGeom>
        </p:spPr>
      </p:pic>
      <p:sp>
        <p:nvSpPr>
          <p:cNvPr id="9" name="Shape 5"/>
          <p:cNvSpPr/>
          <p:nvPr/>
        </p:nvSpPr>
        <p:spPr>
          <a:xfrm>
            <a:off x="7498080" y="1691640"/>
            <a:ext cx="4142232" cy="1417320"/>
          </a:xfrm>
          <a:prstGeom prst="roundRect">
            <a:avLst>
              <a:gd name="adj" fmla="val 6452"/>
            </a:avLst>
          </a:prstGeom>
          <a:solidFill>
            <a:srgbClr val="F2F3F5"/>
          </a:solidFill>
          <a:ln w="12700">
            <a:solidFill>
              <a:srgbClr val="F2F3F5"/>
            </a:solidFill>
            <a:prstDash val="solid"/>
          </a:ln>
        </p:spPr>
      </p:sp>
      <p:sp>
        <p:nvSpPr>
          <p:cNvPr id="10" name="Text 6"/>
          <p:cNvSpPr txBox="1"/>
          <p:nvPr/>
        </p:nvSpPr>
        <p:spPr>
          <a:xfrm>
            <a:off x="7726680" y="1892808"/>
            <a:ext cx="3685032"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UI layer</a:t>
            </a:r>
            <a:endParaRPr lang="en-US" sz="1700" dirty="0"/>
          </a:p>
        </p:txBody>
      </p:sp>
      <p:sp>
        <p:nvSpPr>
          <p:cNvPr id="11" name="Text 7"/>
          <p:cNvSpPr txBox="1"/>
          <p:nvPr/>
        </p:nvSpPr>
        <p:spPr>
          <a:xfrm>
            <a:off x="7726680" y="2304288"/>
            <a:ext cx="3685032" cy="667512"/>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Five lazy-loaded screens; each loads only when visited.</a:t>
            </a:r>
            <a:endParaRPr lang="en-US" sz="1400" dirty="0"/>
          </a:p>
        </p:txBody>
      </p:sp>
      <p:sp>
        <p:nvSpPr>
          <p:cNvPr id="12" name="Shape 8"/>
          <p:cNvSpPr/>
          <p:nvPr/>
        </p:nvSpPr>
        <p:spPr>
          <a:xfrm>
            <a:off x="7498080" y="3246120"/>
            <a:ext cx="4142232" cy="1417320"/>
          </a:xfrm>
          <a:prstGeom prst="roundRect">
            <a:avLst>
              <a:gd name="adj" fmla="val 6452"/>
            </a:avLst>
          </a:prstGeom>
          <a:solidFill>
            <a:srgbClr val="FFF4C2"/>
          </a:solidFill>
          <a:ln w="12700">
            <a:solidFill>
              <a:srgbClr val="FFF4C2"/>
            </a:solidFill>
            <a:prstDash val="solid"/>
          </a:ln>
        </p:spPr>
      </p:sp>
      <p:sp>
        <p:nvSpPr>
          <p:cNvPr id="13" name="Text 9"/>
          <p:cNvSpPr txBox="1"/>
          <p:nvPr/>
        </p:nvSpPr>
        <p:spPr>
          <a:xfrm>
            <a:off x="7726680" y="3447288"/>
            <a:ext cx="3685032"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@signspeak/core</a:t>
            </a:r>
            <a:endParaRPr lang="en-US" sz="1700" dirty="0"/>
          </a:p>
        </p:txBody>
      </p:sp>
      <p:sp>
        <p:nvSpPr>
          <p:cNvPr id="14" name="Text 10"/>
          <p:cNvSpPr txBox="1"/>
          <p:nvPr/>
        </p:nvSpPr>
        <p:spPr>
          <a:xfrm>
            <a:off x="7726680" y="3858768"/>
            <a:ext cx="3685032" cy="667512"/>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Input, perception and recognition. No React — reusable by any shell.</a:t>
            </a:r>
            <a:endParaRPr lang="en-US" sz="1400" dirty="0"/>
          </a:p>
        </p:txBody>
      </p:sp>
      <p:sp>
        <p:nvSpPr>
          <p:cNvPr id="15" name="Shape 11"/>
          <p:cNvSpPr/>
          <p:nvPr/>
        </p:nvSpPr>
        <p:spPr>
          <a:xfrm>
            <a:off x="7498080" y="4800600"/>
            <a:ext cx="4142232" cy="1371600"/>
          </a:xfrm>
          <a:prstGeom prst="roundRect">
            <a:avLst>
              <a:gd name="adj" fmla="val 6667"/>
            </a:avLst>
          </a:prstGeom>
          <a:solidFill>
            <a:srgbClr val="F2F3F5"/>
          </a:solidFill>
          <a:ln w="12700">
            <a:solidFill>
              <a:srgbClr val="F2F3F5"/>
            </a:solidFill>
            <a:prstDash val="solid"/>
          </a:ln>
        </p:spPr>
      </p:sp>
      <p:sp>
        <p:nvSpPr>
          <p:cNvPr id="16" name="Text 12"/>
          <p:cNvSpPr txBox="1"/>
          <p:nvPr/>
        </p:nvSpPr>
        <p:spPr>
          <a:xfrm>
            <a:off x="7726680" y="5001768"/>
            <a:ext cx="3685032" cy="365760"/>
          </a:xfrm>
          <a:prstGeom prst="rect">
            <a:avLst/>
          </a:prstGeom>
          <a:noFill/>
          <a:ln/>
        </p:spPr>
        <p:txBody>
          <a:bodyPr wrap="square" lIns="0" tIns="0" rIns="0" bIns="0" rtlCol="0" anchor="t"/>
          <a:lstStyle/>
          <a:p>
            <a:pPr indent="0" marL="0">
              <a:buNone/>
            </a:pPr>
            <a:r>
              <a:rPr lang="en-US" sz="1700" b="1" dirty="0">
                <a:solidFill>
                  <a:srgbClr val="1F2328"/>
                </a:solidFill>
                <a:latin typeface="Cambria" pitchFamily="34" charset="0"/>
                <a:ea typeface="Cambria" pitchFamily="34" charset="-122"/>
                <a:cs typeface="Cambria" pitchFamily="34" charset="-120"/>
              </a:rPr>
              <a:t>ML toolchain</a:t>
            </a:r>
            <a:endParaRPr lang="en-US" sz="1700" dirty="0"/>
          </a:p>
        </p:txBody>
      </p:sp>
      <p:sp>
        <p:nvSpPr>
          <p:cNvPr id="17" name="Text 13"/>
          <p:cNvSpPr txBox="1"/>
          <p:nvPr/>
        </p:nvSpPr>
        <p:spPr>
          <a:xfrm>
            <a:off x="7726680" y="5413248"/>
            <a:ext cx="3685032" cy="621792"/>
          </a:xfrm>
          <a:prstGeom prst="rect">
            <a:avLst/>
          </a:prstGeom>
          <a:noFill/>
          <a:ln/>
        </p:spPr>
        <p:txBody>
          <a:bodyPr wrap="square" lIns="0" tIns="0" rIns="0" bIns="0" rtlCol="0" anchor="t"/>
          <a:lstStyle/>
          <a:p>
            <a:pPr indent="0" marL="0">
              <a:spcAft>
                <a:spcPts val="400"/>
              </a:spcAft>
              <a:buNone/>
            </a:pPr>
            <a:r>
              <a:rPr lang="en-US" sz="1400" dirty="0">
                <a:solidFill>
                  <a:srgbClr val="2D333B"/>
                </a:solidFill>
                <a:latin typeface="Calibri" pitchFamily="34" charset="0"/>
                <a:ea typeface="Calibri" pitchFamily="34" charset="-122"/>
                <a:cs typeface="Calibri" pitchFamily="34" charset="-120"/>
              </a:rPr>
              <a:t>Python scripts import data, train models and export JSON.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313432"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313432"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UML · DEPLOYMENT</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Deployment diagram</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20</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pic>
        <p:nvPicPr>
          <p:cNvPr id="8" name="Image 0" descr="Deployment diagram">    </p:cNvPr>
          <p:cNvPicPr>
            <a:picLocks noChangeAspect="1"/>
          </p:cNvPicPr>
          <p:nvPr/>
        </p:nvPicPr>
        <p:blipFill>
          <a:blip r:embed="rId1"/>
          <a:stretch>
            <a:fillRect/>
          </a:stretch>
        </p:blipFill>
        <p:spPr>
          <a:xfrm>
            <a:off x="571960" y="1554480"/>
            <a:ext cx="11047774" cy="4023360"/>
          </a:xfrm>
          <a:prstGeom prst="rect">
            <a:avLst/>
          </a:prstGeom>
        </p:spPr>
      </p:pic>
      <p:sp>
        <p:nvSpPr>
          <p:cNvPr id="9" name="Text 5"/>
          <p:cNvSpPr txBox="1"/>
          <p:nvPr/>
        </p:nvSpPr>
        <p:spPr>
          <a:xfrm>
            <a:off x="548640" y="5715000"/>
            <a:ext cx="3566160" cy="68580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Static  </a:t>
            </a:r>
            <a:pPr indent="0" marL="0">
              <a:buNone/>
            </a:pPr>
            <a:r>
              <a:rPr lang="en-US" sz="1350" dirty="0">
                <a:solidFill>
                  <a:srgbClr val="2D333B"/>
                </a:solidFill>
                <a:latin typeface="Calibri" pitchFamily="34" charset="0"/>
                <a:ea typeface="Calibri" pitchFamily="34" charset="-122"/>
                <a:cs typeface="Calibri" pitchFamily="34" charset="-120"/>
              </a:rPr>
              <a:t>App, weights and reference clips ship as files — any static host works.</a:t>
            </a:r>
            <a:endParaRPr lang="en-US" sz="1350" dirty="0"/>
          </a:p>
        </p:txBody>
      </p:sp>
      <p:sp>
        <p:nvSpPr>
          <p:cNvPr id="10" name="Text 6"/>
          <p:cNvSpPr txBox="1"/>
          <p:nvPr/>
        </p:nvSpPr>
        <p:spPr>
          <a:xfrm>
            <a:off x="4297680" y="5715000"/>
            <a:ext cx="3566160" cy="68580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Cached once  </a:t>
            </a:r>
            <a:pPr indent="0" marL="0">
              <a:buNone/>
            </a:pPr>
            <a:r>
              <a:rPr lang="en-US" sz="1350" dirty="0">
                <a:solidFill>
                  <a:srgbClr val="2D333B"/>
                </a:solidFill>
                <a:latin typeface="Calibri" pitchFamily="34" charset="0"/>
                <a:ea typeface="Calibri" pitchFamily="34" charset="-122"/>
                <a:cs typeface="Calibri" pitchFamily="34" charset="-120"/>
              </a:rPr>
              <a:t>MediaPipe model (~8 MB) and weights load on first visit.</a:t>
            </a:r>
            <a:endParaRPr lang="en-US" sz="1350" dirty="0"/>
          </a:p>
        </p:txBody>
      </p:sp>
      <p:sp>
        <p:nvSpPr>
          <p:cNvPr id="11" name="Text 7"/>
          <p:cNvSpPr txBox="1"/>
          <p:nvPr/>
        </p:nvSpPr>
        <p:spPr>
          <a:xfrm>
            <a:off x="8046720" y="5715000"/>
            <a:ext cx="3566160" cy="685800"/>
          </a:xfrm>
          <a:prstGeom prst="rect">
            <a:avLst/>
          </a:prstGeom>
          <a:noFill/>
          <a:ln/>
        </p:spPr>
        <p:txBody>
          <a:bodyPr wrap="square" lIns="0" tIns="0" rIns="0" bIns="0" rtlCol="0" anchor="t"/>
          <a:lstStyle/>
          <a:p>
            <a:pPr indent="0" marL="0">
              <a:buNone/>
            </a:pPr>
            <a:r>
              <a:rPr lang="en-US" sz="1350" b="1" dirty="0">
                <a:solidFill>
                  <a:srgbClr val="1F2328"/>
                </a:solidFill>
                <a:latin typeface="Calibri" pitchFamily="34" charset="0"/>
                <a:ea typeface="Calibri" pitchFamily="34" charset="-122"/>
                <a:cs typeface="Calibri" pitchFamily="34" charset="-120"/>
              </a:rPr>
              <a:t>One server hop  </a:t>
            </a:r>
            <a:pPr indent="0" marL="0">
              <a:buNone/>
            </a:pPr>
            <a:r>
              <a:rPr lang="en-US" sz="1350" dirty="0">
                <a:solidFill>
                  <a:srgbClr val="2D333B"/>
                </a:solidFill>
                <a:latin typeface="Calibri" pitchFamily="34" charset="0"/>
                <a:ea typeface="Calibri" pitchFamily="34" charset="-122"/>
                <a:cs typeface="Calibri" pitchFamily="34" charset="-120"/>
              </a:rPr>
              <a:t>Only Translate needs the proxy; it sends gloss text only.</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313432"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313432"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MACHINE LEARNING</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ML pipeline and model design</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21</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645920"/>
            <a:ext cx="1664208" cy="1188720"/>
          </a:xfrm>
          <a:prstGeom prst="roundRect">
            <a:avLst>
              <a:gd name="adj" fmla="val 7692"/>
            </a:avLst>
          </a:prstGeom>
          <a:solidFill>
            <a:srgbClr val="F2F3F5"/>
          </a:solidFill>
          <a:ln w="12700">
            <a:solidFill>
              <a:srgbClr val="F2F3F5"/>
            </a:solidFill>
            <a:prstDash val="solid"/>
          </a:ln>
        </p:spPr>
      </p:sp>
      <p:sp>
        <p:nvSpPr>
          <p:cNvPr id="9" name="Text 6"/>
          <p:cNvSpPr txBox="1"/>
          <p:nvPr/>
        </p:nvSpPr>
        <p:spPr>
          <a:xfrm>
            <a:off x="685800" y="1737360"/>
            <a:ext cx="1389888"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Raw data</a:t>
            </a:r>
            <a:endParaRPr lang="en-US" sz="1500" dirty="0"/>
          </a:p>
        </p:txBody>
      </p:sp>
      <p:sp>
        <p:nvSpPr>
          <p:cNvPr id="10" name="Text 7"/>
          <p:cNvSpPr txBox="1"/>
          <p:nvPr/>
        </p:nvSpPr>
        <p:spPr>
          <a:xfrm>
            <a:off x="685800" y="2084832"/>
            <a:ext cx="1389888" cy="685800"/>
          </a:xfrm>
          <a:prstGeom prst="rect">
            <a:avLst/>
          </a:prstGeom>
          <a:noFill/>
          <a:ln/>
        </p:spPr>
        <p:txBody>
          <a:bodyPr wrap="square" lIns="0" tIns="0" rIns="0" bIns="0" rtlCol="0" anchor="t"/>
          <a:lstStyle/>
          <a:p>
            <a:pPr indent="0" marL="0">
              <a:buNone/>
            </a:pPr>
            <a:r>
              <a:rPr lang="en-US" sz="1200" dirty="0">
                <a:solidFill>
                  <a:srgbClr val="2D333B"/>
                </a:solidFill>
                <a:latin typeface="Calibri" pitchFamily="34" charset="0"/>
                <a:ea typeface="Calibri" pitchFamily="34" charset="-122"/>
                <a:cs typeface="Calibri" pitchFamily="34" charset="-120"/>
              </a:rPr>
              <a:t>Kaggle ASL alphabet,</a:t>
            </a:r>
            <a:endParaRPr lang="en-US" sz="1200" dirty="0"/>
          </a:p>
          <a:p>
            <a:pPr indent="0" marL="0">
              <a:buNone/>
            </a:pPr>
            <a:r>
              <a:rPr lang="en-US" sz="1200" dirty="0">
                <a:solidFill>
                  <a:srgbClr val="2D333B"/>
                </a:solidFill>
                <a:latin typeface="Calibri" pitchFamily="34" charset="0"/>
                <a:ea typeface="Calibri" pitchFamily="34" charset="-122"/>
                <a:cs typeface="Calibri" pitchFamily="34" charset="-120"/>
              </a:rPr>
              <a:t>WLASL word videos</a:t>
            </a:r>
            <a:endParaRPr lang="en-US" sz="1200" dirty="0"/>
          </a:p>
        </p:txBody>
      </p:sp>
      <p:sp>
        <p:nvSpPr>
          <p:cNvPr id="11" name="Text 8"/>
          <p:cNvSpPr txBox="1"/>
          <p:nvPr/>
        </p:nvSpPr>
        <p:spPr>
          <a:xfrm>
            <a:off x="2212848" y="1645920"/>
            <a:ext cx="182880" cy="1188720"/>
          </a:xfrm>
          <a:prstGeom prst="rect">
            <a:avLst/>
          </a:prstGeom>
          <a:noFill/>
          <a:ln/>
        </p:spPr>
        <p:txBody>
          <a:bodyPr wrap="square" lIns="0" tIns="0" rIns="0" bIns="0" rtlCol="0" anchor="ctr"/>
          <a:lstStyle/>
          <a:p>
            <a:pPr algn="ctr" indent="0" marL="0">
              <a:buNone/>
            </a:pPr>
            <a:r>
              <a:rPr lang="en-US" sz="2000" b="1" dirty="0">
                <a:solidFill>
                  <a:srgbClr val="5B6370"/>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2395728" y="1645920"/>
            <a:ext cx="1664208" cy="1188720"/>
          </a:xfrm>
          <a:prstGeom prst="roundRect">
            <a:avLst>
              <a:gd name="adj" fmla="val 7692"/>
            </a:avLst>
          </a:prstGeom>
          <a:solidFill>
            <a:srgbClr val="F2F3F5"/>
          </a:solidFill>
          <a:ln w="12700">
            <a:solidFill>
              <a:srgbClr val="F2F3F5"/>
            </a:solidFill>
            <a:prstDash val="solid"/>
          </a:ln>
        </p:spPr>
      </p:sp>
      <p:sp>
        <p:nvSpPr>
          <p:cNvPr id="13" name="Text 10"/>
          <p:cNvSpPr txBox="1"/>
          <p:nvPr/>
        </p:nvSpPr>
        <p:spPr>
          <a:xfrm>
            <a:off x="2532888" y="1737360"/>
            <a:ext cx="1389888"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Import</a:t>
            </a:r>
            <a:endParaRPr lang="en-US" sz="1500" dirty="0"/>
          </a:p>
        </p:txBody>
      </p:sp>
      <p:sp>
        <p:nvSpPr>
          <p:cNvPr id="14" name="Text 11"/>
          <p:cNvSpPr txBox="1"/>
          <p:nvPr/>
        </p:nvSpPr>
        <p:spPr>
          <a:xfrm>
            <a:off x="2532888" y="2084832"/>
            <a:ext cx="1389888" cy="685800"/>
          </a:xfrm>
          <a:prstGeom prst="rect">
            <a:avLst/>
          </a:prstGeom>
          <a:noFill/>
          <a:ln/>
        </p:spPr>
        <p:txBody>
          <a:bodyPr wrap="square" lIns="0" tIns="0" rIns="0" bIns="0" rtlCol="0" anchor="t"/>
          <a:lstStyle/>
          <a:p>
            <a:pPr indent="0" marL="0">
              <a:buNone/>
            </a:pPr>
            <a:r>
              <a:rPr lang="en-US" sz="1200" dirty="0">
                <a:solidFill>
                  <a:srgbClr val="2D333B"/>
                </a:solidFill>
                <a:latin typeface="Calibri" pitchFamily="34" charset="0"/>
                <a:ea typeface="Calibri" pitchFamily="34" charset="-122"/>
                <a:cs typeface="Calibri" pitchFamily="34" charset="-120"/>
              </a:rPr>
              <a:t>MediaPipe hand</a:t>
            </a:r>
            <a:endParaRPr lang="en-US" sz="1200" dirty="0"/>
          </a:p>
          <a:p>
            <a:pPr indent="0" marL="0">
              <a:buNone/>
            </a:pPr>
            <a:r>
              <a:rPr lang="en-US" sz="1200" dirty="0">
                <a:solidFill>
                  <a:srgbClr val="2D333B"/>
                </a:solidFill>
                <a:latin typeface="Calibri" pitchFamily="34" charset="0"/>
                <a:ea typeface="Calibri" pitchFamily="34" charset="-122"/>
                <a:cs typeface="Calibri" pitchFamily="34" charset="-120"/>
              </a:rPr>
              <a:t>landmarks (Python)</a:t>
            </a:r>
            <a:endParaRPr lang="en-US" sz="1200" dirty="0"/>
          </a:p>
        </p:txBody>
      </p:sp>
      <p:sp>
        <p:nvSpPr>
          <p:cNvPr id="15" name="Text 12"/>
          <p:cNvSpPr txBox="1"/>
          <p:nvPr/>
        </p:nvSpPr>
        <p:spPr>
          <a:xfrm>
            <a:off x="4059936" y="1645920"/>
            <a:ext cx="182880" cy="1188720"/>
          </a:xfrm>
          <a:prstGeom prst="rect">
            <a:avLst/>
          </a:prstGeom>
          <a:noFill/>
          <a:ln/>
        </p:spPr>
        <p:txBody>
          <a:bodyPr wrap="square" lIns="0" tIns="0" rIns="0" bIns="0" rtlCol="0" anchor="ctr"/>
          <a:lstStyle/>
          <a:p>
            <a:pPr algn="ctr" indent="0" marL="0">
              <a:buNone/>
            </a:pPr>
            <a:r>
              <a:rPr lang="en-US" sz="2000" b="1" dirty="0">
                <a:solidFill>
                  <a:srgbClr val="5B6370"/>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242816" y="1645920"/>
            <a:ext cx="1664208" cy="1188720"/>
          </a:xfrm>
          <a:prstGeom prst="roundRect">
            <a:avLst>
              <a:gd name="adj" fmla="val 7692"/>
            </a:avLst>
          </a:prstGeom>
          <a:solidFill>
            <a:srgbClr val="F2F3F5"/>
          </a:solidFill>
          <a:ln w="12700">
            <a:solidFill>
              <a:srgbClr val="F2F3F5"/>
            </a:solidFill>
            <a:prstDash val="solid"/>
          </a:ln>
        </p:spPr>
      </p:sp>
      <p:sp>
        <p:nvSpPr>
          <p:cNvPr id="17" name="Text 14"/>
          <p:cNvSpPr txBox="1"/>
          <p:nvPr/>
        </p:nvSpPr>
        <p:spPr>
          <a:xfrm>
            <a:off x="4379976" y="1737360"/>
            <a:ext cx="1389888"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Dataset</a:t>
            </a:r>
            <a:endParaRPr lang="en-US" sz="1500" dirty="0"/>
          </a:p>
        </p:txBody>
      </p:sp>
      <p:sp>
        <p:nvSpPr>
          <p:cNvPr id="18" name="Text 15"/>
          <p:cNvSpPr txBox="1"/>
          <p:nvPr/>
        </p:nvSpPr>
        <p:spPr>
          <a:xfrm>
            <a:off x="4379976" y="2084832"/>
            <a:ext cx="1389888" cy="685800"/>
          </a:xfrm>
          <a:prstGeom prst="rect">
            <a:avLst/>
          </a:prstGeom>
          <a:noFill/>
          <a:ln/>
        </p:spPr>
        <p:txBody>
          <a:bodyPr wrap="square" lIns="0" tIns="0" rIns="0" bIns="0" rtlCol="0" anchor="t"/>
          <a:lstStyle/>
          <a:p>
            <a:pPr indent="0" marL="0">
              <a:buNone/>
            </a:pPr>
            <a:r>
              <a:rPr lang="en-US" sz="1200" dirty="0">
                <a:solidFill>
                  <a:srgbClr val="2D333B"/>
                </a:solidFill>
                <a:latin typeface="Calibri" pitchFamily="34" charset="0"/>
                <a:ea typeface="Calibri" pitchFamily="34" charset="-122"/>
                <a:cs typeface="Calibri" pitchFamily="34" charset="-120"/>
              </a:rPr>
              <a:t>JSONL landmark</a:t>
            </a:r>
            <a:endParaRPr lang="en-US" sz="1200" dirty="0"/>
          </a:p>
          <a:p>
            <a:pPr indent="0" marL="0">
              <a:buNone/>
            </a:pPr>
            <a:r>
              <a:rPr lang="en-US" sz="1200" dirty="0">
                <a:solidFill>
                  <a:srgbClr val="2D333B"/>
                </a:solidFill>
                <a:latin typeface="Calibri" pitchFamily="34" charset="0"/>
                <a:ea typeface="Calibri" pitchFamily="34" charset="-122"/>
                <a:cs typeface="Calibri" pitchFamily="34" charset="-120"/>
              </a:rPr>
              <a:t>samples, images dropped</a:t>
            </a:r>
            <a:endParaRPr lang="en-US" sz="1200" dirty="0"/>
          </a:p>
        </p:txBody>
      </p:sp>
      <p:sp>
        <p:nvSpPr>
          <p:cNvPr id="19" name="Text 16"/>
          <p:cNvSpPr txBox="1"/>
          <p:nvPr/>
        </p:nvSpPr>
        <p:spPr>
          <a:xfrm>
            <a:off x="5907024" y="1645920"/>
            <a:ext cx="182880" cy="1188720"/>
          </a:xfrm>
          <a:prstGeom prst="rect">
            <a:avLst/>
          </a:prstGeom>
          <a:noFill/>
          <a:ln/>
        </p:spPr>
        <p:txBody>
          <a:bodyPr wrap="square" lIns="0" tIns="0" rIns="0" bIns="0" rtlCol="0" anchor="ctr"/>
          <a:lstStyle/>
          <a:p>
            <a:pPr algn="ctr" indent="0" marL="0">
              <a:buNone/>
            </a:pPr>
            <a:r>
              <a:rPr lang="en-US" sz="2000" b="1" dirty="0">
                <a:solidFill>
                  <a:srgbClr val="5B6370"/>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6089904" y="1645920"/>
            <a:ext cx="1664208" cy="1188720"/>
          </a:xfrm>
          <a:prstGeom prst="roundRect">
            <a:avLst>
              <a:gd name="adj" fmla="val 7692"/>
            </a:avLst>
          </a:prstGeom>
          <a:solidFill>
            <a:srgbClr val="FFF4C2"/>
          </a:solidFill>
          <a:ln w="12700">
            <a:solidFill>
              <a:srgbClr val="FFF4C2"/>
            </a:solidFill>
            <a:prstDash val="solid"/>
          </a:ln>
        </p:spPr>
      </p:sp>
      <p:sp>
        <p:nvSpPr>
          <p:cNvPr id="21" name="Text 18"/>
          <p:cNvSpPr txBox="1"/>
          <p:nvPr/>
        </p:nvSpPr>
        <p:spPr>
          <a:xfrm>
            <a:off x="6227064" y="1737360"/>
            <a:ext cx="1389888"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Train</a:t>
            </a:r>
            <a:endParaRPr lang="en-US" sz="1500" dirty="0"/>
          </a:p>
        </p:txBody>
      </p:sp>
      <p:sp>
        <p:nvSpPr>
          <p:cNvPr id="22" name="Text 19"/>
          <p:cNvSpPr txBox="1"/>
          <p:nvPr/>
        </p:nvSpPr>
        <p:spPr>
          <a:xfrm>
            <a:off x="6227064" y="2084832"/>
            <a:ext cx="1389888" cy="685800"/>
          </a:xfrm>
          <a:prstGeom prst="rect">
            <a:avLst/>
          </a:prstGeom>
          <a:noFill/>
          <a:ln/>
        </p:spPr>
        <p:txBody>
          <a:bodyPr wrap="square" lIns="0" tIns="0" rIns="0" bIns="0" rtlCol="0" anchor="t"/>
          <a:lstStyle/>
          <a:p>
            <a:pPr indent="0" marL="0">
              <a:buNone/>
            </a:pPr>
            <a:r>
              <a:rPr lang="en-US" sz="1200" dirty="0">
                <a:solidFill>
                  <a:srgbClr val="2D333B"/>
                </a:solidFill>
                <a:latin typeface="Calibri" pitchFamily="34" charset="0"/>
                <a:ea typeface="Calibri" pitchFamily="34" charset="-122"/>
                <a:cs typeface="Calibri" pitchFamily="34" charset="-120"/>
              </a:rPr>
              <a:t>dedupe · split ·</a:t>
            </a:r>
            <a:endParaRPr lang="en-US" sz="1200" dirty="0"/>
          </a:p>
          <a:p>
            <a:pPr indent="0" marL="0">
              <a:buNone/>
            </a:pPr>
            <a:r>
              <a:rPr lang="en-US" sz="1200" dirty="0">
                <a:solidFill>
                  <a:srgbClr val="2D333B"/>
                </a:solidFill>
                <a:latin typeface="Calibri" pitchFamily="34" charset="0"/>
                <a:ea typeface="Calibri" pitchFamily="34" charset="-122"/>
                <a:cs typeface="Calibri" pitchFamily="34" charset="-120"/>
              </a:rPr>
              <a:t>augment ×16</a:t>
            </a:r>
            <a:endParaRPr lang="en-US" sz="1200" dirty="0"/>
          </a:p>
        </p:txBody>
      </p:sp>
      <p:sp>
        <p:nvSpPr>
          <p:cNvPr id="23" name="Text 20"/>
          <p:cNvSpPr txBox="1"/>
          <p:nvPr/>
        </p:nvSpPr>
        <p:spPr>
          <a:xfrm>
            <a:off x="7754112" y="1645920"/>
            <a:ext cx="182880" cy="1188720"/>
          </a:xfrm>
          <a:prstGeom prst="rect">
            <a:avLst/>
          </a:prstGeom>
          <a:noFill/>
          <a:ln/>
        </p:spPr>
        <p:txBody>
          <a:bodyPr wrap="square" lIns="0" tIns="0" rIns="0" bIns="0" rtlCol="0" anchor="ctr"/>
          <a:lstStyle/>
          <a:p>
            <a:pPr algn="ctr" indent="0" marL="0">
              <a:buNone/>
            </a:pPr>
            <a:r>
              <a:rPr lang="en-US" sz="2000" b="1" dirty="0">
                <a:solidFill>
                  <a:srgbClr val="5B6370"/>
                </a:solidFill>
                <a:latin typeface="Calibri" pitchFamily="34" charset="0"/>
                <a:ea typeface="Calibri" pitchFamily="34" charset="-122"/>
                <a:cs typeface="Calibri" pitchFamily="34" charset="-120"/>
              </a:rPr>
              <a:t>›</a:t>
            </a:r>
            <a:endParaRPr lang="en-US" sz="2000" dirty="0"/>
          </a:p>
        </p:txBody>
      </p:sp>
      <p:sp>
        <p:nvSpPr>
          <p:cNvPr id="24" name="Shape 21"/>
          <p:cNvSpPr/>
          <p:nvPr/>
        </p:nvSpPr>
        <p:spPr>
          <a:xfrm>
            <a:off x="7936992" y="1645920"/>
            <a:ext cx="1664208" cy="1188720"/>
          </a:xfrm>
          <a:prstGeom prst="roundRect">
            <a:avLst>
              <a:gd name="adj" fmla="val 7692"/>
            </a:avLst>
          </a:prstGeom>
          <a:solidFill>
            <a:srgbClr val="F2F3F5"/>
          </a:solidFill>
          <a:ln w="12700">
            <a:solidFill>
              <a:srgbClr val="F2F3F5"/>
            </a:solidFill>
            <a:prstDash val="solid"/>
          </a:ln>
        </p:spPr>
      </p:sp>
      <p:sp>
        <p:nvSpPr>
          <p:cNvPr id="25" name="Text 22"/>
          <p:cNvSpPr txBox="1"/>
          <p:nvPr/>
        </p:nvSpPr>
        <p:spPr>
          <a:xfrm>
            <a:off x="8074152" y="1737360"/>
            <a:ext cx="1389888"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Export</a:t>
            </a:r>
            <a:endParaRPr lang="en-US" sz="1500" dirty="0"/>
          </a:p>
        </p:txBody>
      </p:sp>
      <p:sp>
        <p:nvSpPr>
          <p:cNvPr id="26" name="Text 23"/>
          <p:cNvSpPr txBox="1"/>
          <p:nvPr/>
        </p:nvSpPr>
        <p:spPr>
          <a:xfrm>
            <a:off x="8074152" y="2084832"/>
            <a:ext cx="1389888" cy="685800"/>
          </a:xfrm>
          <a:prstGeom prst="rect">
            <a:avLst/>
          </a:prstGeom>
          <a:noFill/>
          <a:ln/>
        </p:spPr>
        <p:txBody>
          <a:bodyPr wrap="square" lIns="0" tIns="0" rIns="0" bIns="0" rtlCol="0" anchor="t"/>
          <a:lstStyle/>
          <a:p>
            <a:pPr indent="0" marL="0">
              <a:buNone/>
            </a:pPr>
            <a:r>
              <a:rPr lang="en-US" sz="1200" dirty="0">
                <a:solidFill>
                  <a:srgbClr val="2D333B"/>
                </a:solidFill>
                <a:latin typeface="Calibri" pitchFamily="34" charset="0"/>
                <a:ea typeface="Calibri" pitchFamily="34" charset="-122"/>
                <a:cs typeface="Calibri" pitchFamily="34" charset="-120"/>
              </a:rPr>
              <a:t>model.json +</a:t>
            </a:r>
            <a:endParaRPr lang="en-US" sz="1200" dirty="0"/>
          </a:p>
          <a:p>
            <a:pPr indent="0" marL="0">
              <a:buNone/>
            </a:pPr>
            <a:r>
              <a:rPr lang="en-US" sz="1200" dirty="0">
                <a:solidFill>
                  <a:srgbClr val="2D333B"/>
                </a:solidFill>
                <a:latin typeface="Calibri" pitchFamily="34" charset="0"/>
                <a:ea typeface="Calibri" pitchFamily="34" charset="-122"/>
                <a:cs typeface="Calibri" pitchFamily="34" charset="-120"/>
              </a:rPr>
              <a:t>labels.json</a:t>
            </a:r>
            <a:endParaRPr lang="en-US" sz="1200" dirty="0"/>
          </a:p>
        </p:txBody>
      </p:sp>
      <p:sp>
        <p:nvSpPr>
          <p:cNvPr id="27" name="Text 24"/>
          <p:cNvSpPr txBox="1"/>
          <p:nvPr/>
        </p:nvSpPr>
        <p:spPr>
          <a:xfrm>
            <a:off x="9601200" y="1645920"/>
            <a:ext cx="182880" cy="1188720"/>
          </a:xfrm>
          <a:prstGeom prst="rect">
            <a:avLst/>
          </a:prstGeom>
          <a:noFill/>
          <a:ln/>
        </p:spPr>
        <p:txBody>
          <a:bodyPr wrap="square" lIns="0" tIns="0" rIns="0" bIns="0" rtlCol="0" anchor="ctr"/>
          <a:lstStyle/>
          <a:p>
            <a:pPr algn="ctr" indent="0" marL="0">
              <a:buNone/>
            </a:pPr>
            <a:r>
              <a:rPr lang="en-US" sz="2000" b="1" dirty="0">
                <a:solidFill>
                  <a:srgbClr val="5B6370"/>
                </a:solidFill>
                <a:latin typeface="Calibri" pitchFamily="34" charset="0"/>
                <a:ea typeface="Calibri" pitchFamily="34" charset="-122"/>
                <a:cs typeface="Calibri" pitchFamily="34" charset="-120"/>
              </a:rPr>
              <a:t>›</a:t>
            </a:r>
            <a:endParaRPr lang="en-US" sz="2000" dirty="0"/>
          </a:p>
        </p:txBody>
      </p:sp>
      <p:sp>
        <p:nvSpPr>
          <p:cNvPr id="28" name="Shape 25"/>
          <p:cNvSpPr/>
          <p:nvPr/>
        </p:nvSpPr>
        <p:spPr>
          <a:xfrm>
            <a:off x="9784080" y="1645920"/>
            <a:ext cx="1664208" cy="1188720"/>
          </a:xfrm>
          <a:prstGeom prst="roundRect">
            <a:avLst>
              <a:gd name="adj" fmla="val 7692"/>
            </a:avLst>
          </a:prstGeom>
          <a:solidFill>
            <a:srgbClr val="FFD43B"/>
          </a:solidFill>
          <a:ln w="12700">
            <a:solidFill>
              <a:srgbClr val="FFD43B"/>
            </a:solidFill>
            <a:prstDash val="solid"/>
          </a:ln>
        </p:spPr>
      </p:sp>
      <p:sp>
        <p:nvSpPr>
          <p:cNvPr id="29" name="Text 26"/>
          <p:cNvSpPr txBox="1"/>
          <p:nvPr/>
        </p:nvSpPr>
        <p:spPr>
          <a:xfrm>
            <a:off x="9921240" y="1737360"/>
            <a:ext cx="1389888"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Browser</a:t>
            </a:r>
            <a:endParaRPr lang="en-US" sz="1500" dirty="0"/>
          </a:p>
        </p:txBody>
      </p:sp>
      <p:sp>
        <p:nvSpPr>
          <p:cNvPr id="30" name="Text 27"/>
          <p:cNvSpPr txBox="1"/>
          <p:nvPr/>
        </p:nvSpPr>
        <p:spPr>
          <a:xfrm>
            <a:off x="9921240" y="2084832"/>
            <a:ext cx="1389888" cy="685800"/>
          </a:xfrm>
          <a:prstGeom prst="rect">
            <a:avLst/>
          </a:prstGeom>
          <a:noFill/>
          <a:ln/>
        </p:spPr>
        <p:txBody>
          <a:bodyPr wrap="square" lIns="0" tIns="0" rIns="0" bIns="0" rtlCol="0" anchor="t"/>
          <a:lstStyle/>
          <a:p>
            <a:pPr indent="0" marL="0">
              <a:buNone/>
            </a:pPr>
            <a:r>
              <a:rPr lang="en-US" sz="1200" dirty="0">
                <a:solidFill>
                  <a:srgbClr val="2D333B"/>
                </a:solidFill>
                <a:latin typeface="Calibri" pitchFamily="34" charset="0"/>
                <a:ea typeface="Calibri" pitchFamily="34" charset="-122"/>
                <a:cs typeface="Calibri" pitchFamily="34" charset="-120"/>
              </a:rPr>
              <a:t>TypeScript</a:t>
            </a:r>
            <a:endParaRPr lang="en-US" sz="1200" dirty="0"/>
          </a:p>
          <a:p>
            <a:pPr indent="0" marL="0">
              <a:buNone/>
            </a:pPr>
            <a:r>
              <a:rPr lang="en-US" sz="1200" dirty="0">
                <a:solidFill>
                  <a:srgbClr val="2D333B"/>
                </a:solidFill>
                <a:latin typeface="Calibri" pitchFamily="34" charset="0"/>
                <a:ea typeface="Calibri" pitchFamily="34" charset="-122"/>
                <a:cs typeface="Calibri" pitchFamily="34" charset="-120"/>
              </a:rPr>
              <a:t>forward pass</a:t>
            </a:r>
            <a:endParaRPr lang="en-US" sz="1200" dirty="0"/>
          </a:p>
        </p:txBody>
      </p:sp>
      <p:sp>
        <p:nvSpPr>
          <p:cNvPr id="31" name="Text 28"/>
          <p:cNvSpPr txBox="1"/>
          <p:nvPr/>
        </p:nvSpPr>
        <p:spPr>
          <a:xfrm>
            <a:off x="548640" y="3154680"/>
            <a:ext cx="5486400" cy="320040"/>
          </a:xfrm>
          <a:prstGeom prst="rect">
            <a:avLst/>
          </a:prstGeom>
          <a:noFill/>
          <a:ln/>
        </p:spPr>
        <p:txBody>
          <a:bodyPr wrap="square" lIns="0" tIns="0" rIns="0" bIns="0" rtlCol="0" anchor="ctr"/>
          <a:lstStyle/>
          <a:p>
            <a:pPr indent="0" marL="0">
              <a:buNone/>
            </a:pPr>
            <a:r>
              <a:rPr lang="en-US" sz="1700" b="1" dirty="0">
                <a:solidFill>
                  <a:srgbClr val="1F2328"/>
                </a:solidFill>
                <a:latin typeface="Cambria" pitchFamily="34" charset="0"/>
                <a:ea typeface="Cambria" pitchFamily="34" charset="-122"/>
                <a:cs typeface="Cambria" pitchFamily="34" charset="-120"/>
              </a:rPr>
              <a:t>Feature vector per frame</a:t>
            </a:r>
            <a:endParaRPr lang="en-US" sz="1700" dirty="0"/>
          </a:p>
        </p:txBody>
      </p:sp>
      <p:sp>
        <p:nvSpPr>
          <p:cNvPr id="32" name="Shape 29"/>
          <p:cNvSpPr/>
          <p:nvPr/>
        </p:nvSpPr>
        <p:spPr>
          <a:xfrm>
            <a:off x="548640" y="3611880"/>
            <a:ext cx="2697480" cy="548640"/>
          </a:xfrm>
          <a:prstGeom prst="rect">
            <a:avLst/>
          </a:prstGeom>
          <a:solidFill>
            <a:srgbClr val="1F2328"/>
          </a:solidFill>
          <a:ln w="12700">
            <a:solidFill>
              <a:srgbClr val="FFFFFF"/>
            </a:solidFill>
            <a:prstDash val="solid"/>
          </a:ln>
        </p:spPr>
      </p:sp>
      <p:sp>
        <p:nvSpPr>
          <p:cNvPr id="33" name="Shape 30"/>
          <p:cNvSpPr/>
          <p:nvPr/>
        </p:nvSpPr>
        <p:spPr>
          <a:xfrm>
            <a:off x="3246120" y="3611880"/>
            <a:ext cx="2697480" cy="548640"/>
          </a:xfrm>
          <a:prstGeom prst="rect">
            <a:avLst/>
          </a:prstGeom>
          <a:solidFill>
            <a:srgbClr val="2D333B"/>
          </a:solidFill>
          <a:ln w="12700">
            <a:solidFill>
              <a:srgbClr val="FFFFFF"/>
            </a:solidFill>
            <a:prstDash val="solid"/>
          </a:ln>
        </p:spPr>
      </p:sp>
      <p:sp>
        <p:nvSpPr>
          <p:cNvPr id="34" name="Text 31"/>
          <p:cNvSpPr txBox="1"/>
          <p:nvPr/>
        </p:nvSpPr>
        <p:spPr>
          <a:xfrm>
            <a:off x="548640" y="3611880"/>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Left hand · 63</a:t>
            </a:r>
            <a:endParaRPr lang="en-US" sz="1300" dirty="0"/>
          </a:p>
        </p:txBody>
      </p:sp>
      <p:sp>
        <p:nvSpPr>
          <p:cNvPr id="35" name="Text 32"/>
          <p:cNvSpPr txBox="1"/>
          <p:nvPr/>
        </p:nvSpPr>
        <p:spPr>
          <a:xfrm>
            <a:off x="3246120" y="3611880"/>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Right hand · 63</a:t>
            </a:r>
            <a:endParaRPr lang="en-US" sz="1300" dirty="0"/>
          </a:p>
        </p:txBody>
      </p:sp>
      <p:sp>
        <p:nvSpPr>
          <p:cNvPr id="36" name="Text 33"/>
          <p:cNvSpPr txBox="1"/>
          <p:nvPr/>
        </p:nvSpPr>
        <p:spPr>
          <a:xfrm>
            <a:off x="548640" y="4297680"/>
            <a:ext cx="5394960" cy="1828800"/>
          </a:xfrm>
          <a:prstGeom prst="rect">
            <a:avLst/>
          </a:prstGeom>
          <a:noFill/>
          <a:ln/>
        </p:spPr>
        <p:txBody>
          <a:bodyPr wrap="square" lIns="0" tIns="0" rIns="0" bIns="0" rtlCol="0" anchor="t"/>
          <a:lstStyle/>
          <a:p>
            <a:pPr indent="0" marL="0">
              <a:buNone/>
            </a:pPr>
            <a:r>
              <a:rPr lang="en-US" sz="1350" dirty="0">
                <a:solidFill>
                  <a:srgbClr val="2D333B"/>
                </a:solidFill>
                <a:latin typeface="Calibri" pitchFamily="34" charset="0"/>
                <a:ea typeface="Calibri" pitchFamily="34" charset="-122"/>
                <a:cs typeface="Calibri" pitchFamily="34" charset="-120"/>
              </a:rPr>
              <a:t>21 landmarks × (x, y, z) per hand = 126 values. Each hand is centred on its wrist, scaled by wrist → middle-knuckle length, and x is multiplied by the camera aspect ratio (4:3). A missing hand is zero-filled. A 52-value face block exists in spec v0.4 but is switched off until there is more data.</a:t>
            </a:r>
            <a:endParaRPr lang="en-US" sz="1350" dirty="0"/>
          </a:p>
        </p:txBody>
      </p:sp>
      <p:sp>
        <p:nvSpPr>
          <p:cNvPr id="37" name="Text 34"/>
          <p:cNvSpPr txBox="1"/>
          <p:nvPr/>
        </p:nvSpPr>
        <p:spPr>
          <a:xfrm>
            <a:off x="6355080" y="3154680"/>
            <a:ext cx="5303520" cy="320040"/>
          </a:xfrm>
          <a:prstGeom prst="rect">
            <a:avLst/>
          </a:prstGeom>
          <a:noFill/>
          <a:ln/>
        </p:spPr>
        <p:txBody>
          <a:bodyPr wrap="square" lIns="0" tIns="0" rIns="0" bIns="0" rtlCol="0" anchor="ctr"/>
          <a:lstStyle/>
          <a:p>
            <a:pPr indent="0" marL="0">
              <a:buNone/>
            </a:pPr>
            <a:r>
              <a:rPr lang="en-US" sz="1700" b="1" dirty="0">
                <a:solidFill>
                  <a:srgbClr val="1F2328"/>
                </a:solidFill>
                <a:latin typeface="Cambria" pitchFamily="34" charset="0"/>
                <a:ea typeface="Cambria" pitchFamily="34" charset="-122"/>
                <a:cs typeface="Cambria" pitchFamily="34" charset="-120"/>
              </a:rPr>
              <a:t>Model architecture</a:t>
            </a:r>
            <a:endParaRPr lang="en-US" sz="1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55080" y="3611880"/>
          <a:ext cx="5285232" cy="914400"/>
        </p:xfrm>
        <a:graphic>
          <a:graphicData uri="http://schemas.openxmlformats.org/drawingml/2006/table">
            <a:tbl>
              <a:tblPr/>
              <a:tblGrid>
                <a:gridCol w="1554480"/>
                <a:gridCol w="1737360"/>
                <a:gridCol w="1993392"/>
              </a:tblGrid>
              <a:tr h="402336">
                <a:tc>
                  <a:txBody>
                    <a:bodyPr/>
                    <a:lstStyle/>
                    <a:p>
                      <a:pPr indent="0" marL="0">
                        <a:buNone/>
                      </a:pP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Fingerspelling</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Word signs</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1F2328"/>
                    </a:solidFill>
                  </a:tcPr>
                </a:tc>
              </a:tr>
              <a:tr h="402336">
                <a:tc>
                  <a:txBody>
                    <a:bodyPr/>
                    <a:lstStyle/>
                    <a:p>
                      <a:pPr indent="0" marL="0">
                        <a:buNone/>
                      </a:pPr>
                      <a:r>
                        <a:rPr lang="en-US" sz="1300" b="1" dirty="0">
                          <a:solidFill>
                            <a:srgbClr val="2D333B"/>
                          </a:solidFill>
                          <a:latin typeface="Calibri" pitchFamily="34" charset="0"/>
                          <a:ea typeface="Calibri" pitchFamily="34" charset="-122"/>
                          <a:cs typeface="Calibri" pitchFamily="34" charset="-120"/>
                        </a:rPr>
                        <a:t>Classes</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26 (A–Z)</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33 glosses</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2D333B"/>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252 (mean + std)</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1,260 (5 chunks × 252)</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02336">
                <a:tc>
                  <a:txBody>
                    <a:bodyPr/>
                    <a:lstStyle/>
                    <a:p>
                      <a:pPr indent="0" marL="0">
                        <a:buNone/>
                      </a:pPr>
                      <a:r>
                        <a:rPr lang="en-US" sz="1300" b="1" dirty="0">
                          <a:solidFill>
                            <a:srgbClr val="2D333B"/>
                          </a:solidFill>
                          <a:latin typeface="Calibri" pitchFamily="34" charset="0"/>
                          <a:ea typeface="Calibri" pitchFamily="34" charset="-122"/>
                          <a:cs typeface="Calibri" pitchFamily="34" charset="-120"/>
                        </a:rPr>
                        <a:t>Hidden layers</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128 ReLU</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128 → 64 ReLU</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2D333B"/>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softmax · 26</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softmax · 33</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2F3F5"/>
                    </a:solidFill>
                  </a:tcPr>
                </a:tc>
              </a:tr>
              <a:tr h="402336">
                <a:tc>
                  <a:txBody>
                    <a:bodyPr/>
                    <a:lstStyle/>
                    <a:p>
                      <a:pPr indent="0" marL="0">
                        <a:buNone/>
                      </a:pPr>
                      <a:r>
                        <a:rPr lang="en-US" sz="1300" b="1" dirty="0">
                          <a:solidFill>
                            <a:srgbClr val="2D333B"/>
                          </a:solidFill>
                          <a:latin typeface="Calibri" pitchFamily="34" charset="0"/>
                          <a:ea typeface="Calibri" pitchFamily="34" charset="-122"/>
                          <a:cs typeface="Calibri" pitchFamily="34" charset="-120"/>
                        </a:rPr>
                        <a:t>Training data</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3,475 samples (Kaggle)</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c>
                  <a:txBody>
                    <a:bodyPr/>
                    <a:lstStyle/>
                    <a:p>
                      <a:pPr indent="0" marL="0">
                        <a:buNone/>
                      </a:pPr>
                      <a:r>
                        <a:rPr lang="en-US" sz="1300" dirty="0">
                          <a:solidFill>
                            <a:srgbClr val="2D333B"/>
                          </a:solidFill>
                          <a:latin typeface="Calibri" pitchFamily="34" charset="0"/>
                          <a:ea typeface="Calibri" pitchFamily="34" charset="-122"/>
                          <a:cs typeface="Calibri" pitchFamily="34" charset="-120"/>
                        </a:rPr>
                        <a:t>309 unique WLASL clips</a:t>
                      </a:r>
                      <a:endParaRPr lang="en-US" sz="1300" dirty="0">
                        <a:latin typeface="Calibri" charset="0"/>
                        <a:ea typeface="Calibri" charset="0"/>
                        <a:cs typeface="Calibri" charset="0"/>
                      </a:endParaRPr>
                    </a:p>
                  </a:txBody>
                  <a:tcPr marL="101600" marR="101600" marT="50800" marB="50800" anchor="ctr">
                    <a:lnL w="9525" cap="flat" cmpd="sng" algn="ctr">
                      <a:solidFill>
                        <a:srgbClr val="C9CDD2"/>
                      </a:solidFill>
                      <a:prstDash val="solid"/>
                      <a:round/>
                      <a:headEnd type="none" w="med" len="med"/>
                      <a:tailEnd type="none" w="med" len="med"/>
                    </a:lnL>
                    <a:lnR w="9525" cap="flat" cmpd="sng" algn="ctr">
                      <a:solidFill>
                        <a:srgbClr val="C9CDD2"/>
                      </a:solidFill>
                      <a:prstDash val="solid"/>
                      <a:round/>
                      <a:headEnd type="none" w="med" len="med"/>
                      <a:tailEnd type="none" w="med" len="med"/>
                    </a:lnR>
                    <a:lnT w="9525" cap="flat" cmpd="sng" algn="ctr">
                      <a:solidFill>
                        <a:srgbClr val="C9CDD2"/>
                      </a:solidFill>
                      <a:prstDash val="solid"/>
                      <a:round/>
                      <a:headEnd type="none" w="med" len="med"/>
                      <a:tailEnd type="none" w="med" len="med"/>
                    </a:lnT>
                    <a:lnB w="9525" cap="flat" cmpd="sng" algn="ctr">
                      <a:solidFill>
                        <a:srgbClr val="C9CD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2075688"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2075688"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IMPLEMENTATION</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Modules implemented</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22</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645920"/>
            <a:ext cx="5440680" cy="2148840"/>
          </a:xfrm>
          <a:prstGeom prst="roundRect">
            <a:avLst>
              <a:gd name="adj" fmla="val 4255"/>
            </a:avLst>
          </a:prstGeom>
          <a:solidFill>
            <a:srgbClr val="F2F3F5"/>
          </a:solidFill>
          <a:ln w="12700">
            <a:solidFill>
              <a:srgbClr val="F2F3F5"/>
            </a:solidFill>
            <a:prstDash val="solid"/>
          </a:ln>
        </p:spPr>
      </p:sp>
      <p:sp>
        <p:nvSpPr>
          <p:cNvPr id="9" name="Shape 6"/>
          <p:cNvSpPr/>
          <p:nvPr/>
        </p:nvSpPr>
        <p:spPr>
          <a:xfrm>
            <a:off x="777240" y="1874520"/>
            <a:ext cx="457200" cy="457200"/>
          </a:xfrm>
          <a:prstGeom prst="ellipse">
            <a:avLst/>
          </a:prstGeom>
          <a:solidFill>
            <a:srgbClr val="FFD43B"/>
          </a:solidFill>
          <a:ln w="12700">
            <a:solidFill>
              <a:srgbClr val="FFD43B"/>
            </a:solidFill>
            <a:prstDash val="solid"/>
          </a:ln>
        </p:spPr>
      </p:sp>
      <p:sp>
        <p:nvSpPr>
          <p:cNvPr id="10" name="Text 7"/>
          <p:cNvSpPr txBox="1"/>
          <p:nvPr/>
        </p:nvSpPr>
        <p:spPr>
          <a:xfrm>
            <a:off x="777240" y="1874520"/>
            <a:ext cx="457200" cy="457200"/>
          </a:xfrm>
          <a:prstGeom prst="rect">
            <a:avLst/>
          </a:prstGeom>
          <a:noFill/>
          <a:ln/>
        </p:spPr>
        <p:txBody>
          <a:bodyPr wrap="square" lIns="0" tIns="0" rIns="0" bIns="0" rtlCol="0" anchor="ctr"/>
          <a:lstStyle/>
          <a:p>
            <a:pPr algn="ctr" indent="0" marL="0">
              <a:buNone/>
            </a:pPr>
            <a:r>
              <a:rPr lang="en-US" sz="1400" b="1" dirty="0">
                <a:solidFill>
                  <a:srgbClr val="1F2328"/>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777240" y="2468880"/>
            <a:ext cx="4983480" cy="365760"/>
          </a:xfrm>
          <a:prstGeom prst="rect">
            <a:avLst/>
          </a:prstGeom>
          <a:noFill/>
          <a:ln/>
        </p:spPr>
        <p:txBody>
          <a:bodyPr wrap="square" lIns="0" tIns="0" rIns="0" bIns="0" rtlCol="0" anchor="t"/>
          <a:lstStyle/>
          <a:p>
            <a:pPr indent="0" marL="0">
              <a:buNone/>
            </a:pPr>
            <a:r>
              <a:rPr lang="en-US" sz="1800" b="1" dirty="0">
                <a:solidFill>
                  <a:srgbClr val="1F2328"/>
                </a:solidFill>
                <a:latin typeface="Cambria" pitchFamily="34" charset="0"/>
                <a:ea typeface="Cambria" pitchFamily="34" charset="-122"/>
                <a:cs typeface="Cambria" pitchFamily="34" charset="-120"/>
              </a:rPr>
              <a:t>Transcribe</a:t>
            </a:r>
            <a:endParaRPr lang="en-US" sz="1800" dirty="0"/>
          </a:p>
        </p:txBody>
      </p:sp>
      <p:sp>
        <p:nvSpPr>
          <p:cNvPr id="12" name="Text 9"/>
          <p:cNvSpPr txBox="1"/>
          <p:nvPr/>
        </p:nvSpPr>
        <p:spPr>
          <a:xfrm>
            <a:off x="777240" y="2880360"/>
            <a:ext cx="4983480" cy="777240"/>
          </a:xfrm>
          <a:prstGeom prst="rect">
            <a:avLst/>
          </a:prstGeom>
          <a:noFill/>
          <a:ln/>
        </p:spPr>
        <p:txBody>
          <a:bodyPr wrap="square" lIns="0" tIns="0" rIns="0" bIns="0" rtlCol="0" anchor="t"/>
          <a:lstStyle/>
          <a:p>
            <a:pPr indent="0" marL="0">
              <a:spcAft>
                <a:spcPts val="400"/>
              </a:spcAft>
              <a:buNone/>
            </a:pPr>
            <a:r>
              <a:rPr lang="en-US" sz="1450" dirty="0">
                <a:solidFill>
                  <a:srgbClr val="2D333B"/>
                </a:solidFill>
                <a:latin typeface="Calibri" pitchFamily="34" charset="0"/>
                <a:ea typeface="Calibri" pitchFamily="34" charset="-122"/>
                <a:cs typeface="Calibri" pitchFamily="34" charset="-120"/>
              </a:rPr>
              <a:t>Sign freely into an editable transcript. Fingerspell, Word or Both mode. Gloss chips with confidence; Translate gives 3 English alternates and speaks them.</a:t>
            </a:r>
            <a:endParaRPr lang="en-US" sz="1450" dirty="0"/>
          </a:p>
        </p:txBody>
      </p:sp>
      <p:sp>
        <p:nvSpPr>
          <p:cNvPr id="13" name="Shape 10"/>
          <p:cNvSpPr/>
          <p:nvPr/>
        </p:nvSpPr>
        <p:spPr>
          <a:xfrm>
            <a:off x="6172200" y="1645920"/>
            <a:ext cx="5440680" cy="2148840"/>
          </a:xfrm>
          <a:prstGeom prst="roundRect">
            <a:avLst>
              <a:gd name="adj" fmla="val 4255"/>
            </a:avLst>
          </a:prstGeom>
          <a:solidFill>
            <a:srgbClr val="F2F3F5"/>
          </a:solidFill>
          <a:ln w="12700">
            <a:solidFill>
              <a:srgbClr val="F2F3F5"/>
            </a:solidFill>
            <a:prstDash val="solid"/>
          </a:ln>
        </p:spPr>
      </p:sp>
      <p:sp>
        <p:nvSpPr>
          <p:cNvPr id="14" name="Shape 11"/>
          <p:cNvSpPr/>
          <p:nvPr/>
        </p:nvSpPr>
        <p:spPr>
          <a:xfrm>
            <a:off x="6400800" y="1874520"/>
            <a:ext cx="457200" cy="457200"/>
          </a:xfrm>
          <a:prstGeom prst="ellipse">
            <a:avLst/>
          </a:prstGeom>
          <a:solidFill>
            <a:srgbClr val="1F2328"/>
          </a:solidFill>
          <a:ln w="12700">
            <a:solidFill>
              <a:srgbClr val="1F2328"/>
            </a:solidFill>
            <a:prstDash val="solid"/>
          </a:ln>
        </p:spPr>
      </p:sp>
      <p:sp>
        <p:nvSpPr>
          <p:cNvPr id="15" name="Text 12"/>
          <p:cNvSpPr txBox="1"/>
          <p:nvPr/>
        </p:nvSpPr>
        <p:spPr>
          <a:xfrm>
            <a:off x="640080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6400800" y="2468880"/>
            <a:ext cx="4983480" cy="365760"/>
          </a:xfrm>
          <a:prstGeom prst="rect">
            <a:avLst/>
          </a:prstGeom>
          <a:noFill/>
          <a:ln/>
        </p:spPr>
        <p:txBody>
          <a:bodyPr wrap="square" lIns="0" tIns="0" rIns="0" bIns="0" rtlCol="0" anchor="t"/>
          <a:lstStyle/>
          <a:p>
            <a:pPr indent="0" marL="0">
              <a:buNone/>
            </a:pPr>
            <a:r>
              <a:rPr lang="en-US" sz="1800" b="1" dirty="0">
                <a:solidFill>
                  <a:srgbClr val="1F2328"/>
                </a:solidFill>
                <a:latin typeface="Cambria" pitchFamily="34" charset="0"/>
                <a:ea typeface="Cambria" pitchFamily="34" charset="-122"/>
                <a:cs typeface="Cambria" pitchFamily="34" charset="-120"/>
              </a:rPr>
              <a:t>Practice</a:t>
            </a:r>
            <a:endParaRPr lang="en-US" sz="1800" dirty="0"/>
          </a:p>
        </p:txBody>
      </p:sp>
      <p:sp>
        <p:nvSpPr>
          <p:cNvPr id="17" name="Text 14"/>
          <p:cNvSpPr txBox="1"/>
          <p:nvPr/>
        </p:nvSpPr>
        <p:spPr>
          <a:xfrm>
            <a:off x="6400800" y="2880360"/>
            <a:ext cx="4983480" cy="777240"/>
          </a:xfrm>
          <a:prstGeom prst="rect">
            <a:avLst/>
          </a:prstGeom>
          <a:noFill/>
          <a:ln/>
        </p:spPr>
        <p:txBody>
          <a:bodyPr wrap="square" lIns="0" tIns="0" rIns="0" bIns="0" rtlCol="0" anchor="t"/>
          <a:lstStyle/>
          <a:p>
            <a:pPr indent="0" marL="0">
              <a:spcAft>
                <a:spcPts val="400"/>
              </a:spcAft>
              <a:buNone/>
            </a:pPr>
            <a:r>
              <a:rPr lang="en-US" sz="1450" dirty="0">
                <a:solidFill>
                  <a:srgbClr val="2D333B"/>
                </a:solidFill>
                <a:latin typeface="Calibri" pitchFamily="34" charset="0"/>
                <a:ea typeface="Calibri" pitchFamily="34" charset="-122"/>
                <a:cs typeface="Calibri" pitchFamily="34" charset="-120"/>
              </a:rPr>
              <a:t>Pick any of 26 letters or 21 conversational word signs in 5 categories. A reference stick figure shows the sign; the live score tells you when you pass.</a:t>
            </a:r>
            <a:endParaRPr lang="en-US" sz="1450" dirty="0"/>
          </a:p>
        </p:txBody>
      </p:sp>
      <p:sp>
        <p:nvSpPr>
          <p:cNvPr id="18" name="Shape 15"/>
          <p:cNvSpPr/>
          <p:nvPr/>
        </p:nvSpPr>
        <p:spPr>
          <a:xfrm>
            <a:off x="548640" y="3977640"/>
            <a:ext cx="5440680" cy="2148840"/>
          </a:xfrm>
          <a:prstGeom prst="roundRect">
            <a:avLst>
              <a:gd name="adj" fmla="val 4255"/>
            </a:avLst>
          </a:prstGeom>
          <a:solidFill>
            <a:srgbClr val="F2F3F5"/>
          </a:solidFill>
          <a:ln w="12700">
            <a:solidFill>
              <a:srgbClr val="F2F3F5"/>
            </a:solidFill>
            <a:prstDash val="solid"/>
          </a:ln>
        </p:spPr>
      </p:sp>
      <p:sp>
        <p:nvSpPr>
          <p:cNvPr id="19" name="Shape 16"/>
          <p:cNvSpPr/>
          <p:nvPr/>
        </p:nvSpPr>
        <p:spPr>
          <a:xfrm>
            <a:off x="777240" y="4206240"/>
            <a:ext cx="457200" cy="457200"/>
          </a:xfrm>
          <a:prstGeom prst="ellipse">
            <a:avLst/>
          </a:prstGeom>
          <a:solidFill>
            <a:srgbClr val="1F2328"/>
          </a:solidFill>
          <a:ln w="12700">
            <a:solidFill>
              <a:srgbClr val="1F2328"/>
            </a:solidFill>
            <a:prstDash val="solid"/>
          </a:ln>
        </p:spPr>
      </p:sp>
      <p:sp>
        <p:nvSpPr>
          <p:cNvPr id="20" name="Text 17"/>
          <p:cNvSpPr txBox="1"/>
          <p:nvPr/>
        </p:nvSpPr>
        <p:spPr>
          <a:xfrm>
            <a:off x="777240" y="4206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777240" y="4800600"/>
            <a:ext cx="4983480" cy="365760"/>
          </a:xfrm>
          <a:prstGeom prst="rect">
            <a:avLst/>
          </a:prstGeom>
          <a:noFill/>
          <a:ln/>
        </p:spPr>
        <p:txBody>
          <a:bodyPr wrap="square" lIns="0" tIns="0" rIns="0" bIns="0" rtlCol="0" anchor="t"/>
          <a:lstStyle/>
          <a:p>
            <a:pPr indent="0" marL="0">
              <a:buNone/>
            </a:pPr>
            <a:r>
              <a:rPr lang="en-US" sz="1800" b="1" dirty="0">
                <a:solidFill>
                  <a:srgbClr val="1F2328"/>
                </a:solidFill>
                <a:latin typeface="Cambria" pitchFamily="34" charset="0"/>
                <a:ea typeface="Cambria" pitchFamily="34" charset="-122"/>
                <a:cs typeface="Cambria" pitchFamily="34" charset="-120"/>
              </a:rPr>
              <a:t>Sentence Builder</a:t>
            </a:r>
            <a:endParaRPr lang="en-US" sz="1800" dirty="0"/>
          </a:p>
        </p:txBody>
      </p:sp>
      <p:sp>
        <p:nvSpPr>
          <p:cNvPr id="22" name="Text 19"/>
          <p:cNvSpPr txBox="1"/>
          <p:nvPr/>
        </p:nvSpPr>
        <p:spPr>
          <a:xfrm>
            <a:off x="777240" y="5212080"/>
            <a:ext cx="4983480" cy="777240"/>
          </a:xfrm>
          <a:prstGeom prst="rect">
            <a:avLst/>
          </a:prstGeom>
          <a:noFill/>
          <a:ln/>
        </p:spPr>
        <p:txBody>
          <a:bodyPr wrap="square" lIns="0" tIns="0" rIns="0" bIns="0" rtlCol="0" anchor="t"/>
          <a:lstStyle/>
          <a:p>
            <a:pPr indent="0" marL="0">
              <a:spcAft>
                <a:spcPts val="400"/>
              </a:spcAft>
              <a:buNone/>
            </a:pPr>
            <a:r>
              <a:rPr lang="en-US" sz="1450" dirty="0">
                <a:solidFill>
                  <a:srgbClr val="2D333B"/>
                </a:solidFill>
                <a:latin typeface="Calibri" pitchFamily="34" charset="0"/>
                <a:ea typeface="Calibri" pitchFamily="34" charset="-122"/>
                <a:cs typeface="Calibri" pitchFamily="34" charset="-120"/>
              </a:rPr>
              <a:t>Guided templates such as MY NAME [fingerspell] or NICE MEET YOU. Word slots are scored; fingerspell slots collect letters as you hold them.</a:t>
            </a:r>
            <a:endParaRPr lang="en-US" sz="1450" dirty="0"/>
          </a:p>
        </p:txBody>
      </p:sp>
      <p:sp>
        <p:nvSpPr>
          <p:cNvPr id="23" name="Shape 20"/>
          <p:cNvSpPr/>
          <p:nvPr/>
        </p:nvSpPr>
        <p:spPr>
          <a:xfrm>
            <a:off x="6172200" y="3977640"/>
            <a:ext cx="5440680" cy="2148840"/>
          </a:xfrm>
          <a:prstGeom prst="roundRect">
            <a:avLst>
              <a:gd name="adj" fmla="val 4255"/>
            </a:avLst>
          </a:prstGeom>
          <a:solidFill>
            <a:srgbClr val="F2F3F5"/>
          </a:solidFill>
          <a:ln w="12700">
            <a:solidFill>
              <a:srgbClr val="F2F3F5"/>
            </a:solidFill>
            <a:prstDash val="solid"/>
          </a:ln>
        </p:spPr>
      </p:sp>
      <p:sp>
        <p:nvSpPr>
          <p:cNvPr id="24" name="Shape 21"/>
          <p:cNvSpPr/>
          <p:nvPr/>
        </p:nvSpPr>
        <p:spPr>
          <a:xfrm>
            <a:off x="6400800" y="4206240"/>
            <a:ext cx="457200" cy="457200"/>
          </a:xfrm>
          <a:prstGeom prst="ellipse">
            <a:avLst/>
          </a:prstGeom>
          <a:solidFill>
            <a:srgbClr val="1F2328"/>
          </a:solidFill>
          <a:ln w="12700">
            <a:solidFill>
              <a:srgbClr val="1F2328"/>
            </a:solidFill>
            <a:prstDash val="solid"/>
          </a:ln>
        </p:spPr>
      </p:sp>
      <p:sp>
        <p:nvSpPr>
          <p:cNvPr id="25" name="Text 22"/>
          <p:cNvSpPr txBox="1"/>
          <p:nvPr/>
        </p:nvSpPr>
        <p:spPr>
          <a:xfrm>
            <a:off x="6400800" y="4206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6400800" y="4800600"/>
            <a:ext cx="4983480" cy="365760"/>
          </a:xfrm>
          <a:prstGeom prst="rect">
            <a:avLst/>
          </a:prstGeom>
          <a:noFill/>
          <a:ln/>
        </p:spPr>
        <p:txBody>
          <a:bodyPr wrap="square" lIns="0" tIns="0" rIns="0" bIns="0" rtlCol="0" anchor="t"/>
          <a:lstStyle/>
          <a:p>
            <a:pPr indent="0" marL="0">
              <a:buNone/>
            </a:pPr>
            <a:r>
              <a:rPr lang="en-US" sz="1800" b="1" dirty="0">
                <a:solidFill>
                  <a:srgbClr val="1F2328"/>
                </a:solidFill>
                <a:latin typeface="Cambria" pitchFamily="34" charset="0"/>
                <a:ea typeface="Cambria" pitchFamily="34" charset="-122"/>
                <a:cs typeface="Cambria" pitchFamily="34" charset="-120"/>
              </a:rPr>
              <a:t>Tutorial &amp; capture</a:t>
            </a:r>
            <a:endParaRPr lang="en-US" sz="1800" dirty="0"/>
          </a:p>
        </p:txBody>
      </p:sp>
      <p:sp>
        <p:nvSpPr>
          <p:cNvPr id="27" name="Text 24"/>
          <p:cNvSpPr txBox="1"/>
          <p:nvPr/>
        </p:nvSpPr>
        <p:spPr>
          <a:xfrm>
            <a:off x="6400800" y="5212080"/>
            <a:ext cx="4983480" cy="777240"/>
          </a:xfrm>
          <a:prstGeom prst="rect">
            <a:avLst/>
          </a:prstGeom>
          <a:noFill/>
          <a:ln/>
        </p:spPr>
        <p:txBody>
          <a:bodyPr wrap="square" lIns="0" tIns="0" rIns="0" bIns="0" rtlCol="0" anchor="t"/>
          <a:lstStyle/>
          <a:p>
            <a:pPr indent="0" marL="0">
              <a:spcAft>
                <a:spcPts val="400"/>
              </a:spcAft>
              <a:buNone/>
            </a:pPr>
            <a:r>
              <a:rPr lang="en-US" sz="1450" dirty="0">
                <a:solidFill>
                  <a:srgbClr val="2D333B"/>
                </a:solidFill>
                <a:latin typeface="Calibri" pitchFamily="34" charset="0"/>
                <a:ea typeface="Calibri" pitchFamily="34" charset="-122"/>
                <a:cs typeface="Calibri" pitchFamily="34" charset="-120"/>
              </a:rPr>
              <a:t>A 3-sign first-visit tutorial for non-signers. Developer lab mode records new landmark samples and reference clips for retraining.</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24358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24358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RESULTS</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Results</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23</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graphicFrame>
        <p:nvGraphicFramePr>
          <p:cNvPr id="8" name="Chart 0" descr=""/>
          <p:cNvGraphicFramePr/>
          <p:nvPr/>
        </p:nvGraphicFramePr>
        <p:xfrm>
          <a:off x="548640" y="1600200"/>
          <a:ext cx="6309360" cy="45720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178040" y="1691640"/>
            <a:ext cx="4480560" cy="594360"/>
          </a:xfrm>
          <a:prstGeom prst="rect">
            <a:avLst/>
          </a:prstGeom>
          <a:noFill/>
          <a:ln/>
        </p:spPr>
        <p:txBody>
          <a:bodyPr wrap="square" lIns="0" tIns="0" rIns="0" bIns="0" rtlCol="0" anchor="ctr"/>
          <a:lstStyle/>
          <a:p>
            <a:pPr indent="0" marL="0">
              <a:buNone/>
            </a:pPr>
            <a:r>
              <a:rPr lang="en-US" sz="3400" b="1" dirty="0">
                <a:solidFill>
                  <a:srgbClr val="1F2328"/>
                </a:solidFill>
                <a:latin typeface="Cambria" pitchFamily="34" charset="0"/>
                <a:ea typeface="Cambria" pitchFamily="34" charset="-122"/>
                <a:cs typeface="Cambria" pitchFamily="34" charset="-120"/>
              </a:rPr>
              <a:t>98.3%</a:t>
            </a:r>
            <a:endParaRPr lang="en-US" sz="3400" dirty="0"/>
          </a:p>
        </p:txBody>
      </p:sp>
      <p:sp>
        <p:nvSpPr>
          <p:cNvPr id="10" name="Text 6"/>
          <p:cNvSpPr txBox="1"/>
          <p:nvPr/>
        </p:nvSpPr>
        <p:spPr>
          <a:xfrm>
            <a:off x="7178040" y="2258568"/>
            <a:ext cx="4480560" cy="502920"/>
          </a:xfrm>
          <a:prstGeom prst="rect">
            <a:avLst/>
          </a:prstGeom>
          <a:noFill/>
          <a:ln/>
        </p:spPr>
        <p:txBody>
          <a:bodyPr wrap="square" lIns="0" tIns="0" rIns="0" bIns="0" rtlCol="0" anchor="t"/>
          <a:lstStyle/>
          <a:p>
            <a:pPr indent="0" marL="0">
              <a:buNone/>
            </a:pPr>
            <a:r>
              <a:rPr lang="en-US" sz="1350" dirty="0">
                <a:solidFill>
                  <a:srgbClr val="2D333B"/>
                </a:solidFill>
                <a:latin typeface="Calibri" pitchFamily="34" charset="0"/>
                <a:ea typeface="Calibri" pitchFamily="34" charset="-122"/>
                <a:cs typeface="Calibri" pitchFamily="34" charset="-120"/>
              </a:rPr>
              <a:t>fingerspelling accuracy on the Kaggle hold-out — above the 90% target</a:t>
            </a:r>
            <a:endParaRPr lang="en-US" sz="1350" dirty="0"/>
          </a:p>
        </p:txBody>
      </p:sp>
      <p:sp>
        <p:nvSpPr>
          <p:cNvPr id="11" name="Text 7"/>
          <p:cNvSpPr txBox="1"/>
          <p:nvPr/>
        </p:nvSpPr>
        <p:spPr>
          <a:xfrm>
            <a:off x="7178040" y="2880360"/>
            <a:ext cx="4480560" cy="594360"/>
          </a:xfrm>
          <a:prstGeom prst="rect">
            <a:avLst/>
          </a:prstGeom>
          <a:noFill/>
          <a:ln/>
        </p:spPr>
        <p:txBody>
          <a:bodyPr wrap="square" lIns="0" tIns="0" rIns="0" bIns="0" rtlCol="0" anchor="ctr"/>
          <a:lstStyle/>
          <a:p>
            <a:pPr indent="0" marL="0">
              <a:buNone/>
            </a:pPr>
            <a:r>
              <a:rPr lang="en-US" sz="3400" b="1" dirty="0">
                <a:solidFill>
                  <a:srgbClr val="1F2328"/>
                </a:solidFill>
                <a:latin typeface="Cambria" pitchFamily="34" charset="0"/>
                <a:ea typeface="Cambria" pitchFamily="34" charset="-122"/>
                <a:cs typeface="Cambria" pitchFamily="34" charset="-120"/>
              </a:rPr>
              <a:t>56.5%</a:t>
            </a:r>
            <a:endParaRPr lang="en-US" sz="3400" dirty="0"/>
          </a:p>
        </p:txBody>
      </p:sp>
      <p:sp>
        <p:nvSpPr>
          <p:cNvPr id="12" name="Text 8"/>
          <p:cNvSpPr txBox="1"/>
          <p:nvPr/>
        </p:nvSpPr>
        <p:spPr>
          <a:xfrm>
            <a:off x="7178040" y="3447288"/>
            <a:ext cx="4480560" cy="502920"/>
          </a:xfrm>
          <a:prstGeom prst="rect">
            <a:avLst/>
          </a:prstGeom>
          <a:noFill/>
          <a:ln/>
        </p:spPr>
        <p:txBody>
          <a:bodyPr wrap="square" lIns="0" tIns="0" rIns="0" bIns="0" rtlCol="0" anchor="t"/>
          <a:lstStyle/>
          <a:p>
            <a:pPr indent="0" marL="0">
              <a:buNone/>
            </a:pPr>
            <a:r>
              <a:rPr lang="en-US" sz="1350" dirty="0">
                <a:solidFill>
                  <a:srgbClr val="2D333B"/>
                </a:solidFill>
                <a:latin typeface="Calibri" pitchFamily="34" charset="0"/>
                <a:ea typeface="Calibri" pitchFamily="34" charset="-122"/>
                <a:cs typeface="Calibri" pitchFamily="34" charset="-120"/>
              </a:rPr>
              <a:t>word-sign accuracy (33 classes) on a de-duplicated split</a:t>
            </a:r>
            <a:endParaRPr lang="en-US" sz="1350" dirty="0"/>
          </a:p>
        </p:txBody>
      </p:sp>
      <p:sp>
        <p:nvSpPr>
          <p:cNvPr id="13" name="Text 9"/>
          <p:cNvSpPr txBox="1"/>
          <p:nvPr/>
        </p:nvSpPr>
        <p:spPr>
          <a:xfrm>
            <a:off x="7178040" y="4069080"/>
            <a:ext cx="4480560" cy="594360"/>
          </a:xfrm>
          <a:prstGeom prst="rect">
            <a:avLst/>
          </a:prstGeom>
          <a:noFill/>
          <a:ln/>
        </p:spPr>
        <p:txBody>
          <a:bodyPr wrap="square" lIns="0" tIns="0" rIns="0" bIns="0" rtlCol="0" anchor="ctr"/>
          <a:lstStyle/>
          <a:p>
            <a:pPr indent="0" marL="0">
              <a:buNone/>
            </a:pPr>
            <a:r>
              <a:rPr lang="en-US" sz="3400" b="1" dirty="0">
                <a:solidFill>
                  <a:srgbClr val="1F2328"/>
                </a:solidFill>
                <a:latin typeface="Cambria" pitchFamily="34" charset="0"/>
                <a:ea typeface="Cambria" pitchFamily="34" charset="-122"/>
                <a:cs typeface="Cambria" pitchFamily="34" charset="-120"/>
              </a:rPr>
              <a:t>≥ 15 FPS</a:t>
            </a:r>
            <a:endParaRPr lang="en-US" sz="3400" dirty="0"/>
          </a:p>
        </p:txBody>
      </p:sp>
      <p:sp>
        <p:nvSpPr>
          <p:cNvPr id="14" name="Text 10"/>
          <p:cNvSpPr txBox="1"/>
          <p:nvPr/>
        </p:nvSpPr>
        <p:spPr>
          <a:xfrm>
            <a:off x="7178040" y="4636008"/>
            <a:ext cx="4480560" cy="502920"/>
          </a:xfrm>
          <a:prstGeom prst="rect">
            <a:avLst/>
          </a:prstGeom>
          <a:noFill/>
          <a:ln/>
        </p:spPr>
        <p:txBody>
          <a:bodyPr wrap="square" lIns="0" tIns="0" rIns="0" bIns="0" rtlCol="0" anchor="t"/>
          <a:lstStyle/>
          <a:p>
            <a:pPr indent="0" marL="0">
              <a:buNone/>
            </a:pPr>
            <a:r>
              <a:rPr lang="en-US" sz="1350" dirty="0">
                <a:solidFill>
                  <a:srgbClr val="2D333B"/>
                </a:solidFill>
                <a:latin typeface="Calibri" pitchFamily="34" charset="0"/>
                <a:ea typeface="Calibri" pitchFamily="34" charset="-122"/>
                <a:cs typeface="Calibri" pitchFamily="34" charset="-120"/>
              </a:rPr>
              <a:t>real-time target; MLP inference is a few matrix multiplies per frame</a:t>
            </a:r>
            <a:endParaRPr lang="en-US" sz="1350" dirty="0"/>
          </a:p>
        </p:txBody>
      </p:sp>
      <p:sp>
        <p:nvSpPr>
          <p:cNvPr id="15" name="Shape 11"/>
          <p:cNvSpPr/>
          <p:nvPr/>
        </p:nvSpPr>
        <p:spPr>
          <a:xfrm>
            <a:off x="7178040" y="5349240"/>
            <a:ext cx="4462272" cy="868680"/>
          </a:xfrm>
          <a:prstGeom prst="roundRect">
            <a:avLst>
              <a:gd name="adj" fmla="val 10526"/>
            </a:avLst>
          </a:prstGeom>
          <a:solidFill>
            <a:srgbClr val="FFF4C2"/>
          </a:solidFill>
          <a:ln w="12700">
            <a:solidFill>
              <a:srgbClr val="FFF4C2"/>
            </a:solidFill>
            <a:prstDash val="solid"/>
          </a:ln>
        </p:spPr>
      </p:sp>
      <p:sp>
        <p:nvSpPr>
          <p:cNvPr id="16" name="Text 12"/>
          <p:cNvSpPr txBox="1"/>
          <p:nvPr/>
        </p:nvSpPr>
        <p:spPr>
          <a:xfrm>
            <a:off x="7360920" y="5349240"/>
            <a:ext cx="4114800" cy="8686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Earlier 93.5% counted duplicate clips twice; the honest figure shows data volume is the bottleneck.</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24358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24358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TESTING</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Testing and validation</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24</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Shape 5"/>
          <p:cNvSpPr/>
          <p:nvPr/>
        </p:nvSpPr>
        <p:spPr>
          <a:xfrm>
            <a:off x="548640" y="1645920"/>
            <a:ext cx="11094415" cy="987552"/>
          </a:xfrm>
          <a:prstGeom prst="roundRect">
            <a:avLst>
              <a:gd name="adj" fmla="val 9259"/>
            </a:avLst>
          </a:prstGeom>
          <a:solidFill>
            <a:srgbClr val="F2F3F5"/>
          </a:solidFill>
          <a:ln w="9525">
            <a:solidFill>
              <a:srgbClr val="C9CDD2"/>
            </a:solidFill>
            <a:prstDash val="solid"/>
          </a:ln>
        </p:spPr>
      </p:sp>
      <p:sp>
        <p:nvSpPr>
          <p:cNvPr id="9" name="Shape 6"/>
          <p:cNvSpPr/>
          <p:nvPr/>
        </p:nvSpPr>
        <p:spPr>
          <a:xfrm>
            <a:off x="777240" y="1911096"/>
            <a:ext cx="457200" cy="457200"/>
          </a:xfrm>
          <a:prstGeom prst="ellipse">
            <a:avLst/>
          </a:prstGeom>
          <a:solidFill>
            <a:srgbClr val="FFD43B"/>
          </a:solidFill>
          <a:ln w="12700">
            <a:solidFill>
              <a:srgbClr val="FFD43B"/>
            </a:solidFill>
            <a:prstDash val="solid"/>
          </a:ln>
        </p:spPr>
      </p:sp>
      <p:sp>
        <p:nvSpPr>
          <p:cNvPr id="10" name="Text 7"/>
          <p:cNvSpPr txBox="1"/>
          <p:nvPr/>
        </p:nvSpPr>
        <p:spPr>
          <a:xfrm>
            <a:off x="777240" y="1911096"/>
            <a:ext cx="457200" cy="457200"/>
          </a:xfrm>
          <a:prstGeom prst="rect">
            <a:avLst/>
          </a:prstGeom>
          <a:noFill/>
          <a:ln/>
        </p:spPr>
        <p:txBody>
          <a:bodyPr wrap="square" lIns="0" tIns="0" rIns="0" bIns="0" rtlCol="0" anchor="ctr"/>
          <a:lstStyle/>
          <a:p>
            <a:pPr algn="ctr" indent="0" marL="0">
              <a:buNone/>
            </a:pPr>
            <a:r>
              <a:rPr lang="en-US" sz="1600" b="1" dirty="0">
                <a:solidFill>
                  <a:srgbClr val="1F2328"/>
                </a:solidFill>
                <a:latin typeface="Calibri" pitchFamily="34" charset="0"/>
                <a:ea typeface="Calibri" pitchFamily="34" charset="-122"/>
                <a:cs typeface="Calibri" pitchFamily="34" charset="-120"/>
              </a:rPr>
              <a:t>✓</a:t>
            </a:r>
            <a:endParaRPr lang="en-US" sz="1600" dirty="0"/>
          </a:p>
        </p:txBody>
      </p:sp>
      <p:sp>
        <p:nvSpPr>
          <p:cNvPr id="11" name="Text 8"/>
          <p:cNvSpPr txBox="1"/>
          <p:nvPr/>
        </p:nvSpPr>
        <p:spPr>
          <a:xfrm>
            <a:off x="1463040" y="1737360"/>
            <a:ext cx="3291840" cy="804672"/>
          </a:xfrm>
          <a:prstGeom prst="rect">
            <a:avLst/>
          </a:prstGeom>
          <a:noFill/>
          <a:ln/>
        </p:spPr>
        <p:txBody>
          <a:bodyPr wrap="square" lIns="0" tIns="0" rIns="0" bIns="0" rtlCol="0" anchor="ctr"/>
          <a:lstStyle/>
          <a:p>
            <a:pPr indent="0" marL="0">
              <a:buNone/>
            </a:pPr>
            <a:r>
              <a:rPr lang="en-US" sz="1600" b="1" dirty="0">
                <a:solidFill>
                  <a:srgbClr val="1F2328"/>
                </a:solidFill>
                <a:latin typeface="Cambria" pitchFamily="34" charset="0"/>
                <a:ea typeface="Cambria" pitchFamily="34" charset="-122"/>
                <a:cs typeface="Cambria" pitchFamily="34" charset="-120"/>
              </a:rPr>
              <a:t>Golden-output regression test</a:t>
            </a:r>
            <a:endParaRPr lang="en-US" sz="1600" dirty="0"/>
          </a:p>
        </p:txBody>
      </p:sp>
      <p:sp>
        <p:nvSpPr>
          <p:cNvPr id="12" name="Text 9"/>
          <p:cNvSpPr txBox="1"/>
          <p:nvPr/>
        </p:nvSpPr>
        <p:spPr>
          <a:xfrm>
            <a:off x="4892040" y="1737360"/>
            <a:ext cx="6492240" cy="804672"/>
          </a:xfrm>
          <a:prstGeom prst="rect">
            <a:avLst/>
          </a:prstGeom>
          <a:noFill/>
          <a:ln/>
        </p:spPr>
        <p:txBody>
          <a:bodyPr wrap="square" lIns="0" tIns="0" rIns="0" bIns="0" rtlCol="0" anchor="ctr"/>
          <a:lstStyle/>
          <a:p>
            <a:pPr indent="0" marL="0">
              <a:buNone/>
            </a:pPr>
            <a:r>
              <a:rPr lang="en-US" sz="1350" dirty="0">
                <a:solidFill>
                  <a:srgbClr val="2D333B"/>
                </a:solidFill>
                <a:latin typeface="Calibri" pitchFamily="34" charset="0"/>
                <a:ea typeface="Calibri" pitchFamily="34" charset="-122"/>
                <a:cs typeface="Calibri" pitchFamily="34" charset="-120"/>
              </a:rPr>
              <a:t>npm run golden replays recorded landmark frames through the real Recognizer and fails on any change in emitted events. Run before every change to recognition code.</a:t>
            </a:r>
            <a:endParaRPr lang="en-US" sz="1350" dirty="0"/>
          </a:p>
        </p:txBody>
      </p:sp>
      <p:sp>
        <p:nvSpPr>
          <p:cNvPr id="13" name="Shape 10"/>
          <p:cNvSpPr/>
          <p:nvPr/>
        </p:nvSpPr>
        <p:spPr>
          <a:xfrm>
            <a:off x="548640" y="2788920"/>
            <a:ext cx="11094415" cy="987552"/>
          </a:xfrm>
          <a:prstGeom prst="roundRect">
            <a:avLst>
              <a:gd name="adj" fmla="val 9259"/>
            </a:avLst>
          </a:prstGeom>
          <a:solidFill>
            <a:srgbClr val="FFFFFF"/>
          </a:solidFill>
          <a:ln w="9525">
            <a:solidFill>
              <a:srgbClr val="C9CDD2"/>
            </a:solidFill>
            <a:prstDash val="solid"/>
          </a:ln>
        </p:spPr>
      </p:sp>
      <p:sp>
        <p:nvSpPr>
          <p:cNvPr id="14" name="Shape 11"/>
          <p:cNvSpPr/>
          <p:nvPr/>
        </p:nvSpPr>
        <p:spPr>
          <a:xfrm>
            <a:off x="777240" y="3054096"/>
            <a:ext cx="457200" cy="457200"/>
          </a:xfrm>
          <a:prstGeom prst="ellipse">
            <a:avLst/>
          </a:prstGeom>
          <a:solidFill>
            <a:srgbClr val="1F2328"/>
          </a:solidFill>
          <a:ln w="12700">
            <a:solidFill>
              <a:srgbClr val="1F2328"/>
            </a:solidFill>
            <a:prstDash val="solid"/>
          </a:ln>
        </p:spPr>
      </p:sp>
      <p:sp>
        <p:nvSpPr>
          <p:cNvPr id="15" name="Text 12"/>
          <p:cNvSpPr txBox="1"/>
          <p:nvPr/>
        </p:nvSpPr>
        <p:spPr>
          <a:xfrm>
            <a:off x="777240" y="30540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3"/>
          <p:cNvSpPr txBox="1"/>
          <p:nvPr/>
        </p:nvSpPr>
        <p:spPr>
          <a:xfrm>
            <a:off x="1463040" y="2880360"/>
            <a:ext cx="3291840" cy="804672"/>
          </a:xfrm>
          <a:prstGeom prst="rect">
            <a:avLst/>
          </a:prstGeom>
          <a:noFill/>
          <a:ln/>
        </p:spPr>
        <p:txBody>
          <a:bodyPr wrap="square" lIns="0" tIns="0" rIns="0" bIns="0" rtlCol="0" anchor="ctr"/>
          <a:lstStyle/>
          <a:p>
            <a:pPr indent="0" marL="0">
              <a:buNone/>
            </a:pPr>
            <a:r>
              <a:rPr lang="en-US" sz="1600" b="1" dirty="0">
                <a:solidFill>
                  <a:srgbClr val="1F2328"/>
                </a:solidFill>
                <a:latin typeface="Cambria" pitchFamily="34" charset="0"/>
                <a:ea typeface="Cambria" pitchFamily="34" charset="-122"/>
                <a:cs typeface="Cambria" pitchFamily="34" charset="-120"/>
              </a:rPr>
              <a:t>Leak-free evaluation</a:t>
            </a:r>
            <a:endParaRPr lang="en-US" sz="1600" dirty="0"/>
          </a:p>
        </p:txBody>
      </p:sp>
      <p:sp>
        <p:nvSpPr>
          <p:cNvPr id="17" name="Text 14"/>
          <p:cNvSpPr txBox="1"/>
          <p:nvPr/>
        </p:nvSpPr>
        <p:spPr>
          <a:xfrm>
            <a:off x="4892040" y="2880360"/>
            <a:ext cx="6492240" cy="804672"/>
          </a:xfrm>
          <a:prstGeom prst="rect">
            <a:avLst/>
          </a:prstGeom>
          <a:noFill/>
          <a:ln/>
        </p:spPr>
        <p:txBody>
          <a:bodyPr wrap="square" lIns="0" tIns="0" rIns="0" bIns="0" rtlCol="0" anchor="ctr"/>
          <a:lstStyle/>
          <a:p>
            <a:pPr indent="0" marL="0">
              <a:buNone/>
            </a:pPr>
            <a:r>
              <a:rPr lang="en-US" sz="1350" dirty="0">
                <a:solidFill>
                  <a:srgbClr val="2D333B"/>
                </a:solidFill>
                <a:latin typeface="Calibri" pitchFamily="34" charset="0"/>
                <a:ea typeface="Calibri" pitchFamily="34" charset="-122"/>
                <a:cs typeface="Calibri" pitchFamily="34" charset="-120"/>
              </a:rPr>
              <a:t>train.py removes duplicate clips by default and uses a stratified random split, because the “signer” field held import-batch names, not people.</a:t>
            </a:r>
            <a:endParaRPr lang="en-US" sz="1350" dirty="0"/>
          </a:p>
        </p:txBody>
      </p:sp>
      <p:sp>
        <p:nvSpPr>
          <p:cNvPr id="18" name="Shape 15"/>
          <p:cNvSpPr/>
          <p:nvPr/>
        </p:nvSpPr>
        <p:spPr>
          <a:xfrm>
            <a:off x="548640" y="3931920"/>
            <a:ext cx="11094415" cy="987552"/>
          </a:xfrm>
          <a:prstGeom prst="roundRect">
            <a:avLst>
              <a:gd name="adj" fmla="val 9259"/>
            </a:avLst>
          </a:prstGeom>
          <a:solidFill>
            <a:srgbClr val="F2F3F5"/>
          </a:solidFill>
          <a:ln w="9525">
            <a:solidFill>
              <a:srgbClr val="C9CDD2"/>
            </a:solidFill>
            <a:prstDash val="solid"/>
          </a:ln>
        </p:spPr>
      </p:sp>
      <p:sp>
        <p:nvSpPr>
          <p:cNvPr id="19" name="Shape 16"/>
          <p:cNvSpPr/>
          <p:nvPr/>
        </p:nvSpPr>
        <p:spPr>
          <a:xfrm>
            <a:off x="777240" y="4197096"/>
            <a:ext cx="457200" cy="457200"/>
          </a:xfrm>
          <a:prstGeom prst="ellipse">
            <a:avLst/>
          </a:prstGeom>
          <a:solidFill>
            <a:srgbClr val="1F2328"/>
          </a:solidFill>
          <a:ln w="12700">
            <a:solidFill>
              <a:srgbClr val="1F2328"/>
            </a:solidFill>
            <a:prstDash val="solid"/>
          </a:ln>
        </p:spPr>
      </p:sp>
      <p:sp>
        <p:nvSpPr>
          <p:cNvPr id="20" name="Text 17"/>
          <p:cNvSpPr txBox="1"/>
          <p:nvPr/>
        </p:nvSpPr>
        <p:spPr>
          <a:xfrm>
            <a:off x="777240" y="41970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8"/>
          <p:cNvSpPr txBox="1"/>
          <p:nvPr/>
        </p:nvSpPr>
        <p:spPr>
          <a:xfrm>
            <a:off x="1463040" y="4023360"/>
            <a:ext cx="3291840" cy="804672"/>
          </a:xfrm>
          <a:prstGeom prst="rect">
            <a:avLst/>
          </a:prstGeom>
          <a:noFill/>
          <a:ln/>
        </p:spPr>
        <p:txBody>
          <a:bodyPr wrap="square" lIns="0" tIns="0" rIns="0" bIns="0" rtlCol="0" anchor="ctr"/>
          <a:lstStyle/>
          <a:p>
            <a:pPr indent="0" marL="0">
              <a:buNone/>
            </a:pPr>
            <a:r>
              <a:rPr lang="en-US" sz="1600" b="1" dirty="0">
                <a:solidFill>
                  <a:srgbClr val="1F2328"/>
                </a:solidFill>
                <a:latin typeface="Cambria" pitchFamily="34" charset="0"/>
                <a:ea typeface="Cambria" pitchFamily="34" charset="-122"/>
                <a:cs typeface="Cambria" pitchFamily="34" charset="-120"/>
              </a:rPr>
              <a:t>Multi-seed comparison</a:t>
            </a:r>
            <a:endParaRPr lang="en-US" sz="1600" dirty="0"/>
          </a:p>
        </p:txBody>
      </p:sp>
      <p:sp>
        <p:nvSpPr>
          <p:cNvPr id="22" name="Text 19"/>
          <p:cNvSpPr txBox="1"/>
          <p:nvPr/>
        </p:nvSpPr>
        <p:spPr>
          <a:xfrm>
            <a:off x="4892040" y="4023360"/>
            <a:ext cx="6492240" cy="804672"/>
          </a:xfrm>
          <a:prstGeom prst="rect">
            <a:avLst/>
          </a:prstGeom>
          <a:noFill/>
          <a:ln/>
        </p:spPr>
        <p:txBody>
          <a:bodyPr wrap="square" lIns="0" tIns="0" rIns="0" bIns="0" rtlCol="0" anchor="ctr"/>
          <a:lstStyle/>
          <a:p>
            <a:pPr indent="0" marL="0">
              <a:buNone/>
            </a:pPr>
            <a:r>
              <a:rPr lang="en-US" sz="1350" dirty="0">
                <a:solidFill>
                  <a:srgbClr val="2D333B"/>
                </a:solidFill>
                <a:latin typeface="Calibri" pitchFamily="34" charset="0"/>
                <a:ea typeface="Calibri" pitchFamily="34" charset="-122"/>
                <a:cs typeface="Calibri" pitchFamily="34" charset="-120"/>
              </a:rPr>
              <a:t>Every model change is compared over at least 3 random seeds; a single seed twice suggested gains that disappeared on re-check.</a:t>
            </a:r>
            <a:endParaRPr lang="en-US" sz="1350" dirty="0"/>
          </a:p>
        </p:txBody>
      </p:sp>
      <p:sp>
        <p:nvSpPr>
          <p:cNvPr id="23" name="Shape 20"/>
          <p:cNvSpPr/>
          <p:nvPr/>
        </p:nvSpPr>
        <p:spPr>
          <a:xfrm>
            <a:off x="548640" y="5074920"/>
            <a:ext cx="11094415" cy="987552"/>
          </a:xfrm>
          <a:prstGeom prst="roundRect">
            <a:avLst>
              <a:gd name="adj" fmla="val 9259"/>
            </a:avLst>
          </a:prstGeom>
          <a:solidFill>
            <a:srgbClr val="FFFFFF"/>
          </a:solidFill>
          <a:ln w="9525">
            <a:solidFill>
              <a:srgbClr val="C9CDD2"/>
            </a:solidFill>
            <a:prstDash val="solid"/>
          </a:ln>
        </p:spPr>
      </p:sp>
      <p:sp>
        <p:nvSpPr>
          <p:cNvPr id="24" name="Shape 21"/>
          <p:cNvSpPr/>
          <p:nvPr/>
        </p:nvSpPr>
        <p:spPr>
          <a:xfrm>
            <a:off x="777240" y="5340096"/>
            <a:ext cx="457200" cy="457200"/>
          </a:xfrm>
          <a:prstGeom prst="ellipse">
            <a:avLst/>
          </a:prstGeom>
          <a:solidFill>
            <a:srgbClr val="1F2328"/>
          </a:solidFill>
          <a:ln w="12700">
            <a:solidFill>
              <a:srgbClr val="1F2328"/>
            </a:solidFill>
            <a:prstDash val="solid"/>
          </a:ln>
        </p:spPr>
      </p:sp>
      <p:sp>
        <p:nvSpPr>
          <p:cNvPr id="25" name="Text 22"/>
          <p:cNvSpPr txBox="1"/>
          <p:nvPr/>
        </p:nvSpPr>
        <p:spPr>
          <a:xfrm>
            <a:off x="777240" y="53400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3"/>
          <p:cNvSpPr txBox="1"/>
          <p:nvPr/>
        </p:nvSpPr>
        <p:spPr>
          <a:xfrm>
            <a:off x="1463040" y="5166360"/>
            <a:ext cx="3291840" cy="804672"/>
          </a:xfrm>
          <a:prstGeom prst="rect">
            <a:avLst/>
          </a:prstGeom>
          <a:noFill/>
          <a:ln/>
        </p:spPr>
        <p:txBody>
          <a:bodyPr wrap="square" lIns="0" tIns="0" rIns="0" bIns="0" rtlCol="0" anchor="ctr"/>
          <a:lstStyle/>
          <a:p>
            <a:pPr indent="0" marL="0">
              <a:buNone/>
            </a:pPr>
            <a:r>
              <a:rPr lang="en-US" sz="1600" b="1" dirty="0">
                <a:solidFill>
                  <a:srgbClr val="1F2328"/>
                </a:solidFill>
                <a:latin typeface="Cambria" pitchFamily="34" charset="0"/>
                <a:ea typeface="Cambria" pitchFamily="34" charset="-122"/>
                <a:cs typeface="Cambria" pitchFamily="34" charset="-120"/>
              </a:rPr>
              <a:t>Live measurement</a:t>
            </a:r>
            <a:endParaRPr lang="en-US" sz="1600" dirty="0"/>
          </a:p>
        </p:txBody>
      </p:sp>
      <p:sp>
        <p:nvSpPr>
          <p:cNvPr id="27" name="Text 24"/>
          <p:cNvSpPr txBox="1"/>
          <p:nvPr/>
        </p:nvSpPr>
        <p:spPr>
          <a:xfrm>
            <a:off x="4892040" y="5166360"/>
            <a:ext cx="6492240" cy="804672"/>
          </a:xfrm>
          <a:prstGeom prst="rect">
            <a:avLst/>
          </a:prstGeom>
          <a:noFill/>
          <a:ln/>
        </p:spPr>
        <p:txBody>
          <a:bodyPr wrap="square" lIns="0" tIns="0" rIns="0" bIns="0" rtlCol="0" anchor="ctr"/>
          <a:lstStyle/>
          <a:p>
            <a:pPr indent="0" marL="0">
              <a:buNone/>
            </a:pPr>
            <a:r>
              <a:rPr lang="en-US" sz="1350" dirty="0">
                <a:solidFill>
                  <a:srgbClr val="2D333B"/>
                </a:solidFill>
                <a:latin typeface="Calibri" pitchFamily="34" charset="0"/>
                <a:ea typeface="Calibri" pitchFamily="34" charset="-122"/>
                <a:cs typeface="Calibri" pitchFamily="34" charset="-120"/>
              </a:rPr>
              <a:t>Seven in-domain HELLO recordings showed the model was right on 40 of 42 held-out frames — the failure was commit timing, not recognition.</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837944"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837944"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FUTURE SCOPE</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Limitations and future scope</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25</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Text 5"/>
          <p:cNvSpPr txBox="1"/>
          <p:nvPr/>
        </p:nvSpPr>
        <p:spPr>
          <a:xfrm>
            <a:off x="548640" y="1600200"/>
            <a:ext cx="5120640" cy="365760"/>
          </a:xfrm>
          <a:prstGeom prst="rect">
            <a:avLst/>
          </a:prstGeom>
          <a:noFill/>
          <a:ln/>
        </p:spPr>
        <p:txBody>
          <a:bodyPr wrap="square" lIns="0" tIns="0" rIns="0" bIns="0" rtlCol="0" anchor="ctr"/>
          <a:lstStyle/>
          <a:p>
            <a:pPr indent="0" marL="0">
              <a:buNone/>
            </a:pPr>
            <a:r>
              <a:rPr lang="en-US" sz="1900" b="1" dirty="0">
                <a:solidFill>
                  <a:srgbClr val="1F2328"/>
                </a:solidFill>
                <a:latin typeface="Cambria" pitchFamily="34" charset="0"/>
                <a:ea typeface="Cambria" pitchFamily="34" charset="-122"/>
                <a:cs typeface="Cambria" pitchFamily="34" charset="-120"/>
              </a:rPr>
              <a:t>Current limitations</a:t>
            </a:r>
            <a:endParaRPr lang="en-US" sz="1900" dirty="0"/>
          </a:p>
        </p:txBody>
      </p:sp>
      <p:sp>
        <p:nvSpPr>
          <p:cNvPr id="9" name="Text 6"/>
          <p:cNvSpPr txBox="1"/>
          <p:nvPr/>
        </p:nvSpPr>
        <p:spPr>
          <a:xfrm>
            <a:off x="548640" y="2057400"/>
            <a:ext cx="5120640" cy="402336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2D333B"/>
                </a:solidFill>
                <a:latin typeface="Calibri" pitchFamily="34" charset="0"/>
                <a:ea typeface="Calibri" pitchFamily="34" charset="-122"/>
                <a:cs typeface="Calibri" pitchFamily="34" charset="-120"/>
              </a:rPr>
              <a:t>Word vocabulary is small (33 signs) and only 56.5% accurate</a:t>
            </a:r>
            <a:endParaRPr lang="en-US" sz="1500" dirty="0"/>
          </a:p>
          <a:p>
            <a:pPr marL="203200" indent="-203200">
              <a:spcAft>
                <a:spcPts val="700"/>
              </a:spcAft>
              <a:buSzPct val="100000"/>
              <a:buChar char="•"/>
            </a:pPr>
            <a:r>
              <a:rPr lang="en-US" sz="1500" dirty="0">
                <a:solidFill>
                  <a:srgbClr val="2D333B"/>
                </a:solidFill>
                <a:latin typeface="Calibri" pitchFamily="34" charset="0"/>
                <a:ea typeface="Calibri" pitchFamily="34" charset="-122"/>
                <a:cs typeface="Calibri" pitchFamily="34" charset="-120"/>
              </a:rPr>
              <a:t>Only 309 unique word clips; some signs have just 6 examples</a:t>
            </a:r>
            <a:endParaRPr lang="en-US" sz="1500" dirty="0"/>
          </a:p>
          <a:p>
            <a:pPr marL="203200" indent="-203200">
              <a:spcAft>
                <a:spcPts val="700"/>
              </a:spcAft>
              <a:buSzPct val="100000"/>
              <a:buChar char="•"/>
            </a:pPr>
            <a:r>
              <a:rPr lang="en-US" sz="1500" dirty="0">
                <a:solidFill>
                  <a:srgbClr val="2D333B"/>
                </a:solidFill>
                <a:latin typeface="Calibri" pitchFamily="34" charset="0"/>
                <a:ea typeface="Calibri" pitchFamily="34" charset="-122"/>
                <a:cs typeface="Calibri" pitchFamily="34" charset="-120"/>
              </a:rPr>
              <a:t>Facial grammar (eyebrows, mouth) is not used by the classifier yet</a:t>
            </a:r>
            <a:endParaRPr lang="en-US" sz="1500" dirty="0"/>
          </a:p>
          <a:p>
            <a:pPr marL="203200" indent="-203200">
              <a:spcAft>
                <a:spcPts val="700"/>
              </a:spcAft>
              <a:buSzPct val="100000"/>
              <a:buChar char="•"/>
            </a:pPr>
            <a:r>
              <a:rPr lang="en-US" sz="1500" dirty="0">
                <a:solidFill>
                  <a:srgbClr val="2D333B"/>
                </a:solidFill>
                <a:latin typeface="Calibri" pitchFamily="34" charset="0"/>
                <a:ea typeface="Calibri" pitchFamily="34" charset="-122"/>
                <a:cs typeface="Calibri" pitchFamily="34" charset="-120"/>
              </a:rPr>
              <a:t>Signing is segmented by pauses and dwell, not truly continuous</a:t>
            </a:r>
            <a:endParaRPr lang="en-US" sz="1500" dirty="0"/>
          </a:p>
          <a:p>
            <a:pPr marL="203200" indent="-203200">
              <a:spcAft>
                <a:spcPts val="700"/>
              </a:spcAft>
              <a:buSzPct val="100000"/>
              <a:buChar char="•"/>
            </a:pPr>
            <a:r>
              <a:rPr lang="en-US" sz="1500" dirty="0">
                <a:solidFill>
                  <a:srgbClr val="2D333B"/>
                </a:solidFill>
                <a:latin typeface="Calibri" pitchFamily="34" charset="0"/>
                <a:ea typeface="Calibri" pitchFamily="34" charset="-122"/>
                <a:cs typeface="Calibri" pitchFamily="34" charset="-120"/>
              </a:rPr>
              <a:t>Translate needs a backend proxy on a static deploy</a:t>
            </a:r>
            <a:endParaRPr lang="en-US" sz="1500" dirty="0"/>
          </a:p>
        </p:txBody>
      </p:sp>
      <p:sp>
        <p:nvSpPr>
          <p:cNvPr id="10" name="Shape 7"/>
          <p:cNvSpPr/>
          <p:nvPr/>
        </p:nvSpPr>
        <p:spPr>
          <a:xfrm>
            <a:off x="6172200" y="1600200"/>
            <a:ext cx="5468112" cy="777240"/>
          </a:xfrm>
          <a:prstGeom prst="roundRect">
            <a:avLst>
              <a:gd name="adj" fmla="val 11765"/>
            </a:avLst>
          </a:prstGeom>
          <a:solidFill>
            <a:srgbClr val="FFF4C2"/>
          </a:solidFill>
          <a:ln w="12700">
            <a:solidFill>
              <a:srgbClr val="FFF4C2"/>
            </a:solidFill>
            <a:prstDash val="solid"/>
          </a:ln>
        </p:spPr>
      </p:sp>
      <p:sp>
        <p:nvSpPr>
          <p:cNvPr id="11" name="Text 8"/>
          <p:cNvSpPr txBox="1"/>
          <p:nvPr/>
        </p:nvSpPr>
        <p:spPr>
          <a:xfrm>
            <a:off x="6400800" y="1600200"/>
            <a:ext cx="2286000" cy="7772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Data expansion</a:t>
            </a:r>
            <a:endParaRPr lang="en-US" sz="1500" dirty="0"/>
          </a:p>
        </p:txBody>
      </p:sp>
      <p:sp>
        <p:nvSpPr>
          <p:cNvPr id="12" name="Text 9"/>
          <p:cNvSpPr txBox="1"/>
          <p:nvPr/>
        </p:nvSpPr>
        <p:spPr>
          <a:xfrm>
            <a:off x="8686800" y="1600200"/>
            <a:ext cx="2834640" cy="777240"/>
          </a:xfrm>
          <a:prstGeom prst="rect">
            <a:avLst/>
          </a:prstGeom>
          <a:noFill/>
          <a:ln/>
        </p:spPr>
        <p:txBody>
          <a:bodyPr wrap="square" lIns="0" tIns="0" rIns="0" bIns="0" rtlCol="0" anchor="ctr"/>
          <a:lstStyle/>
          <a:p>
            <a:pPr indent="0" marL="0">
              <a:buNone/>
            </a:pPr>
            <a:r>
              <a:rPr lang="en-US" sz="1300" dirty="0">
                <a:solidFill>
                  <a:srgbClr val="2D333B"/>
                </a:solidFill>
                <a:latin typeface="Calibri" pitchFamily="34" charset="0"/>
                <a:ea typeface="Calibri" pitchFamily="34" charset="-122"/>
                <a:cs typeface="Calibri" pitchFamily="34" charset="-120"/>
              </a:rPr>
              <a:t>Record 500+ samples per sign across many signers</a:t>
            </a:r>
            <a:endParaRPr lang="en-US" sz="1300" dirty="0"/>
          </a:p>
        </p:txBody>
      </p:sp>
      <p:sp>
        <p:nvSpPr>
          <p:cNvPr id="13" name="Shape 10"/>
          <p:cNvSpPr/>
          <p:nvPr/>
        </p:nvSpPr>
        <p:spPr>
          <a:xfrm>
            <a:off x="6172200" y="2514600"/>
            <a:ext cx="5468112" cy="777240"/>
          </a:xfrm>
          <a:prstGeom prst="roundRect">
            <a:avLst>
              <a:gd name="adj" fmla="val 11765"/>
            </a:avLst>
          </a:prstGeom>
          <a:solidFill>
            <a:srgbClr val="F2F3F5"/>
          </a:solidFill>
          <a:ln w="12700">
            <a:solidFill>
              <a:srgbClr val="F2F3F5"/>
            </a:solidFill>
            <a:prstDash val="solid"/>
          </a:ln>
        </p:spPr>
      </p:sp>
      <p:sp>
        <p:nvSpPr>
          <p:cNvPr id="14" name="Text 11"/>
          <p:cNvSpPr txBox="1"/>
          <p:nvPr/>
        </p:nvSpPr>
        <p:spPr>
          <a:xfrm>
            <a:off x="6400800" y="2514600"/>
            <a:ext cx="2286000" cy="7772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Face + pose features</a:t>
            </a:r>
            <a:endParaRPr lang="en-US" sz="1500" dirty="0"/>
          </a:p>
        </p:txBody>
      </p:sp>
      <p:sp>
        <p:nvSpPr>
          <p:cNvPr id="15" name="Text 12"/>
          <p:cNvSpPr txBox="1"/>
          <p:nvPr/>
        </p:nvSpPr>
        <p:spPr>
          <a:xfrm>
            <a:off x="8686800" y="2514600"/>
            <a:ext cx="2834640" cy="777240"/>
          </a:xfrm>
          <a:prstGeom prst="rect">
            <a:avLst/>
          </a:prstGeom>
          <a:noFill/>
          <a:ln/>
        </p:spPr>
        <p:txBody>
          <a:bodyPr wrap="square" lIns="0" tIns="0" rIns="0" bIns="0" rtlCol="0" anchor="ctr"/>
          <a:lstStyle/>
          <a:p>
            <a:pPr indent="0" marL="0">
              <a:buNone/>
            </a:pPr>
            <a:r>
              <a:rPr lang="en-US" sz="1300" dirty="0">
                <a:solidFill>
                  <a:srgbClr val="2D333B"/>
                </a:solidFill>
                <a:latin typeface="Calibri" pitchFamily="34" charset="0"/>
                <a:ea typeface="Calibri" pitchFamily="34" charset="-122"/>
                <a:cs typeface="Calibri" pitchFamily="34" charset="-120"/>
              </a:rPr>
              <a:t>Re-enable the 52 face blendshapes once data allows</a:t>
            </a:r>
            <a:endParaRPr lang="en-US" sz="1300" dirty="0"/>
          </a:p>
        </p:txBody>
      </p:sp>
      <p:sp>
        <p:nvSpPr>
          <p:cNvPr id="16" name="Shape 13"/>
          <p:cNvSpPr/>
          <p:nvPr/>
        </p:nvSpPr>
        <p:spPr>
          <a:xfrm>
            <a:off x="6172200" y="3429000"/>
            <a:ext cx="5468112" cy="777240"/>
          </a:xfrm>
          <a:prstGeom prst="roundRect">
            <a:avLst>
              <a:gd name="adj" fmla="val 11765"/>
            </a:avLst>
          </a:prstGeom>
          <a:solidFill>
            <a:srgbClr val="F2F3F5"/>
          </a:solidFill>
          <a:ln w="12700">
            <a:solidFill>
              <a:srgbClr val="F2F3F5"/>
            </a:solidFill>
            <a:prstDash val="solid"/>
          </a:ln>
        </p:spPr>
      </p:sp>
      <p:sp>
        <p:nvSpPr>
          <p:cNvPr id="17" name="Text 14"/>
          <p:cNvSpPr txBox="1"/>
          <p:nvPr/>
        </p:nvSpPr>
        <p:spPr>
          <a:xfrm>
            <a:off x="6400800" y="3429000"/>
            <a:ext cx="2286000" cy="7772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Video-call extension</a:t>
            </a:r>
            <a:endParaRPr lang="en-US" sz="1500" dirty="0"/>
          </a:p>
        </p:txBody>
      </p:sp>
      <p:sp>
        <p:nvSpPr>
          <p:cNvPr id="18" name="Text 15"/>
          <p:cNvSpPr txBox="1"/>
          <p:nvPr/>
        </p:nvSpPr>
        <p:spPr>
          <a:xfrm>
            <a:off x="8686800" y="3429000"/>
            <a:ext cx="2834640" cy="777240"/>
          </a:xfrm>
          <a:prstGeom prst="rect">
            <a:avLst/>
          </a:prstGeom>
          <a:noFill/>
          <a:ln/>
        </p:spPr>
        <p:txBody>
          <a:bodyPr wrap="square" lIns="0" tIns="0" rIns="0" bIns="0" rtlCol="0" anchor="ctr"/>
          <a:lstStyle/>
          <a:p>
            <a:pPr indent="0" marL="0">
              <a:buNone/>
            </a:pPr>
            <a:r>
              <a:rPr lang="en-US" sz="1300" dirty="0">
                <a:solidFill>
                  <a:srgbClr val="2D333B"/>
                </a:solidFill>
                <a:latin typeface="Calibri" pitchFamily="34" charset="0"/>
                <a:ea typeface="Calibri" pitchFamily="34" charset="-122"/>
                <a:cs typeface="Calibri" pitchFamily="34" charset="-120"/>
              </a:rPr>
              <a:t>Live captions in Google Meet, Teams and Zoom web</a:t>
            </a:r>
            <a:endParaRPr lang="en-US" sz="1300" dirty="0"/>
          </a:p>
        </p:txBody>
      </p:sp>
      <p:sp>
        <p:nvSpPr>
          <p:cNvPr id="19" name="Shape 16"/>
          <p:cNvSpPr/>
          <p:nvPr/>
        </p:nvSpPr>
        <p:spPr>
          <a:xfrm>
            <a:off x="6172200" y="4343400"/>
            <a:ext cx="5468112" cy="777240"/>
          </a:xfrm>
          <a:prstGeom prst="roundRect">
            <a:avLst>
              <a:gd name="adj" fmla="val 11765"/>
            </a:avLst>
          </a:prstGeom>
          <a:solidFill>
            <a:srgbClr val="F2F3F5"/>
          </a:solidFill>
          <a:ln w="12700">
            <a:solidFill>
              <a:srgbClr val="F2F3F5"/>
            </a:solidFill>
            <a:prstDash val="solid"/>
          </a:ln>
        </p:spPr>
      </p:sp>
      <p:sp>
        <p:nvSpPr>
          <p:cNvPr id="20" name="Text 17"/>
          <p:cNvSpPr txBox="1"/>
          <p:nvPr/>
        </p:nvSpPr>
        <p:spPr>
          <a:xfrm>
            <a:off x="6400800" y="4343400"/>
            <a:ext cx="2286000" cy="7772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Sensor glove input</a:t>
            </a:r>
            <a:endParaRPr lang="en-US" sz="1500" dirty="0"/>
          </a:p>
        </p:txBody>
      </p:sp>
      <p:sp>
        <p:nvSpPr>
          <p:cNvPr id="21" name="Text 18"/>
          <p:cNvSpPr txBox="1"/>
          <p:nvPr/>
        </p:nvSpPr>
        <p:spPr>
          <a:xfrm>
            <a:off x="8686800" y="4343400"/>
            <a:ext cx="2834640" cy="777240"/>
          </a:xfrm>
          <a:prstGeom prst="rect">
            <a:avLst/>
          </a:prstGeom>
          <a:noFill/>
          <a:ln/>
        </p:spPr>
        <p:txBody>
          <a:bodyPr wrap="square" lIns="0" tIns="0" rIns="0" bIns="0" rtlCol="0" anchor="ctr"/>
          <a:lstStyle/>
          <a:p>
            <a:pPr indent="0" marL="0">
              <a:buNone/>
            </a:pPr>
            <a:r>
              <a:rPr lang="en-US" sz="1300" dirty="0">
                <a:solidFill>
                  <a:srgbClr val="2D333B"/>
                </a:solidFill>
                <a:latin typeface="Calibri" pitchFamily="34" charset="0"/>
                <a:ea typeface="Calibri" pitchFamily="34" charset="-122"/>
                <a:cs typeface="Calibri" pitchFamily="34" charset="-120"/>
              </a:rPr>
              <a:t>Plug in through the existing InputSource interface</a:t>
            </a:r>
            <a:endParaRPr lang="en-US" sz="1300" dirty="0"/>
          </a:p>
        </p:txBody>
      </p:sp>
      <p:sp>
        <p:nvSpPr>
          <p:cNvPr id="22" name="Shape 19"/>
          <p:cNvSpPr/>
          <p:nvPr/>
        </p:nvSpPr>
        <p:spPr>
          <a:xfrm>
            <a:off x="6172200" y="5257800"/>
            <a:ext cx="5468112" cy="777240"/>
          </a:xfrm>
          <a:prstGeom prst="roundRect">
            <a:avLst>
              <a:gd name="adj" fmla="val 11765"/>
            </a:avLst>
          </a:prstGeom>
          <a:solidFill>
            <a:srgbClr val="F2F3F5"/>
          </a:solidFill>
          <a:ln w="12700">
            <a:solidFill>
              <a:srgbClr val="F2F3F5"/>
            </a:solidFill>
            <a:prstDash val="solid"/>
          </a:ln>
        </p:spPr>
      </p:sp>
      <p:sp>
        <p:nvSpPr>
          <p:cNvPr id="23" name="Text 20"/>
          <p:cNvSpPr txBox="1"/>
          <p:nvPr/>
        </p:nvSpPr>
        <p:spPr>
          <a:xfrm>
            <a:off x="6400800" y="5257800"/>
            <a:ext cx="2286000" cy="7772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Continuous recognition</a:t>
            </a:r>
            <a:endParaRPr lang="en-US" sz="1500" dirty="0"/>
          </a:p>
        </p:txBody>
      </p:sp>
      <p:sp>
        <p:nvSpPr>
          <p:cNvPr id="24" name="Text 21"/>
          <p:cNvSpPr txBox="1"/>
          <p:nvPr/>
        </p:nvSpPr>
        <p:spPr>
          <a:xfrm>
            <a:off x="8686800" y="5257800"/>
            <a:ext cx="2834640" cy="777240"/>
          </a:xfrm>
          <a:prstGeom prst="rect">
            <a:avLst/>
          </a:prstGeom>
          <a:noFill/>
          <a:ln/>
        </p:spPr>
        <p:txBody>
          <a:bodyPr wrap="square" lIns="0" tIns="0" rIns="0" bIns="0" rtlCol="0" anchor="ctr"/>
          <a:lstStyle/>
          <a:p>
            <a:pPr indent="0" marL="0">
              <a:buNone/>
            </a:pPr>
            <a:r>
              <a:rPr lang="en-US" sz="1300" dirty="0">
                <a:solidFill>
                  <a:srgbClr val="2D333B"/>
                </a:solidFill>
                <a:latin typeface="Calibri" pitchFamily="34" charset="0"/>
                <a:ea typeface="Calibri" pitchFamily="34" charset="-122"/>
                <a:cs typeface="Calibri" pitchFamily="34" charset="-120"/>
              </a:rPr>
              <a:t>Sequence model with CTC loss for sentence-level signing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2328"/>
        </a:solidFill>
      </p:bgPr>
    </p:bg>
    <p:spTree>
      <p:nvGrpSpPr>
        <p:cNvPr id="1" name=""/>
        <p:cNvGrpSpPr/>
        <p:nvPr/>
      </p:nvGrpSpPr>
      <p:grpSpPr>
        <a:xfrm>
          <a:off x="0" y="0"/>
          <a:ext cx="0" cy="0"/>
          <a:chOff x="0" y="0"/>
          <a:chExt cx="0" cy="0"/>
        </a:xfrm>
      </p:grpSpPr>
      <p:sp>
        <p:nvSpPr>
          <p:cNvPr id="2" name="Shape 0"/>
          <p:cNvSpPr/>
          <p:nvPr/>
        </p:nvSpPr>
        <p:spPr>
          <a:xfrm>
            <a:off x="548640" y="548640"/>
            <a:ext cx="1600200"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548640"/>
            <a:ext cx="1600200"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548640" y="100584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5" name="Shape 3"/>
          <p:cNvSpPr/>
          <p:nvPr/>
        </p:nvSpPr>
        <p:spPr>
          <a:xfrm>
            <a:off x="548640" y="2176272"/>
            <a:ext cx="457200" cy="457200"/>
          </a:xfrm>
          <a:prstGeom prst="ellipse">
            <a:avLst/>
          </a:prstGeom>
          <a:solidFill>
            <a:srgbClr val="FFD43B"/>
          </a:solidFill>
          <a:ln w="12700">
            <a:solidFill>
              <a:srgbClr val="FFD43B"/>
            </a:solidFill>
            <a:prstDash val="solid"/>
          </a:ln>
        </p:spPr>
      </p:sp>
      <p:sp>
        <p:nvSpPr>
          <p:cNvPr id="6" name="Text 4"/>
          <p:cNvSpPr txBox="1"/>
          <p:nvPr/>
        </p:nvSpPr>
        <p:spPr>
          <a:xfrm>
            <a:off x="548640" y="2176272"/>
            <a:ext cx="457200" cy="457200"/>
          </a:xfrm>
          <a:prstGeom prst="rect">
            <a:avLst/>
          </a:prstGeom>
          <a:noFill/>
          <a:ln/>
        </p:spPr>
        <p:txBody>
          <a:bodyPr wrap="square" lIns="0" tIns="0" rIns="0" bIns="0" rtlCol="0" anchor="ctr"/>
          <a:lstStyle/>
          <a:p>
            <a:pPr algn="ctr" indent="0" marL="0">
              <a:buNone/>
            </a:pPr>
            <a:r>
              <a:rPr lang="en-US" sz="1500" b="1" dirty="0">
                <a:solidFill>
                  <a:srgbClr val="1F2328"/>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80160" y="2103120"/>
            <a:ext cx="3017520" cy="60350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Works today</a:t>
            </a:r>
            <a:endParaRPr lang="en-US" sz="1900" dirty="0"/>
          </a:p>
        </p:txBody>
      </p:sp>
      <p:sp>
        <p:nvSpPr>
          <p:cNvPr id="8" name="Text 6"/>
          <p:cNvSpPr txBox="1"/>
          <p:nvPr/>
        </p:nvSpPr>
        <p:spPr>
          <a:xfrm>
            <a:off x="4389120" y="2103120"/>
            <a:ext cx="7223760" cy="603504"/>
          </a:xfrm>
          <a:prstGeom prst="rect">
            <a:avLst/>
          </a:prstGeom>
          <a:noFill/>
          <a:ln/>
        </p:spPr>
        <p:txBody>
          <a:bodyPr wrap="square" lIns="0" tIns="0" rIns="0" bIns="0" rtlCol="0" anchor="ctr"/>
          <a:lstStyle/>
          <a:p>
            <a:pPr indent="0" marL="0">
              <a:buNone/>
            </a:pPr>
            <a:r>
              <a:rPr lang="en-US" sz="1600" dirty="0">
                <a:solidFill>
                  <a:srgbClr val="D7DBE0"/>
                </a:solidFill>
                <a:latin typeface="Calibri" pitchFamily="34" charset="0"/>
                <a:ea typeface="Calibri" pitchFamily="34" charset="-122"/>
                <a:cs typeface="Calibri" pitchFamily="34" charset="-120"/>
              </a:rPr>
              <a:t>Real-time ASL fingerspelling (98.3%) and 33 word signs, live in a browser with no install.</a:t>
            </a:r>
            <a:endParaRPr lang="en-US" sz="1600" dirty="0"/>
          </a:p>
        </p:txBody>
      </p:sp>
      <p:sp>
        <p:nvSpPr>
          <p:cNvPr id="9" name="Shape 7"/>
          <p:cNvSpPr/>
          <p:nvPr/>
        </p:nvSpPr>
        <p:spPr>
          <a:xfrm>
            <a:off x="548640" y="3200400"/>
            <a:ext cx="457200" cy="457200"/>
          </a:xfrm>
          <a:prstGeom prst="ellipse">
            <a:avLst/>
          </a:prstGeom>
          <a:solidFill>
            <a:srgbClr val="FFD43B"/>
          </a:solidFill>
          <a:ln w="12700">
            <a:solidFill>
              <a:srgbClr val="FFD43B"/>
            </a:solidFill>
            <a:prstDash val="solid"/>
          </a:ln>
        </p:spPr>
      </p:sp>
      <p:sp>
        <p:nvSpPr>
          <p:cNvPr id="10" name="Text 8"/>
          <p:cNvSpPr txBox="1"/>
          <p:nvPr/>
        </p:nvSpPr>
        <p:spPr>
          <a:xfrm>
            <a:off x="548640" y="3200400"/>
            <a:ext cx="457200" cy="457200"/>
          </a:xfrm>
          <a:prstGeom prst="rect">
            <a:avLst/>
          </a:prstGeom>
          <a:noFill/>
          <a:ln/>
        </p:spPr>
        <p:txBody>
          <a:bodyPr wrap="square" lIns="0" tIns="0" rIns="0" bIns="0" rtlCol="0" anchor="ctr"/>
          <a:lstStyle/>
          <a:p>
            <a:pPr algn="ctr" indent="0" marL="0">
              <a:buNone/>
            </a:pPr>
            <a:r>
              <a:rPr lang="en-US" sz="1500" b="1" dirty="0">
                <a:solidFill>
                  <a:srgbClr val="1F2328"/>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280160" y="3127248"/>
            <a:ext cx="3017520" cy="60350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Private</a:t>
            </a:r>
            <a:endParaRPr lang="en-US" sz="1900" dirty="0"/>
          </a:p>
        </p:txBody>
      </p:sp>
      <p:sp>
        <p:nvSpPr>
          <p:cNvPr id="12" name="Text 10"/>
          <p:cNvSpPr txBox="1"/>
          <p:nvPr/>
        </p:nvSpPr>
        <p:spPr>
          <a:xfrm>
            <a:off x="4389120" y="3127248"/>
            <a:ext cx="7223760" cy="603504"/>
          </a:xfrm>
          <a:prstGeom prst="rect">
            <a:avLst/>
          </a:prstGeom>
          <a:noFill/>
          <a:ln/>
        </p:spPr>
        <p:txBody>
          <a:bodyPr wrap="square" lIns="0" tIns="0" rIns="0" bIns="0" rtlCol="0" anchor="ctr"/>
          <a:lstStyle/>
          <a:p>
            <a:pPr indent="0" marL="0">
              <a:buNone/>
            </a:pPr>
            <a:r>
              <a:rPr lang="en-US" sz="1600" dirty="0">
                <a:solidFill>
                  <a:srgbClr val="D7DBE0"/>
                </a:solidFill>
                <a:latin typeface="Calibri" pitchFamily="34" charset="0"/>
                <a:ea typeface="Calibri" pitchFamily="34" charset="-122"/>
                <a:cs typeface="Calibri" pitchFamily="34" charset="-120"/>
              </a:rPr>
              <a:t>Video stays on the device; only optional gloss text is sent for translation.</a:t>
            </a:r>
            <a:endParaRPr lang="en-US" sz="1600" dirty="0"/>
          </a:p>
        </p:txBody>
      </p:sp>
      <p:sp>
        <p:nvSpPr>
          <p:cNvPr id="13" name="Shape 11"/>
          <p:cNvSpPr/>
          <p:nvPr/>
        </p:nvSpPr>
        <p:spPr>
          <a:xfrm>
            <a:off x="548640" y="4224528"/>
            <a:ext cx="457200" cy="457200"/>
          </a:xfrm>
          <a:prstGeom prst="ellipse">
            <a:avLst/>
          </a:prstGeom>
          <a:solidFill>
            <a:srgbClr val="FFD43B"/>
          </a:solidFill>
          <a:ln w="12700">
            <a:solidFill>
              <a:srgbClr val="FFD43B"/>
            </a:solidFill>
            <a:prstDash val="solid"/>
          </a:ln>
        </p:spPr>
      </p:sp>
      <p:sp>
        <p:nvSpPr>
          <p:cNvPr id="14" name="Text 12"/>
          <p:cNvSpPr txBox="1"/>
          <p:nvPr/>
        </p:nvSpPr>
        <p:spPr>
          <a:xfrm>
            <a:off x="548640" y="4224528"/>
            <a:ext cx="457200" cy="457200"/>
          </a:xfrm>
          <a:prstGeom prst="rect">
            <a:avLst/>
          </a:prstGeom>
          <a:noFill/>
          <a:ln/>
        </p:spPr>
        <p:txBody>
          <a:bodyPr wrap="square" lIns="0" tIns="0" rIns="0" bIns="0" rtlCol="0" anchor="ctr"/>
          <a:lstStyle/>
          <a:p>
            <a:pPr algn="ctr" indent="0" marL="0">
              <a:buNone/>
            </a:pPr>
            <a:r>
              <a:rPr lang="en-US" sz="1500" b="1" dirty="0">
                <a:solidFill>
                  <a:srgbClr val="1F2328"/>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280160" y="4151376"/>
            <a:ext cx="3017520" cy="60350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Usable</a:t>
            </a:r>
            <a:endParaRPr lang="en-US" sz="1900" dirty="0"/>
          </a:p>
        </p:txBody>
      </p:sp>
      <p:sp>
        <p:nvSpPr>
          <p:cNvPr id="16" name="Text 14"/>
          <p:cNvSpPr txBox="1"/>
          <p:nvPr/>
        </p:nvSpPr>
        <p:spPr>
          <a:xfrm>
            <a:off x="4389120" y="4151376"/>
            <a:ext cx="7223760" cy="603504"/>
          </a:xfrm>
          <a:prstGeom prst="rect">
            <a:avLst/>
          </a:prstGeom>
          <a:noFill/>
          <a:ln/>
        </p:spPr>
        <p:txBody>
          <a:bodyPr wrap="square" lIns="0" tIns="0" rIns="0" bIns="0" rtlCol="0" anchor="ctr"/>
          <a:lstStyle/>
          <a:p>
            <a:pPr indent="0" marL="0">
              <a:buNone/>
            </a:pPr>
            <a:r>
              <a:rPr lang="en-US" sz="1600" dirty="0">
                <a:solidFill>
                  <a:srgbClr val="D7DBE0"/>
                </a:solidFill>
                <a:latin typeface="Calibri" pitchFamily="34" charset="0"/>
                <a:ea typeface="Calibri" pitchFamily="34" charset="-122"/>
                <a:cs typeface="Calibri" pitchFamily="34" charset="-120"/>
              </a:rPr>
              <a:t>Smoothing, an editable transcript, LLM sentences, speech, practice and a tutorial make it more than a recogniser.</a:t>
            </a:r>
            <a:endParaRPr lang="en-US" sz="1600" dirty="0"/>
          </a:p>
        </p:txBody>
      </p:sp>
      <p:sp>
        <p:nvSpPr>
          <p:cNvPr id="17" name="Shape 15"/>
          <p:cNvSpPr/>
          <p:nvPr/>
        </p:nvSpPr>
        <p:spPr>
          <a:xfrm>
            <a:off x="548640" y="5248656"/>
            <a:ext cx="457200" cy="457200"/>
          </a:xfrm>
          <a:prstGeom prst="ellipse">
            <a:avLst/>
          </a:prstGeom>
          <a:solidFill>
            <a:srgbClr val="FFD43B"/>
          </a:solidFill>
          <a:ln w="12700">
            <a:solidFill>
              <a:srgbClr val="FFD43B"/>
            </a:solidFill>
            <a:prstDash val="solid"/>
          </a:ln>
        </p:spPr>
      </p:sp>
      <p:sp>
        <p:nvSpPr>
          <p:cNvPr id="18" name="Text 16"/>
          <p:cNvSpPr txBox="1"/>
          <p:nvPr/>
        </p:nvSpPr>
        <p:spPr>
          <a:xfrm>
            <a:off x="548640" y="5248656"/>
            <a:ext cx="457200" cy="457200"/>
          </a:xfrm>
          <a:prstGeom prst="rect">
            <a:avLst/>
          </a:prstGeom>
          <a:noFill/>
          <a:ln/>
        </p:spPr>
        <p:txBody>
          <a:bodyPr wrap="square" lIns="0" tIns="0" rIns="0" bIns="0" rtlCol="0" anchor="ctr"/>
          <a:lstStyle/>
          <a:p>
            <a:pPr algn="ctr" indent="0" marL="0">
              <a:buNone/>
            </a:pPr>
            <a:r>
              <a:rPr lang="en-US" sz="1500" b="1" dirty="0">
                <a:solidFill>
                  <a:srgbClr val="1F2328"/>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280160" y="5175504"/>
            <a:ext cx="3017520" cy="60350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Honest and extensible</a:t>
            </a:r>
            <a:endParaRPr lang="en-US" sz="1900" dirty="0"/>
          </a:p>
        </p:txBody>
      </p:sp>
      <p:sp>
        <p:nvSpPr>
          <p:cNvPr id="20" name="Text 18"/>
          <p:cNvSpPr txBox="1"/>
          <p:nvPr/>
        </p:nvSpPr>
        <p:spPr>
          <a:xfrm>
            <a:off x="4389120" y="5175504"/>
            <a:ext cx="7223760" cy="603504"/>
          </a:xfrm>
          <a:prstGeom prst="rect">
            <a:avLst/>
          </a:prstGeom>
          <a:noFill/>
          <a:ln/>
        </p:spPr>
        <p:txBody>
          <a:bodyPr wrap="square" lIns="0" tIns="0" rIns="0" bIns="0" rtlCol="0" anchor="ctr"/>
          <a:lstStyle/>
          <a:p>
            <a:pPr indent="0" marL="0">
              <a:buNone/>
            </a:pPr>
            <a:r>
              <a:rPr lang="en-US" sz="1600" dirty="0">
                <a:solidFill>
                  <a:srgbClr val="D7DBE0"/>
                </a:solidFill>
                <a:latin typeface="Calibri" pitchFamily="34" charset="0"/>
                <a:ea typeface="Calibri" pitchFamily="34" charset="-122"/>
                <a:cs typeface="Calibri" pitchFamily="34" charset="-120"/>
              </a:rPr>
              <a:t>Measured without data leakage, guarded by regression tests, and ready for more data, face features and new inputs.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00200" cy="310896"/>
          </a:xfrm>
          <a:prstGeom prst="roundRect">
            <a:avLst>
              <a:gd name="adj" fmla="val 23529"/>
            </a:avLst>
          </a:prstGeom>
          <a:solidFill>
            <a:srgbClr val="FFD43B"/>
          </a:solidFill>
          <a:ln w="12700">
            <a:solidFill>
              <a:srgbClr val="FFD43B"/>
            </a:solidFill>
            <a:prstDash val="solid"/>
          </a:ln>
        </p:spPr>
      </p:sp>
      <p:sp>
        <p:nvSpPr>
          <p:cNvPr id="3" name="Text 1"/>
          <p:cNvSpPr txBox="1"/>
          <p:nvPr/>
        </p:nvSpPr>
        <p:spPr>
          <a:xfrm>
            <a:off x="548640" y="384048"/>
            <a:ext cx="1600200" cy="310896"/>
          </a:xfrm>
          <a:prstGeom prst="rect">
            <a:avLst/>
          </a:prstGeom>
          <a:noFill/>
          <a:ln/>
        </p:spPr>
        <p:txBody>
          <a:bodyPr wrap="square" lIns="0" tIns="0" rIns="0" bIns="0" rtlCol="0" anchor="ctr"/>
          <a:lstStyle/>
          <a:p>
            <a:pPr algn="ctr" indent="0" marL="0">
              <a:buNone/>
            </a:pPr>
            <a:r>
              <a:rPr lang="en-US" sz="1100" b="1" spc="200" kern="0" dirty="0">
                <a:solidFill>
                  <a:srgbClr val="1F2328"/>
                </a:solidFill>
                <a:latin typeface="Calibri" pitchFamily="34" charset="0"/>
                <a:ea typeface="Calibri" pitchFamily="34" charset="-122"/>
                <a:cs typeface="Calibri" pitchFamily="34" charset="-120"/>
              </a:rPr>
              <a:t>REFERENCES</a:t>
            </a:r>
            <a:endParaRPr lang="en-US" sz="1100" dirty="0"/>
          </a:p>
        </p:txBody>
      </p:sp>
      <p:sp>
        <p:nvSpPr>
          <p:cNvPr id="4" name="Text 2"/>
          <p:cNvSpPr txBox="1"/>
          <p:nvPr/>
        </p:nvSpPr>
        <p:spPr>
          <a:xfrm>
            <a:off x="548640" y="731520"/>
            <a:ext cx="10362895" cy="68580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References</a:t>
            </a:r>
            <a:endParaRPr lang="en-US" sz="3000" dirty="0"/>
          </a:p>
        </p:txBody>
      </p:sp>
      <p:sp>
        <p:nvSpPr>
          <p:cNvPr id="5" name="Text 3"/>
          <p:cNvSpPr txBox="1"/>
          <p:nvPr/>
        </p:nvSpPr>
        <p:spPr>
          <a:xfrm>
            <a:off x="10911535" y="384048"/>
            <a:ext cx="731520" cy="310896"/>
          </a:xfrm>
          <a:prstGeom prst="rect">
            <a:avLst/>
          </a:prstGeom>
          <a:noFill/>
          <a:ln/>
        </p:spPr>
        <p:txBody>
          <a:bodyPr wrap="square" lIns="0" tIns="0" rIns="0" bIns="0" rtlCol="0" anchor="ctr"/>
          <a:lstStyle/>
          <a:p>
            <a:pPr algn="r" indent="0" marL="0">
              <a:buNone/>
            </a:pPr>
            <a:r>
              <a:rPr lang="en-US" sz="1200" dirty="0">
                <a:solidFill>
                  <a:srgbClr val="5B6370"/>
                </a:solidFill>
                <a:latin typeface="Calibri" pitchFamily="34" charset="0"/>
                <a:ea typeface="Calibri" pitchFamily="34" charset="-122"/>
                <a:cs typeface="Calibri" pitchFamily="34" charset="-120"/>
              </a:rPr>
              <a:t>27</a:t>
            </a:r>
            <a:endParaRPr lang="en-US" sz="1200" dirty="0"/>
          </a:p>
        </p:txBody>
      </p:sp>
      <p:sp>
        <p:nvSpPr>
          <p:cNvPr id="6" name="Text 4"/>
          <p:cNvSpPr txBox="1"/>
          <p:nvPr/>
        </p:nvSpPr>
        <p:spPr>
          <a:xfrm>
            <a:off x="9357055" y="6473952"/>
            <a:ext cx="2286000" cy="228600"/>
          </a:xfrm>
          <a:prstGeom prst="rect">
            <a:avLst/>
          </a:prstGeom>
          <a:noFill/>
          <a:ln/>
        </p:spPr>
        <p:txBody>
          <a:bodyPr wrap="square" lIns="0" tIns="0" rIns="0" bIns="0" rtlCol="0" anchor="ctr"/>
          <a:lstStyle/>
          <a:p>
            <a:pPr algn="r" indent="0" marL="0">
              <a:buNone/>
            </a:pPr>
            <a:r>
              <a:rPr lang="en-US" sz="1000" dirty="0">
                <a:solidFill>
                  <a:srgbClr val="5B6370"/>
                </a:solidFill>
                <a:latin typeface="Calibri" pitchFamily="34" charset="0"/>
                <a:ea typeface="Calibri" pitchFamily="34" charset="-122"/>
                <a:cs typeface="Calibri" pitchFamily="34" charset="-120"/>
              </a:rPr>
              <a:t>SignSpeak</a:t>
            </a:r>
            <a:endParaRPr lang="en-US" sz="1000" dirty="0"/>
          </a:p>
        </p:txBody>
      </p:sp>
      <p:sp>
        <p:nvSpPr>
          <p:cNvPr id="8" name="Text 5"/>
          <p:cNvSpPr txBox="1"/>
          <p:nvPr/>
        </p:nvSpPr>
        <p:spPr>
          <a:xfrm>
            <a:off x="548640" y="1645920"/>
            <a:ext cx="11094415" cy="45720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World Health Organization, “Deafness and hearing loss,” fact sheet. who.int/news-room/fact-sheets/detail/deafness-and-hearing-loss</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World Federation of the Deaf, “FAQs.” wfdeaf.org/contact/faqs</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C. Lugaresi et al., “MediaPipe: A Framework for Building Perception Pipelines,” arXiv:1906.08172, 2019.</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F. Zhang et al., “MediaPipe Hands: On-device Real-time Hand Tracking,” arXiv:2006.10214, 2020.</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D. Li, C. Rodriguez, X. Yu, H. Li, “Word-level Deep Sign Language Recognition from Video: A New Large-scale Dataset and Methods Comparison (WLASL),” WACV 2020.</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N. C. Camgoz et al., “Neural Sign Language Translation,” CVPR 2018 (RWTH-PHOENIX-Weather 2014T).</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A. Graves et al., “Connectionist Temporal Classification,” ICML 2006.</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A. Moryossef et al., sign.mt — open-source sign language translation, github.com/sign/translate.</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Kaggle, “ASL Alphabet” dataset (grassknoted/asl-alphabet).</a:t>
            </a:r>
            <a:endParaRPr lang="en-US" sz="1500" dirty="0"/>
          </a:p>
          <a:p>
            <a:pPr marL="342900" indent="-342900">
              <a:spcAft>
                <a:spcPts val="600"/>
              </a:spcAft>
              <a:buSzPct val="100000"/>
              <a:buFont typeface="+mj-lt"/>
              <a:buAutoNum type="arabicPeriod" startAt="1"/>
            </a:pPr>
            <a:r>
              <a:rPr lang="en-US" sz="1500" dirty="0">
                <a:solidFill>
                  <a:srgbClr val="2D333B"/>
                </a:solidFill>
                <a:latin typeface="Calibri" pitchFamily="34" charset="0"/>
                <a:ea typeface="Calibri" pitchFamily="34" charset="-122"/>
                <a:cs typeface="Calibri" pitchFamily="34" charset="-120"/>
              </a:rPr>
              <a:t>F. Pedregosa et al., “Scikit-learn: Machine Learning in Python,” JMLR 12, 2011.</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2328"/>
        </a:solidFill>
      </p:bgPr>
    </p:bg>
    <p:spTree>
      <p:nvGrpSpPr>
        <p:cNvPr id="1" name=""/>
        <p:cNvGrpSpPr/>
        <p:nvPr/>
      </p:nvGrpSpPr>
      <p:grpSpPr>
        <a:xfrm>
          <a:off x="0" y="0"/>
          <a:ext cx="0" cy="0"/>
          <a:chOff x="0" y="0"/>
          <a:chExt cx="0" cy="0"/>
        </a:xfrm>
      </p:grpSpPr>
      <p:sp>
        <p:nvSpPr>
          <p:cNvPr id="2" name="Text 0"/>
          <p:cNvSpPr txBox="1"/>
          <p:nvPr/>
        </p:nvSpPr>
        <p:spPr>
          <a:xfrm>
            <a:off x="548640" y="2011680"/>
            <a:ext cx="82296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Shape 1"/>
          <p:cNvSpPr/>
          <p:nvPr/>
        </p:nvSpPr>
        <p:spPr>
          <a:xfrm>
            <a:off x="548640" y="3429000"/>
            <a:ext cx="1664208" cy="502920"/>
          </a:xfrm>
          <a:prstGeom prst="roundRect">
            <a:avLst>
              <a:gd name="adj" fmla="val 14545"/>
            </a:avLst>
          </a:prstGeom>
          <a:solidFill>
            <a:srgbClr val="FFD43B"/>
          </a:solidFill>
          <a:ln w="12700">
            <a:solidFill>
              <a:srgbClr val="FFD43B"/>
            </a:solidFill>
            <a:prstDash val="solid"/>
          </a:ln>
        </p:spPr>
      </p:sp>
      <p:sp>
        <p:nvSpPr>
          <p:cNvPr id="4" name="Text 2"/>
          <p:cNvSpPr txBox="1"/>
          <p:nvPr/>
        </p:nvSpPr>
        <p:spPr>
          <a:xfrm>
            <a:off x="548640" y="3429000"/>
            <a:ext cx="1664208" cy="502920"/>
          </a:xfrm>
          <a:prstGeom prst="rect">
            <a:avLst/>
          </a:prstGeom>
          <a:noFill/>
          <a:ln/>
        </p:spPr>
        <p:txBody>
          <a:bodyPr wrap="square" lIns="0" tIns="0" rIns="0" bIns="0" rtlCol="0" anchor="ctr"/>
          <a:lstStyle/>
          <a:p>
            <a:pPr algn="ctr" indent="0" marL="0">
              <a:buNone/>
            </a:pPr>
            <a:r>
              <a:rPr lang="en-US" sz="1500" b="1" spc="200" kern="0" dirty="0">
                <a:solidFill>
                  <a:srgbClr val="1F2328"/>
                </a:solidFill>
                <a:latin typeface="Calibri" pitchFamily="34" charset="0"/>
                <a:ea typeface="Calibri" pitchFamily="34" charset="-122"/>
                <a:cs typeface="Calibri" pitchFamily="34" charset="-120"/>
              </a:rPr>
              <a:t>QUESTION</a:t>
            </a:r>
            <a:endParaRPr lang="en-US" sz="1500" dirty="0"/>
          </a:p>
        </p:txBody>
      </p:sp>
      <p:sp>
        <p:nvSpPr>
          <p:cNvPr id="5" name="Shape 3"/>
          <p:cNvSpPr/>
          <p:nvPr/>
        </p:nvSpPr>
        <p:spPr>
          <a:xfrm>
            <a:off x="2350008" y="3429000"/>
            <a:ext cx="795528" cy="502920"/>
          </a:xfrm>
          <a:prstGeom prst="roundRect">
            <a:avLst>
              <a:gd name="adj" fmla="val 14545"/>
            </a:avLst>
          </a:prstGeom>
          <a:solidFill>
            <a:srgbClr val="2D333B"/>
          </a:solidFill>
          <a:ln w="12700">
            <a:solidFill>
              <a:srgbClr val="4A525C"/>
            </a:solidFill>
            <a:prstDash val="solid"/>
          </a:ln>
        </p:spPr>
      </p:sp>
      <p:sp>
        <p:nvSpPr>
          <p:cNvPr id="6" name="Text 4"/>
          <p:cNvSpPr txBox="1"/>
          <p:nvPr/>
        </p:nvSpPr>
        <p:spPr>
          <a:xfrm>
            <a:off x="2350008" y="3429000"/>
            <a:ext cx="795528" cy="50292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YOU</a:t>
            </a:r>
            <a:endParaRPr lang="en-US" sz="1500" dirty="0"/>
          </a:p>
        </p:txBody>
      </p:sp>
      <p:sp>
        <p:nvSpPr>
          <p:cNvPr id="7" name="Shape 5"/>
          <p:cNvSpPr/>
          <p:nvPr/>
        </p:nvSpPr>
        <p:spPr>
          <a:xfrm>
            <a:off x="3282696" y="3429000"/>
            <a:ext cx="1143000" cy="502920"/>
          </a:xfrm>
          <a:prstGeom prst="roundRect">
            <a:avLst>
              <a:gd name="adj" fmla="val 14545"/>
            </a:avLst>
          </a:prstGeom>
          <a:solidFill>
            <a:srgbClr val="2D333B"/>
          </a:solidFill>
          <a:ln w="12700">
            <a:solidFill>
              <a:srgbClr val="4A525C"/>
            </a:solidFill>
            <a:prstDash val="solid"/>
          </a:ln>
        </p:spPr>
      </p:sp>
      <p:sp>
        <p:nvSpPr>
          <p:cNvPr id="8" name="Text 6"/>
          <p:cNvSpPr txBox="1"/>
          <p:nvPr/>
        </p:nvSpPr>
        <p:spPr>
          <a:xfrm>
            <a:off x="3282696" y="3429000"/>
            <a:ext cx="1143000" cy="50292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HAVE?</a:t>
            </a:r>
            <a:endParaRPr lang="en-US" sz="1500" dirty="0"/>
          </a:p>
        </p:txBody>
      </p:sp>
      <p:sp>
        <p:nvSpPr>
          <p:cNvPr id="9" name="Text 7"/>
          <p:cNvSpPr txBox="1"/>
          <p:nvPr/>
        </p:nvSpPr>
        <p:spPr>
          <a:xfrm>
            <a:off x="4700016" y="3429000"/>
            <a:ext cx="4572000" cy="502920"/>
          </a:xfrm>
          <a:prstGeom prst="rect">
            <a:avLst/>
          </a:prstGeom>
          <a:noFill/>
          <a:ln/>
        </p:spPr>
        <p:txBody>
          <a:bodyPr wrap="square" lIns="0" tIns="0" rIns="0" bIns="0" rtlCol="0" anchor="ctr"/>
          <a:lstStyle/>
          <a:p>
            <a:pPr indent="0" marL="0">
              <a:buNone/>
            </a:pPr>
            <a:r>
              <a:rPr lang="en-US" sz="1900" i="1" dirty="0">
                <a:solidFill>
                  <a:srgbClr val="FFD43B"/>
                </a:solidFill>
                <a:latin typeface="Cambria" pitchFamily="34" charset="0"/>
                <a:ea typeface="Cambria" pitchFamily="34" charset="-122"/>
                <a:cs typeface="Cambria" pitchFamily="34" charset="-120"/>
              </a:rPr>
              <a:t>→  “Do you have any questions?”</a:t>
            </a:r>
            <a:endParaRPr lang="en-US" sz="1900" dirty="0"/>
          </a:p>
        </p:txBody>
      </p:sp>
      <p:sp>
        <p:nvSpPr>
          <p:cNvPr id="10" name="Text 8"/>
          <p:cNvSpPr txBox="1"/>
          <p:nvPr/>
        </p:nvSpPr>
        <p:spPr>
          <a:xfrm>
            <a:off x="548640" y="5120640"/>
            <a:ext cx="9144000" cy="365760"/>
          </a:xfrm>
          <a:prstGeom prst="rect">
            <a:avLst/>
          </a:prstGeom>
          <a:noFill/>
          <a:ln/>
        </p:spPr>
        <p:txBody>
          <a:bodyPr wrap="square" lIns="0" tIns="0" rIns="0" bIns="0" rtlCol="0" anchor="ctr"/>
          <a:lstStyle/>
          <a:p>
            <a:pPr indent="0" marL="0">
              <a:buNone/>
            </a:pPr>
            <a:r>
              <a:rPr lang="en-US" sz="1600" dirty="0">
                <a:solidFill>
                  <a:srgbClr val="D7DBE0"/>
                </a:solidFill>
                <a:latin typeface="Calibri" pitchFamily="34" charset="0"/>
                <a:ea typeface="Calibri" pitchFamily="34" charset="-122"/>
                <a:cs typeface="Calibri" pitchFamily="34" charset="-120"/>
              </a:rPr>
              <a:t>A. Anirudh  ·  D. Srikar Reddy  ·  G. Prashanth</a:t>
            </a:r>
            <a:endParaRPr lang="en-US" sz="1600" dirty="0"/>
          </a:p>
        </p:txBody>
      </p:sp>
      <p:sp>
        <p:nvSpPr>
          <p:cNvPr id="11" name="Text 9"/>
          <p:cNvSpPr txBox="1"/>
          <p:nvPr/>
        </p:nvSpPr>
        <p:spPr>
          <a:xfrm>
            <a:off x="548640" y="5486400"/>
            <a:ext cx="9144000" cy="365760"/>
          </a:xfrm>
          <a:prstGeom prst="rect">
            <a:avLst/>
          </a:prstGeom>
          <a:noFill/>
          <a:ln/>
        </p:spPr>
        <p:txBody>
          <a:bodyPr wrap="square" lIns="0" tIns="0" rIns="0" bIns="0" rtlCol="0" anchor="ctr"/>
          <a:lstStyle/>
          <a:p>
            <a:pPr indent="0" marL="0">
              <a:buNone/>
            </a:pPr>
            <a:r>
              <a:rPr lang="en-US" sz="1400" dirty="0">
                <a:solidFill>
                  <a:srgbClr val="9AA3AD"/>
                </a:solidFill>
                <a:latin typeface="Calibri" pitchFamily="34" charset="0"/>
                <a:ea typeface="Calibri" pitchFamily="34" charset="-122"/>
                <a:cs typeface="Calibri" pitchFamily="34" charset="-120"/>
              </a:rPr>
              <a:t>Dept. of CSE, CMR Technical Campus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SignSpeak — Real-time ASL to Text in the Browser</dc:title>
  <dc:subject>PptxGenJS Presentation</dc:subject>
  <dc:creator>A. Anirudh, D. Srikar Reddy, G. Prashanth</dc:creator>
  <cp:lastModifiedBy>A. Anirudh, D. Srikar Reddy, G. Prashanth</cp:lastModifiedBy>
  <cp:revision>1</cp:revision>
  <dcterms:created xsi:type="dcterms:W3CDTF">2026-10-01T16:43:03Z</dcterms:created>
  <dcterms:modified xsi:type="dcterms:W3CDTF">2026-10-01T16:43:03Z</dcterms:modified>
</cp:coreProperties>
</file>